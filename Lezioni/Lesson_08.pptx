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34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lesson as a practical step: after queues and triage, students now learn how hospital systems retrieve records quickly and avoid duplicate clinical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contract for the session. It makes clear that dictionaries, hash tables and sets are both theoretical data structures and practical healthcare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slowly. Emphasize that this is a core lesson for efficient retrieval and safer data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real workflows: patient admission, sample tracking and clinical decision support all need fast and clear access to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narrative transition. Students already know lists; now show why dictionaries are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repeat the key-value idea aloud. It is central to the rest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pseudo-Python example is intentionally simple. Avoid language-specific details; focus on the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each operation to a real clinical action: patient registration, chart retrieval, data correction and safety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connect the previous complexity lesson with a concrete healthcare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hash functions used in data structures are not the same topic as cryptographic hashing, although both share the idea of mapping data to a digest or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 not need implementation-level details, but they should understand bucket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introduce collisions without mathematical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connection with linked lists from the previous lesson. A chain can be thought of as a small list attached to a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going into quadratic probing or double hashing unless students ask. This is an introductory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reinforces complexity terminology from Lesson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names are not unique and can change. IDs need context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uses a realistic conceptual image to keep the data structure grounded in clinical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importance of handling missing identifiers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gentle programming bridge. Make sure students focus on structure, not syntax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sets as a natural way to represent clinical concepts without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slowly. These operations will reappear in alerts and quality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understand that sets remove duplicates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carefully: the example is conceptual. Real drug-allergy checking is more complex and requires terminology mappings.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going deeply into terminologies here; the purpose is to show why sets are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clarifies a frequent student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to previous lessons: arrays/lists are excellent when order and indexing matter; dictionaries are excellent for key-based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integrative slide. It shows how structures learned across the course combine in one biomedical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clear example of set-based algorithmic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introduces professional realism: good data structures do not fix poor data quality by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concise: it is not a cybersecurity lecture, but it is important for medical informatics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computational efficiency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integrates the lesson concepts in one practical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exercise can take 8–10 minutes, followed by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formative assessment. Let students answer verbally or on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how dictionary, hash table and set concepts are related.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to the next topic in the course and asking students to identify where they already use dictionaries in everyday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and Data Structures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Medical Informatics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80365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76F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8 — Dictionaries, Hash Tables and Sets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6746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ID → clinical record · O(1) lookup · sets for diagnoses, drugs and pathologies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15493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· Medical Informatics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September 2026 · 09:30–11:30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Simone Rancati, PhD</a:t>
            </a:r>
            <a:endParaRPr lang="en-US" sz="1600" dirty="0"/>
          </a:p>
        </p:txBody>
      </p:sp>
      <p:pic>
        <p:nvPicPr>
          <p:cNvPr id="7" name="Image 0" descr="/mnt/data/a_clean_vector_illustration_style_medical_tech_s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92175"/>
            <a:ext cx="5938412" cy="33421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path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58742491-84EE-E867-38B1-3177C4B0699D}"/>
              </a:ext>
            </a:extLst>
          </p:cNvPr>
          <p:cNvGrpSpPr/>
          <p:nvPr/>
        </p:nvGrpSpPr>
        <p:grpSpPr>
          <a:xfrm>
            <a:off x="731520" y="1645920"/>
            <a:ext cx="11018520" cy="3639312"/>
            <a:chOff x="731520" y="1417320"/>
            <a:chExt cx="9189720" cy="2423160"/>
          </a:xfrm>
        </p:grpSpPr>
        <p:sp>
          <p:nvSpPr>
            <p:cNvPr id="21" name="Shape 19"/>
            <p:cNvSpPr/>
            <p:nvPr/>
          </p:nvSpPr>
          <p:spPr>
            <a:xfrm>
              <a:off x="4892040" y="2788920"/>
              <a:ext cx="2743200" cy="1051560"/>
            </a:xfrm>
            <a:prstGeom prst="roundRect">
              <a:avLst>
                <a:gd name="adj" fmla="val 6957"/>
              </a:avLst>
            </a:prstGeom>
            <a:solidFill>
              <a:srgbClr val="E1ECF6"/>
            </a:solidFill>
            <a:ln w="12700">
              <a:solidFill>
                <a:srgbClr val="E1ECF6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grpSp>
          <p:nvGrpSpPr>
            <p:cNvPr id="24" name="Gruppo 23">
              <a:extLst>
                <a:ext uri="{FF2B5EF4-FFF2-40B4-BE49-F238E27FC236}">
                  <a16:creationId xmlns:a16="http://schemas.microsoft.com/office/drawing/2014/main" id="{8D1BC540-FDA0-4C94-A0F1-85711CA1922D}"/>
                </a:ext>
              </a:extLst>
            </p:cNvPr>
            <p:cNvGrpSpPr/>
            <p:nvPr/>
          </p:nvGrpSpPr>
          <p:grpSpPr>
            <a:xfrm>
              <a:off x="731520" y="1417320"/>
              <a:ext cx="9189720" cy="2423160"/>
              <a:chOff x="731520" y="1417320"/>
              <a:chExt cx="9189720" cy="2423160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731520" y="1417320"/>
                <a:ext cx="2194560" cy="1051560"/>
              </a:xfrm>
              <a:prstGeom prst="roundRect">
                <a:avLst>
                  <a:gd name="adj" fmla="val 6957"/>
                </a:avLst>
              </a:prstGeom>
              <a:solidFill>
                <a:srgbClr val="E1ECF6"/>
              </a:solidFill>
              <a:ln w="12700">
                <a:solidFill>
                  <a:srgbClr val="E1ECF6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841248" y="1508760"/>
                <a:ext cx="197510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700" b="1" dirty="0">
                    <a:solidFill>
                      <a:srgbClr val="0D316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1. Dictionaries</a:t>
                </a:r>
                <a:endParaRPr lang="en-US" sz="170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841248" y="1801368"/>
                <a:ext cx="197510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23314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Key-value organization and patient records.</a:t>
                </a:r>
                <a:endParaRPr lang="en-US" sz="1450" dirty="0"/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3063240" y="1417320"/>
                <a:ext cx="2194560" cy="1051560"/>
              </a:xfrm>
              <a:prstGeom prst="roundRect">
                <a:avLst>
                  <a:gd name="adj" fmla="val 6957"/>
                </a:avLst>
              </a:prstGeom>
              <a:solidFill>
                <a:srgbClr val="E1ECF6"/>
              </a:solidFill>
              <a:ln w="12700">
                <a:solidFill>
                  <a:srgbClr val="E1ECF6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3172968" y="1508760"/>
                <a:ext cx="197510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700" b="1" dirty="0">
                    <a:solidFill>
                      <a:srgbClr val="0D316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2. Hash tables</a:t>
                </a:r>
                <a:endParaRPr lang="en-US" sz="17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3172968" y="1801368"/>
                <a:ext cx="197510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23314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How near-constant-time lookup is achieved.</a:t>
                </a:r>
                <a:endParaRPr lang="en-US" sz="1450" dirty="0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5394960" y="1417320"/>
                <a:ext cx="2194560" cy="1051560"/>
              </a:xfrm>
              <a:prstGeom prst="roundRect">
                <a:avLst>
                  <a:gd name="adj" fmla="val 6957"/>
                </a:avLst>
              </a:prstGeom>
              <a:solidFill>
                <a:srgbClr val="E1ECF6"/>
              </a:solidFill>
              <a:ln w="12700">
                <a:solidFill>
                  <a:srgbClr val="E1ECF6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5504688" y="1508760"/>
                <a:ext cx="197510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700" b="1" dirty="0">
                    <a:solidFill>
                      <a:srgbClr val="0D316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3. Collisions</a:t>
                </a:r>
                <a:endParaRPr lang="en-US" sz="17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5504688" y="1801368"/>
                <a:ext cx="197510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23314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What happens when different keys map together.</a:t>
                </a:r>
                <a:endParaRPr lang="en-US" sz="1450" dirty="0"/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7726680" y="1417320"/>
                <a:ext cx="2194560" cy="1051560"/>
              </a:xfrm>
              <a:prstGeom prst="roundRect">
                <a:avLst>
                  <a:gd name="adj" fmla="val 6957"/>
                </a:avLst>
              </a:prstGeom>
              <a:solidFill>
                <a:srgbClr val="E1ECF6"/>
              </a:solidFill>
              <a:ln w="12700">
                <a:solidFill>
                  <a:srgbClr val="E1ECF6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7836408" y="1508760"/>
                <a:ext cx="197510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700" b="1" dirty="0">
                    <a:solidFill>
                      <a:srgbClr val="0D316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4. Sets</a:t>
                </a:r>
                <a:endParaRPr lang="en-US" sz="17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7836408" y="1801368"/>
                <a:ext cx="197510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23314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Membership, uniqueness and clinical lists.</a:t>
                </a:r>
                <a:endParaRPr lang="en-US" sz="1450" dirty="0"/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1828800" y="2788920"/>
                <a:ext cx="2743200" cy="1051560"/>
              </a:xfrm>
              <a:prstGeom prst="roundRect">
                <a:avLst>
                  <a:gd name="adj" fmla="val 6957"/>
                </a:avLst>
              </a:prstGeom>
              <a:solidFill>
                <a:srgbClr val="E1ECF6"/>
              </a:solidFill>
              <a:ln w="12700">
                <a:solidFill>
                  <a:srgbClr val="E1ECF6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1938528" y="2880360"/>
                <a:ext cx="252374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700" b="1" dirty="0">
                    <a:solidFill>
                      <a:srgbClr val="0D316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5. Biomedical uses</a:t>
                </a:r>
                <a:endParaRPr lang="en-US" sz="17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1938528" y="3172968"/>
                <a:ext cx="252374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23314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Patient ID, diagnoses, drugs, alerts and codes.</a:t>
                </a:r>
                <a:endParaRPr lang="en-US" sz="145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5001768" y="2880360"/>
                <a:ext cx="252374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700" b="1" dirty="0">
                    <a:solidFill>
                      <a:srgbClr val="0D316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6. Practice</a:t>
                </a:r>
                <a:endParaRPr lang="en-US" sz="17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5001768" y="3172968"/>
                <a:ext cx="252374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23314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Pseudocode, complexity and in-class exercises.</a:t>
                </a:r>
                <a:endParaRPr lang="en-US" sz="1450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END OF THE LESSON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660654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dictionaries as key-value data structures.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 patient identifier is a natural key for retrieving a clinical record.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basic intuition behind hashing and hash tables.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average O(1) lookup and understand why worst cases may differ.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sets to represent diagnoses, medications, allergies and coded concepts.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simple algorithms that combine dictionaries and sets in medical informatics.</a:t>
            </a:r>
            <a:endParaRPr lang="en-US" sz="2400" dirty="0"/>
          </a:p>
        </p:txBody>
      </p:sp>
      <p:pic>
        <p:nvPicPr>
          <p:cNvPr id="7" name="Image 0" descr="/mnt/data/wide_clean_vector_flat_gradient_illustration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561" y="1619861"/>
            <a:ext cx="3925359" cy="22091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dictionaries, hash tables and sets matter in healthcare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029968"/>
            <a:ext cx="594360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software constantly needs to retrieve records from identifiers.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Hospitals cannot scan thousands of records every time a patient ID is entered.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lookup supports registration, laboratory workflows, prescriptions and dashboards.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help represent unique medical concepts without duplicates.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Together, these structures support efficient and reliable clinical data handling.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086600" y="1645920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96328" y="173736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pattern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96328" y="202996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 → electronic health record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086600" y="2697480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196328" y="278892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benefit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96328" y="308152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by key instead of scanning every row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086600" y="3749040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196328" y="384048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safety issue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96328" y="413308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duplicated diagnoses or drugs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LIST TO A DICTIONARY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lookup: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2376" y="1810512"/>
            <a:ext cx="530352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we store patient records in a simple list.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find patient P004, we may need to compare P004 with every record until it is found.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acceptable for a few patients but inefficient for large hospital archives.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dictionary changes the idea: use the patient ID as a direct access key.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384048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92240" y="1508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scan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2103120"/>
            <a:ext cx="621792" cy="45720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583680" y="22219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87768" y="2103120"/>
            <a:ext cx="621792" cy="45720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333488" y="22219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7576" y="2103120"/>
            <a:ext cx="621792" cy="45720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083296" y="22219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87384" y="2103120"/>
            <a:ext cx="621792" cy="4572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833104" y="22219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37192" y="2103120"/>
            <a:ext cx="621792" cy="45720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582912" y="22219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2834640"/>
            <a:ext cx="2514600" cy="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4008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Potentially check many records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3794760"/>
            <a:ext cx="384048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492240" y="3886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lookup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29400" y="4434840"/>
            <a:ext cx="914400" cy="4572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675120" y="45537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35240" y="4663440"/>
            <a:ext cx="594360" cy="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8321040" y="4343400"/>
            <a:ext cx="1737360" cy="658368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366760" y="45628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DEFINITION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dictionary?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60"/>
            <a:ext cx="5760720" cy="43480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dictionary stores data as key-value pairs.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is used to retrieve the associated value.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 must be unique inside the dictionary.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can be simple data, lists, nested records or complex objects.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many programming languages, dictionaries are implemented using hash tables.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49440" y="187452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059168" y="196596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59168" y="225856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 = "P004"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949440" y="288036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059168" y="297180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59168" y="326440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clinical_record for P004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595360" y="2697480"/>
            <a:ext cx="0" cy="18288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KEY-VALUE PAIRS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ID mapped to a clinical record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5120640" cy="27432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87552" y="1691640"/>
            <a:ext cx="47914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=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"P001": record_001,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"P002": record_002,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"P003": record_003,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"P004": record_004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43891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is the patient identifier.</a:t>
            </a:r>
            <a:endParaRPr lang="en-US" sz="2000" dirty="0"/>
          </a:p>
          <a:p>
            <a:r>
              <a:rPr lang="en-US" sz="20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is the corresponding clinical record.</a:t>
            </a:r>
            <a:endParaRPr lang="en-US" sz="2000" dirty="0"/>
          </a:p>
          <a:p>
            <a:r>
              <a:rPr lang="en-US" sz="20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lookup asks: “Which value belongs to this key?”</a:t>
            </a:r>
            <a:endParaRPr lang="en-US" sz="2000" dirty="0"/>
          </a:p>
          <a:p>
            <a:r>
              <a:rPr lang="en-US" sz="20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dictionary does not require the record to be physically adjacent to similar records.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can we do with a dictionary?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32688" y="169164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198424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new key-value pair.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840480" y="1600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950208" y="169164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50208" y="198424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the value associated with a key.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0" y="1600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967728" y="169164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67728" y="198424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or modify an existing value.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2286000" y="30632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395728" y="31546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395728" y="344728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a key and its value.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303520" y="30632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413248" y="31546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13248" y="344728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a key exists.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healthcare systems, these operations correspond to registering, retrieving, correcting and validating clinical information.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O(1) MATTERS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100 patients to millions of records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59"/>
            <a:ext cx="5669280" cy="409338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 list, finding one patient may require scanning many records.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 hash-based dictionary, lookup is expected to take near-constant time.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Near-constant time means that lookup does not grow linearly with the number of records.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becomes crucial when patient records, laboratory events or CGM measurements become very large.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629400" y="1600200"/>
            <a:ext cx="141732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720840" y="16916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19872" y="1600200"/>
            <a:ext cx="150876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211312" y="16916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scan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701784" y="1600200"/>
            <a:ext cx="150876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793224" y="16916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lookup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629400" y="2103120"/>
            <a:ext cx="1417320" cy="50292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702552" y="222199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patients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19872" y="2103120"/>
            <a:ext cx="1508760" cy="50292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193024" y="222199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100 checks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701784" y="2103120"/>
            <a:ext cx="1508760" cy="50292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774936" y="222199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1 step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29400" y="2660904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702552" y="277977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 patients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19872" y="2660904"/>
            <a:ext cx="1508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193024" y="277977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10,000 checks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701784" y="2660904"/>
            <a:ext cx="1508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774936" y="277977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1 step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29400" y="3218688"/>
            <a:ext cx="1417320" cy="50292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702552" y="333756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1,000,000 records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19872" y="3218688"/>
            <a:ext cx="1508760" cy="50292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193024" y="333756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1,000,000 checks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701784" y="3218688"/>
            <a:ext cx="1508760" cy="50292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774936" y="333756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1 step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HASHING INTUITION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hash function?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59"/>
            <a:ext cx="5303520" cy="396606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hash function converts a key into a numeric position inside a table.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place the value where it can be found quickly later.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key must always produce the same table position.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hash functions distribute keys across the table as evenly as possible.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1143000" cy="5029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46520" y="19705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2084832"/>
            <a:ext cx="777240" cy="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8549640" y="1645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659368" y="173736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hash( 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59368" y="202996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key to index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0332720" y="2084832"/>
            <a:ext cx="502920" cy="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10881360" y="1828800"/>
            <a:ext cx="731520" cy="50292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0927080" y="19705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→ hash function → table index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TABLE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does the value go?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60"/>
            <a:ext cx="5212080" cy="3873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hash table is an array-like structure indexed by hash values.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position is often called a bucket or slot.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dictionary interface hides this internal organization from the user.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we look up a key, we compute its hash and go directly to the corresponding slot.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92240" y="1463040"/>
            <a:ext cx="347472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0" y="15544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table buckets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0" y="1920240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72084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920240"/>
            <a:ext cx="2514600" cy="292608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269480" y="19568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304288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720840" y="234086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2304288"/>
            <a:ext cx="2514600" cy="292608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269480" y="23408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688336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720840" y="2724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2688336"/>
            <a:ext cx="2514600" cy="292608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269480" y="27249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3072384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720840" y="3108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3072384"/>
            <a:ext cx="2514600" cy="292608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269480" y="31089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P004 → record_004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3456432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720840" y="34930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3456432"/>
            <a:ext cx="2514600" cy="292608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269480" y="34930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840480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720840" y="38770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3840480"/>
            <a:ext cx="2514600" cy="292608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269480" y="3877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4224528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720840" y="42611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4224528"/>
            <a:ext cx="2514600" cy="292608"/>
          </a:xfrm>
          <a:prstGeom prst="roundRect">
            <a:avLst/>
          </a:prstGeom>
          <a:solidFill>
            <a:srgbClr val="FFF5E1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7269480" y="42611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P021 → record_021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4608576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720840" y="46451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4608576"/>
            <a:ext cx="2514600" cy="292608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7269480" y="46451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two keys map to the same bucket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60"/>
            <a:ext cx="5852160" cy="41859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collision occurs when two different keys produce the same table position.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Collisions are normal and must be handled by the implementation.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collisions are not managed correctly, values may overwrite one another or become unreachable.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Collision handling is one reason why O(1) is an average-case expectation, not an absolute guarantee.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49440" y="1828800"/>
            <a:ext cx="868680" cy="4572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995160" y="19476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09560" y="2057400"/>
            <a:ext cx="914400" cy="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6949440" y="2834640"/>
            <a:ext cx="868680" cy="457200"/>
          </a:xfrm>
          <a:prstGeom prst="roundRect">
            <a:avLst/>
          </a:prstGeom>
          <a:solidFill>
            <a:srgbClr val="FFF5E1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995160" y="29535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09560" y="3063240"/>
            <a:ext cx="914400" cy="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8915400" y="21488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025128" y="224028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8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Bucket 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25128" y="2532888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keys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arrive here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COLLISION HANDLING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chaining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59"/>
            <a:ext cx="5486400" cy="419755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common strategy is to store a small list inside each bucket.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multiple keys map to the same bucket, they are chained together.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 first goes to the bucket, then searches only inside the short chain.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remains good when chains are short.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393192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Bucket 7 with a chain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2331720"/>
            <a:ext cx="731520" cy="50292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629400" y="24734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52360" y="2587752"/>
            <a:ext cx="502920" cy="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ECF8EF"/>
          </a:solidFill>
          <a:ln w="12700">
            <a:solidFill>
              <a:srgbClr val="ECF8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156448" y="2240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56448" y="2532888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464040" y="2587752"/>
            <a:ext cx="365760" cy="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9921240" y="21488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5E1"/>
          </a:solidFill>
          <a:ln w="12700">
            <a:solidFill>
              <a:srgbClr val="FFF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030968" y="2240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P126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30968" y="2532888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E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bucket → small linked list of entries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COLLISION HANDLING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addressing: another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59"/>
            <a:ext cx="5486400" cy="343362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addressing keeps all entries directly inside the table.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target slot is occupied, the algorithm probes another slot.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common probing idea is to try the next available position.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strategy requires careful handling of deletion and table load.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0" y="1508760"/>
            <a:ext cx="402336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probe sequence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0" y="2331720"/>
            <a:ext cx="530352" cy="50292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720840" y="24734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33488" y="2331720"/>
            <a:ext cx="530352" cy="50292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379208" y="24734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91856" y="2331720"/>
            <a:ext cx="530352" cy="502920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037576" y="24734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50224" y="2331720"/>
            <a:ext cx="530352" cy="5029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695944" y="24734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08592" y="2331720"/>
            <a:ext cx="530352" cy="50292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354312" y="24734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966960" y="2331720"/>
            <a:ext cx="530352" cy="502920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276F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0012680" y="24734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 2 occupied → try slot 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982712" y="2880360"/>
            <a:ext cx="630936" cy="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CASE VS WORST CASE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dictionary lookup is usually O(1)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256032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0712" y="1463040"/>
            <a:ext cx="219456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502152" y="1554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behavior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78424" y="1463040"/>
            <a:ext cx="393192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769864" y="1554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1965960"/>
            <a:ext cx="256032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50392" y="208483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hashing + enough buckets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10712" y="1965960"/>
            <a:ext cx="219456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483864" y="208483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average lookup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78424" y="1965960"/>
            <a:ext cx="393192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751576" y="208483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 spread across table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2551176"/>
            <a:ext cx="2560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50392" y="267004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collisions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410712" y="2551176"/>
            <a:ext cx="2194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483864" y="267004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slower lookup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78424" y="2551176"/>
            <a:ext cx="39319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751576" y="267004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chains/probes become longer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3136392"/>
            <a:ext cx="256032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50392" y="325526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Pathological worst case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3410712" y="3136392"/>
            <a:ext cx="219456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483864" y="325526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678424" y="3136392"/>
            <a:ext cx="393192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751576" y="325526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keys in same place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777240" y="3721608"/>
            <a:ext cx="2560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850392" y="384048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Resizing / rehashing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3410712" y="3721608"/>
            <a:ext cx="2194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483864" y="384048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extra cost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5678424" y="3721608"/>
            <a:ext cx="39319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751576" y="384048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is expanded and entries are moved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14400" y="4800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distinction: O(1) describes expected average behavior under good conditions, not a guarantee for every possible situation.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KEYS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good dictionary key?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60"/>
            <a:ext cx="5303520" cy="3838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key should uniquely identify the value it retrieves.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key should be stable: it should not change unexpectedly over time.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key should be standardized when data are shared across systems.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key should not be ambiguous across hospitals, devices or departments.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ECF8EF"/>
          </a:solidFill>
          <a:ln w="12700">
            <a:solidFill>
              <a:srgbClr val="ECF8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601968" y="169164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5A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key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01968" y="198424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hospital_patient_id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92240" y="26517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601968" y="274320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8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key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01968" y="30358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name only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92240" y="370332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FF5E1"/>
          </a:solidFill>
          <a:ln w="12700">
            <a:solidFill>
              <a:srgbClr val="FFF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601968" y="379476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A9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Context-dependent key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01968" y="408736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accession number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EXAMPLE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ID → electronic health record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800" dirty="0"/>
          </a:p>
        </p:txBody>
      </p:sp>
      <p:pic>
        <p:nvPicPr>
          <p:cNvPr id="6" name="Image 0" descr="/mnt/data/wide_clean_vector_flat_gradient_illustration_scene.png"/>
          <p:cNvPicPr>
            <a:picLocks noChangeAspect="1"/>
          </p:cNvPicPr>
          <p:nvPr/>
        </p:nvPicPr>
        <p:blipFill>
          <a:blip r:embed="rId3"/>
          <a:srcRect l="38000" r="-9090"/>
          <a:stretch/>
        </p:blipFill>
        <p:spPr>
          <a:xfrm>
            <a:off x="6492240" y="12344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508760"/>
            <a:ext cx="521208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patient identifier acts as the key.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electronic health record is the value.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may contain demographics, diagnoses, measurements, medications and reports.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dictionary-like abstraction allows immediate retrieval from the identifier.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PSEUDOCODE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Lookup a patient record by 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303520" cy="224028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87552" y="1737360"/>
            <a:ext cx="49743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GetPatientRecord(patient_id, patients)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patient_id, dictionary patients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patient record or NOT_FOUND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patient_id IN patients THEN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patients[patient_id]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NOT_FOUND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4114800" cy="4288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membership test checks whether the key exists.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lookup retrieves the value associated with the key.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Returning NOT_FOUND is safer than failing silently.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pattern appears in most clinical information systems.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PYTHON-LIKE EXAMPLE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Dictionary syntax and patient retrieval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394960" cy="315468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87552" y="1645920"/>
            <a:ext cx="50657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= {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"P001": {"age": 67, "ward": "cardiology"},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"P002": {"age": 54, "ward": "diabetes"}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 = "P002"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patients[patient_id]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print(record["ward"])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6537960" y="1737360"/>
            <a:ext cx="4389120" cy="39226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outer dictionary maps patient IDs to records.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record can itself be a dictionary.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dictionaries are useful for structured health data.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production systems, the same idea appears inside databases and APIs.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DEFINITION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set?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59"/>
            <a:ext cx="5486400" cy="395449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set is a collection of unique elements.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element cannot appear twice in the same set.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are useful when membership matters more than order.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operations include membership, union, intersection and difference.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675120" y="16002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784848" y="1691640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set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84848" y="198424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{diabetes, hypertension, asthma}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75120" y="26517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784848" y="2743200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 set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84848" y="303580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{metformin, insulin, aspirin}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75120" y="37033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784848" y="3794760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Allergy set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84848" y="408736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{penicillin, latex}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Membership, union, intersection and difference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32688" y="16459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193852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“diabetes” in diagnoses?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630168" y="16459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30168" y="193852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diagnoses across two visits.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327648" y="16459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27648" y="193852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drugs between two lists.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915400" y="15544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025128" y="16459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25128" y="193852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diagnoses since last visit.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188720" y="3246120"/>
            <a:ext cx="9692640" cy="123444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353312" y="3383280"/>
            <a:ext cx="9363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{"diabetes", "hypertension"}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{"hypertension", "asthma"}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∩ B = {"hypertension"}        A ∪ B = {"diabetes", "hypertension", "asthma"}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DIAGNOSES AS SETS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Avoiding duplicates and checking membership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59"/>
            <a:ext cx="5486400" cy="403551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patient can have multiple diagnoses recorded across visits.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diagnoses may be repeated in different documents or departments.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set automatically represents the concept only once.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 queries answer clinical questions quickly: “does this patient have diabetes?”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629400" y="15544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739128" y="1645920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8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list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39128" y="1938528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[diabetes, hypertension, diabetes]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41080" y="2423160"/>
            <a:ext cx="0" cy="36576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6629400" y="28346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ECF8EF"/>
          </a:solidFill>
          <a:ln w="12700">
            <a:solidFill>
              <a:srgbClr val="ECF8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739128" y="2926080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5A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representation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39128" y="3218688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{diabetes, hypertension}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MEDICATIONS AND ALLERGIES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safety-oriented set example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59"/>
            <a:ext cx="5486400" cy="388504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 and allergy data can be represented as sets of coded concepts.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Intersection can reveal potential conflicts.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does not replace clinical judgment, but it illustrates algorithmic safety checks.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should still validate units, timing, dose and patient context.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601968" y="169164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8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Allergies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01968" y="198424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{penicillin, latex}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92240" y="260604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601968" y="269748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 drugs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01968" y="299008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{amoxicillin, paracetamol}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92240" y="361188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FF5E1"/>
          </a:solidFill>
          <a:ln w="12700">
            <a:solidFill>
              <a:srgbClr val="FFF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601968" y="37033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A9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logic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01968" y="399592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ordered_drugs ∩ allergies ≠ ∅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AND CODES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Representing clinical concepts consistently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60"/>
            <a:ext cx="5669280" cy="424385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systems often represent diagnoses, procedures and drugs using standardized codes.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Codes are more stable than free-text labels.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of codes support membership checks, cohort selection and rule-based alerts.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codes also reduces ambiguity when data are exchanged between systems.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92240" y="1645920"/>
            <a:ext cx="146304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0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28432" y="1645920"/>
            <a:ext cx="224028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119872" y="1737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92240" y="2148840"/>
            <a:ext cx="1463040" cy="47548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565392" y="226771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28432" y="2148840"/>
            <a:ext cx="2240280" cy="47548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101584" y="2267712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of diagnosis codes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2679192"/>
            <a:ext cx="14630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65392" y="27980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28432" y="2679192"/>
            <a:ext cx="22402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101584" y="279806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of drug codes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3209544"/>
            <a:ext cx="1463040" cy="47548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565392" y="332841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28432" y="3209544"/>
            <a:ext cx="2240280" cy="47548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101584" y="3328416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of procedure codes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92240" y="3739896"/>
            <a:ext cx="14630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565392" y="385876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Allergy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028432" y="3739896"/>
            <a:ext cx="22402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101584" y="385876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of allergy concepts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VS 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do we need values?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283464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85032" y="1463040"/>
            <a:ext cx="301752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776472" y="15544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set if...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775704" y="1463040"/>
            <a:ext cx="329184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867144" y="1554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dictionary if...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1965960"/>
            <a:ext cx="283464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50392" y="208483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I need only membership?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85032" y="1965960"/>
            <a:ext cx="301752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758184" y="2084832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775704" y="1965960"/>
            <a:ext cx="329184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848856" y="208483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2551176"/>
            <a:ext cx="2834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50392" y="26700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I need an associated value?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85032" y="2551176"/>
            <a:ext cx="3017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758184" y="2670048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775704" y="2551176"/>
            <a:ext cx="3291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848856" y="267004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3136392"/>
            <a:ext cx="283464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50392" y="325526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3685032" y="3136392"/>
            <a:ext cx="301752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758184" y="3255264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diagnosis code?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775704" y="3136392"/>
            <a:ext cx="329184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848856" y="325526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 → record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777240" y="3721608"/>
            <a:ext cx="2834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850392" y="384048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operation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3685032" y="3721608"/>
            <a:ext cx="3017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758184" y="384048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 IN set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775704" y="3721608"/>
            <a:ext cx="3291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848856" y="3840480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= dictionary[key]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14400" y="4800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thumb: a set stores unique things; a dictionary stores relationships between keys and values.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VS LIST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 always use lists?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74320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93592" y="1417320"/>
            <a:ext cx="320040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685032" y="1508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67144" y="1417320"/>
            <a:ext cx="320040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958584" y="1508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1920240"/>
            <a:ext cx="274320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50392" y="203911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patient by ID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593592" y="1920240"/>
            <a:ext cx="320040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66744" y="203911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elements one by one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67144" y="1920240"/>
            <a:ext cx="320040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940296" y="203911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key lookup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2505456"/>
            <a:ext cx="27432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50392" y="26243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exact order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593592" y="2505456"/>
            <a:ext cx="3200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666744" y="262432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867144" y="2505456"/>
            <a:ext cx="3200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940296" y="262432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the main purpose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3090672"/>
            <a:ext cx="274320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50392" y="32095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key-value mapping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3593592" y="3090672"/>
            <a:ext cx="320040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666744" y="3209544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but awkward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867144" y="3090672"/>
            <a:ext cx="3200400" cy="5303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940296" y="3209544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777240" y="3675888"/>
            <a:ext cx="27432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850392" y="379476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lookup by key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3593592" y="3675888"/>
            <a:ext cx="3200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666744" y="3794760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867144" y="3675888"/>
            <a:ext cx="3200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940296" y="3794760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average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14400" y="4800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Lists are not worse than dictionaries: they solve different problems. The correct structure depends on the operation you need most often.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DATA STRUCTURES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clinical record can contain dictionaries, lists and sets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5394960" cy="324612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87552" y="1600200"/>
            <a:ext cx="506577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{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"patient_id": "P004",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72,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"diagnoses": {"diabetes", "hypertension"},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"glucose": [95, 120, 181, 68],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"medications": {"metformin", "insulin"}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6537960" y="1737360"/>
            <a:ext cx="4297680" cy="4334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record is a dictionary.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Diagnoses and medications are sets because duplicates are not meaningful.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values are stored in a list because order and time matter.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systems combine multiple structures rather than using only one.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EXAMPLE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Drug-allergy alert using sets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394960" cy="288036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87552" y="1645920"/>
            <a:ext cx="50657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AllergyAlert(ordered_drugs, allergies)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two sets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alert flag</a:t>
            </a:r>
            <a:endParaRPr lang="en-US" sz="1480" dirty="0"/>
          </a:p>
          <a:p>
            <a:pPr marL="0" indent="0">
              <a:buNone/>
            </a:pP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= ordered_drugs ∩ allergies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conflict is not empty THEN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6537960" y="1508760"/>
            <a:ext cx="4297680" cy="37264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intersection identifies shared concepts between two sets.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empty intersection means no direct match was found.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non-empty intersection triggers an alert.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clinical systems require richer terminology mapping.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dictionary and set algorithms can still fail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60"/>
            <a:ext cx="5852160" cy="4047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patient may appear with two different identifiers.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diagnosis may appear as free text, abbreviation or standardized code.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drug name may be stored as a brand name in one system and as an active ingredient in another.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Missing, duplicated or inconsistent data reduce the reliability of the algorithm.</a:t>
            </a:r>
            <a:endParaRPr lang="en-US" sz="2400" dirty="0"/>
          </a:p>
        </p:txBody>
      </p:sp>
      <p:pic>
        <p:nvPicPr>
          <p:cNvPr id="7" name="Image 0" descr="/mnt/data/wide_clean_vector_illustration_scene_on_a_pale_blu.png"/>
          <p:cNvPicPr>
            <a:picLocks noChangeAspect="1"/>
          </p:cNvPicPr>
          <p:nvPr/>
        </p:nvPicPr>
        <p:blipFill>
          <a:blip r:embed="rId3"/>
          <a:srcRect l="35000" r="-3787"/>
          <a:stretch/>
        </p:blipFill>
        <p:spPr>
          <a:xfrm>
            <a:off x="6675120" y="14173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AND PRIVACY NOTE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Identifiers are not just technical keys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59"/>
            <a:ext cx="5760720" cy="439432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identifiers allow powerful data linkage, but they are also sensitive.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to dictionaries mapping IDs to records must be controlled and logged.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systems should minimize unnecessary exposure of identifiable information.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technical structure must be combined with governance, permissions and audit trails.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876288" y="1691640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view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76288" y="198424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 → record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0" y="26974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876288" y="2788920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8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view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76288" y="308152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can access this mapping?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766560" y="379476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5E1"/>
          </a:solidFill>
          <a:ln w="12700">
            <a:solidFill>
              <a:srgbClr val="FFF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876288" y="3886200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A9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view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76288" y="417880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roles and accountability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Dictionary and set operations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01168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62072" y="1417320"/>
            <a:ext cx="192024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53512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55464" y="1417320"/>
            <a:ext cx="182880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946904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57416" y="1417320"/>
            <a:ext cx="3383280" cy="393192"/>
          </a:xfrm>
          <a:prstGeom prst="roundRect">
            <a:avLst/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848856" y="1508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healthcare use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1920240"/>
            <a:ext cx="201168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50392" y="203911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 by key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2862072" y="1920240"/>
            <a:ext cx="192024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935224" y="203911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avg.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4855464" y="1920240"/>
            <a:ext cx="182880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928616" y="203911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757416" y="1920240"/>
            <a:ext cx="338328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830568" y="203911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 → record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77240" y="2414016"/>
            <a:ext cx="2011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50392" y="253288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element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2862072" y="2414016"/>
            <a:ext cx="1920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935224" y="253288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avg.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855464" y="2414016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928616" y="253288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avg.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6757416" y="2414016"/>
            <a:ext cx="3383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830568" y="25328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record or diagnosis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777240" y="2907792"/>
            <a:ext cx="201168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850392" y="302666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 test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2862072" y="2907792"/>
            <a:ext cx="192024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2935224" y="302666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avg.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4855464" y="2907792"/>
            <a:ext cx="182880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928616" y="302666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avg.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6757416" y="2907792"/>
            <a:ext cx="338328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830568" y="302666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exists? diagnosis present?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777240" y="3401568"/>
            <a:ext cx="2011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850392" y="352044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element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2862072" y="3401568"/>
            <a:ext cx="1920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2935224" y="352044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avg.</a:t>
            </a:r>
            <a:endParaRPr lang="en-US" sz="1320" dirty="0"/>
          </a:p>
        </p:txBody>
      </p:sp>
      <p:sp>
        <p:nvSpPr>
          <p:cNvPr id="42" name="Shape 40"/>
          <p:cNvSpPr/>
          <p:nvPr/>
        </p:nvSpPr>
        <p:spPr>
          <a:xfrm>
            <a:off x="4855464" y="3401568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928616" y="35204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avg.</a:t>
            </a:r>
            <a:endParaRPr lang="en-US" sz="1320" dirty="0"/>
          </a:p>
        </p:txBody>
      </p:sp>
      <p:sp>
        <p:nvSpPr>
          <p:cNvPr id="44" name="Shape 42"/>
          <p:cNvSpPr/>
          <p:nvPr/>
        </p:nvSpPr>
        <p:spPr>
          <a:xfrm>
            <a:off x="6757416" y="3401568"/>
            <a:ext cx="3383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830568" y="352044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cancelled entry</a:t>
            </a:r>
            <a:endParaRPr lang="en-US" sz="1320" dirty="0"/>
          </a:p>
        </p:txBody>
      </p:sp>
      <p:sp>
        <p:nvSpPr>
          <p:cNvPr id="46" name="Shape 44"/>
          <p:cNvSpPr/>
          <p:nvPr/>
        </p:nvSpPr>
        <p:spPr>
          <a:xfrm>
            <a:off x="777240" y="3895344"/>
            <a:ext cx="201168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850392" y="401421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 over all items</a:t>
            </a:r>
            <a:endParaRPr lang="en-US" sz="1320" dirty="0"/>
          </a:p>
        </p:txBody>
      </p:sp>
      <p:sp>
        <p:nvSpPr>
          <p:cNvPr id="48" name="Shape 46"/>
          <p:cNvSpPr/>
          <p:nvPr/>
        </p:nvSpPr>
        <p:spPr>
          <a:xfrm>
            <a:off x="2862072" y="3895344"/>
            <a:ext cx="192024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2935224" y="4014216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4855464" y="3895344"/>
            <a:ext cx="182880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4928616" y="401421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1320" dirty="0"/>
          </a:p>
        </p:txBody>
      </p:sp>
      <p:sp>
        <p:nvSpPr>
          <p:cNvPr id="52" name="Shape 50"/>
          <p:cNvSpPr/>
          <p:nvPr/>
        </p:nvSpPr>
        <p:spPr>
          <a:xfrm>
            <a:off x="6757416" y="3895344"/>
            <a:ext cx="3383280" cy="43891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6830568" y="401421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all records or concepts</a:t>
            </a:r>
            <a:endParaRPr lang="en-US" sz="1320" dirty="0"/>
          </a:p>
        </p:txBody>
      </p:sp>
      <p:sp>
        <p:nvSpPr>
          <p:cNvPr id="54" name="Text 52"/>
          <p:cNvSpPr/>
          <p:nvPr/>
        </p:nvSpPr>
        <p:spPr>
          <a:xfrm>
            <a:off x="914400" y="4800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Average-case performance assumes a well-sized table and a reasonable hash distribution.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CASE STUDY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patient retrieval in a laboratory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508760"/>
            <a:ext cx="5669280" cy="329473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laboratory receives a sample labeled with a patient ID and test code.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must retrieve the patient record immediately.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must also check whether the requested test is already pending.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dictionary can map patient IDs to records; a set can store pending tests.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629400" y="16002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739128" y="1691640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39128" y="198424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 → patient record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29400" y="26517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739128" y="2743200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39128" y="303580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pending_tests = {HbA1c, CBC}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29400" y="37033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CF8EF"/>
          </a:solidFill>
          <a:ln w="12700">
            <a:solidFill>
              <a:srgbClr val="ECF8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739128" y="3794760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5A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39128" y="408736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record + check membership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IN-CLASS EXERCISE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 patient lookup and alert procedure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554479"/>
            <a:ext cx="6400800" cy="35499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a dictionary patients and a patient_id, retrieve the clinical record.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patient is not found, return NOT_FOUND.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patient is found, check whether “diabetes” is in the diagnosis set.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Return: record_found and diabetes_flag.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 solution in pseudocode, not in Python.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589520" y="178308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699248" y="187452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99248" y="216712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patient_id, patients dictionary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589520" y="283464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699248" y="29260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99248" y="321868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 + set membership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589520" y="388620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699248" y="397764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99248" y="427024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record_found, diabetes_flag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QUIZ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32688" y="1691640"/>
            <a:ext cx="4261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Q1: What is the key in patient_id → record?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198424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patient identifier.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852160" y="16002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961888" y="1691640"/>
            <a:ext cx="4261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Q2: Why is dictionary lookup usually fast?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61888" y="198424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hash table maps the key to a bucket.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932688" y="3063240"/>
            <a:ext cx="4261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Q3: What does a set prevent?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2688" y="335584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elements.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852160" y="29718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961888" y="3063240"/>
            <a:ext cx="4261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Q4: What does intersection identify?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61888" y="335584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Elements shared by two sets.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SYNTHESIS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20574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864608" y="2148840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Key-based access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64608" y="244144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idea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CF8EF"/>
          </a:solidFill>
          <a:ln w="12700">
            <a:solidFill>
              <a:srgbClr val="ECF8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24128" y="155448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5A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24128" y="184708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→ value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474720" y="1847088"/>
            <a:ext cx="1280160" cy="484632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5E1"/>
          </a:solidFill>
          <a:ln w="12700">
            <a:solidFill>
              <a:srgbClr val="FFF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024128" y="333756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A9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4128" y="363016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elements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 flipV="1">
            <a:off x="3474720" y="2624328"/>
            <a:ext cx="1280160" cy="987552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339328" y="155448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table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39328" y="184708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lookup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 flipV="1">
            <a:off x="7040880" y="1819656"/>
            <a:ext cx="1188720" cy="512064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229600" y="324612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1ECF6"/>
          </a:solidFill>
          <a:ln w="12700">
            <a:solidFill>
              <a:srgbClr val="E1E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339328" y="333756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3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use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39328" y="363016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records, diagnoses, drugs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040880" y="2651760"/>
            <a:ext cx="1188720" cy="960120"/>
          </a:xfrm>
          <a:prstGeom prst="line">
            <a:avLst/>
          </a:prstGeom>
          <a:noFill/>
          <a:ln w="27940">
            <a:solidFill>
              <a:srgbClr val="34AD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97280" y="484632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Dictionaries and sets are built around fast membership and retrieval, which makes them essential for medical informatics.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ADC1"/>
          </a:solidFill>
          <a:ln w="12700">
            <a:solidFill>
              <a:srgbClr val="34ADC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31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Take-home messages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92840" y="6373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A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8778240" cy="43656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dictionary stores key-value pairs and is ideal for patient ID → clinical record lookup.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tables provide the mechanism behind average O(1) dictionary and set operations.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Collisions are normal and must be handled by the implementation.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represent unique clinical concepts such as diagnoses, drugs, allergies and pathologies.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data structure improves speed, clarity and safety in biomedical software.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lesson: linked structures, memory and dynamic organization of data.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3518</Words>
  <Application>Microsoft Macintosh PowerPoint</Application>
  <PresentationFormat>Widescreen</PresentationFormat>
  <Paragraphs>581</Paragraphs>
  <Slides>36</Slides>
  <Notes>36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ITS · Medical 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 — Dictionaries, Hash Tables and Sets</dc:title>
  <dc:subject>Algorithms and Data Structures for Medical Informatics</dc:subject>
  <dc:creator>Simone Rancati</dc:creator>
  <cp:lastModifiedBy>RANCATI SIMONE</cp:lastModifiedBy>
  <cp:revision>3</cp:revision>
  <dcterms:created xsi:type="dcterms:W3CDTF">2026-08-19T18:03:37Z</dcterms:created>
  <dcterms:modified xsi:type="dcterms:W3CDTF">2026-09-16T21:07:18Z</dcterms:modified>
</cp:coreProperties>
</file>