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646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Open by connecting the lecture to hospital workflows. Explain that lists, stacks and queues are simple structures, but they are the basis of many real systems: waiting lists, alarms, worklists, undo operations and data streams.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slide to frame the lesson. Students should understand that lists, stacks and queues are different ways of organizing linear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Read the objectives slowly. Tell students that the goal is not memorizing names, but understanding when each structure is appropriate.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Connect the topic to familiar workflows: a waiting room, laboratory worklist, sensor data stream and clinical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Define linearity using examples from students’ everyday experience before moving to formal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distinction is important. A queue is a behavior: enqueue at the back and dequeue from the front. The implementation may be an array, linked list or database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Introduce a list as an ordered collection. Use the patient IDs as a concrete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Walk through each operation. Ask students which operations are common in appointment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Do not make this too technical. The key is to link implementation to operations: access, insertion and deletion.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slide to explain why the meaning of order matters. A list ordered by appointment time is different from a list ordered by urgency.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Show how nodes are connected. Make sure students understand that the next field is not clinical data; it is structural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Trace the algorithm with a short example: [92, 68, 110, 64]. Ask students to update count_low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medical safety as the professional angle. Changing a clinical list is not only a programming action; it may affect workflow and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Keep this slide qualitative. Detailed Big-O has already been introduced, but here the focus is operational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slide prepares the transition to stacks and queues. Emphasize behavior, not vocabulary.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Introduce stack behavior using LIFO. Make sure students can explain why the top element is special.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that stack operations are intentionally restricted. That restriction makes behavior predictable.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Give a simple example: if a clinician changes three annotations, the undo stack should reverse the last change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Emphasize the empty-stack case. It is a simple but important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a small thought experiment: three patients arrive at 9:00, 9:05 and 9:10. A stack serves 9:10 first. Ask whether that is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Introduce queue behavior with FIFO. Make sure students can identify front and back of the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the waiting list example throughout the table. This makes FIFO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Make students see queues beyond the hospital waiting room. Queues are also present in data pipelines and interoperability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Trace this with a queue containing P001, P014 and P032. Ask which patient is returned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the difference between administrative order and clinical priority. The triage case will be the main applied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slide is important for medical informatics. Queue behavior must match clinical rules, not only computer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visible flowchart to explain how conditions determine priority and then determine queue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Keep heap introduction brief. The full tree/heap topic can be connected to the previous or next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slide adds professional discipline. A data structure is not enough; the organization must also define the rule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circular buffer as a bridge to time-series signals: a device may keep only the most recent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these errors as a checklist for robust algorithm design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that this is not optimized code. It is a clear specification of the intended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Run this activity in pairs or small groups. The output should be pseudocode and a short explanation, not a full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can be assigned as homework or completed in class using pseudocode or Python-like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Close by returning to the main question: how do we choose the right structure for a healthcare workflow?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Prepare students for the next topic. Emphasize continuity: queues lead naturally to priority queues, and priority queues lead to heaps.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60920" y="685800"/>
            <a:ext cx="3977640" cy="5166360"/>
          </a:xfrm>
          <a:prstGeom prst="roundRect">
            <a:avLst>
              <a:gd name="adj" fmla="val 4138"/>
            </a:avLst>
          </a:prstGeom>
          <a:solidFill>
            <a:srgbClr val="F1F7FC"/>
          </a:solidFill>
          <a:ln w="12700">
            <a:solidFill>
              <a:srgbClr val="F1F7F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53AC8E46-F1A4-3F5A-673B-F0F22A5A90F0}"/>
              </a:ext>
            </a:extLst>
          </p:cNvPr>
          <p:cNvGrpSpPr/>
          <p:nvPr/>
        </p:nvGrpSpPr>
        <p:grpSpPr>
          <a:xfrm>
            <a:off x="8428482" y="3509010"/>
            <a:ext cx="1737360" cy="2029968"/>
            <a:chOff x="8558784" y="3026664"/>
            <a:chExt cx="1737360" cy="2029968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95EA06DE-0C46-A8EE-BC1B-99C6E7A4E3C4}"/>
                </a:ext>
              </a:extLst>
            </p:cNvPr>
            <p:cNvGrpSpPr/>
            <p:nvPr/>
          </p:nvGrpSpPr>
          <p:grpSpPr>
            <a:xfrm>
              <a:off x="8714232" y="3026664"/>
              <a:ext cx="1417320" cy="1645920"/>
              <a:chOff x="8714232" y="3026664"/>
              <a:chExt cx="1417320" cy="1645920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8714232" y="4343400"/>
                <a:ext cx="1417320" cy="329184"/>
              </a:xfrm>
              <a:prstGeom prst="roundRect">
                <a:avLst>
                  <a:gd name="adj" fmla="val 16667"/>
                </a:avLst>
              </a:prstGeom>
              <a:solidFill>
                <a:srgbClr val="2F6EAB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5" name="Shape 3"/>
              <p:cNvSpPr/>
              <p:nvPr/>
            </p:nvSpPr>
            <p:spPr>
              <a:xfrm>
                <a:off x="8714232" y="3904488"/>
                <a:ext cx="1417320" cy="329184"/>
              </a:xfrm>
              <a:prstGeom prst="roundRect">
                <a:avLst>
                  <a:gd name="adj" fmla="val 16667"/>
                </a:avLst>
              </a:prstGeom>
              <a:solidFill>
                <a:srgbClr val="0B8FA3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6" name="Shape 4"/>
              <p:cNvSpPr/>
              <p:nvPr/>
            </p:nvSpPr>
            <p:spPr>
              <a:xfrm>
                <a:off x="8714232" y="3465576"/>
                <a:ext cx="1417320" cy="329184"/>
              </a:xfrm>
              <a:prstGeom prst="roundRect">
                <a:avLst>
                  <a:gd name="adj" fmla="val 16667"/>
                </a:avLst>
              </a:prstGeom>
              <a:solidFill>
                <a:srgbClr val="2F6EAB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7" name="Shape 5"/>
              <p:cNvSpPr/>
              <p:nvPr/>
            </p:nvSpPr>
            <p:spPr>
              <a:xfrm>
                <a:off x="8714232" y="3026664"/>
                <a:ext cx="1417320" cy="329184"/>
              </a:xfrm>
              <a:prstGeom prst="roundRect">
                <a:avLst>
                  <a:gd name="adj" fmla="val 16667"/>
                </a:avLst>
              </a:prstGeom>
              <a:solidFill>
                <a:srgbClr val="0B8FA3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8" name="Text 6"/>
            <p:cNvSpPr/>
            <p:nvPr/>
          </p:nvSpPr>
          <p:spPr>
            <a:xfrm>
              <a:off x="8558784" y="4828032"/>
              <a:ext cx="17373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24D"/>
                  </a:solidFill>
                </a:rPr>
                <a:t>STACK</a:t>
              </a:r>
              <a:endParaRPr lang="en-US" sz="1200" dirty="0"/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49697D6-B311-228B-BF94-242F0A9760E4}"/>
              </a:ext>
            </a:extLst>
          </p:cNvPr>
          <p:cNvGrpSpPr/>
          <p:nvPr/>
        </p:nvGrpSpPr>
        <p:grpSpPr>
          <a:xfrm>
            <a:off x="7998714" y="2308860"/>
            <a:ext cx="2697480" cy="932688"/>
            <a:chOff x="7589520" y="2057400"/>
            <a:chExt cx="2697480" cy="932688"/>
          </a:xfrm>
        </p:grpSpPr>
        <p:sp>
          <p:nvSpPr>
            <p:cNvPr id="9" name="Shape 7"/>
            <p:cNvSpPr/>
            <p:nvPr/>
          </p:nvSpPr>
          <p:spPr>
            <a:xfrm>
              <a:off x="7726680" y="2057400"/>
              <a:ext cx="310896" cy="310896"/>
            </a:xfrm>
            <a:prstGeom prst="ellipse">
              <a:avLst/>
            </a:prstGeom>
            <a:solidFill>
              <a:srgbClr val="C9792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Shape 8"/>
            <p:cNvSpPr/>
            <p:nvPr/>
          </p:nvSpPr>
          <p:spPr>
            <a:xfrm>
              <a:off x="8211312" y="2057400"/>
              <a:ext cx="310896" cy="310896"/>
            </a:xfrm>
            <a:prstGeom prst="ellipse">
              <a:avLst/>
            </a:prstGeom>
            <a:solidFill>
              <a:srgbClr val="0B8FA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Shape 9"/>
            <p:cNvSpPr/>
            <p:nvPr/>
          </p:nvSpPr>
          <p:spPr>
            <a:xfrm>
              <a:off x="8695944" y="2057400"/>
              <a:ext cx="310896" cy="310896"/>
            </a:xfrm>
            <a:prstGeom prst="ellipse">
              <a:avLst/>
            </a:prstGeom>
            <a:solidFill>
              <a:srgbClr val="0B8FA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Shape 10"/>
            <p:cNvSpPr/>
            <p:nvPr/>
          </p:nvSpPr>
          <p:spPr>
            <a:xfrm>
              <a:off x="9180576" y="2057400"/>
              <a:ext cx="310896" cy="310896"/>
            </a:xfrm>
            <a:prstGeom prst="ellipse">
              <a:avLst/>
            </a:prstGeom>
            <a:solidFill>
              <a:srgbClr val="0B8FA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Shape 11"/>
            <p:cNvSpPr/>
            <p:nvPr/>
          </p:nvSpPr>
          <p:spPr>
            <a:xfrm>
              <a:off x="9665208" y="2057400"/>
              <a:ext cx="310896" cy="310896"/>
            </a:xfrm>
            <a:prstGeom prst="ellipse">
              <a:avLst/>
            </a:prstGeom>
            <a:solidFill>
              <a:srgbClr val="0B8FA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Shape 12"/>
            <p:cNvSpPr/>
            <p:nvPr/>
          </p:nvSpPr>
          <p:spPr>
            <a:xfrm>
              <a:off x="7589520" y="2505456"/>
              <a:ext cx="2697480" cy="0"/>
            </a:xfrm>
            <a:prstGeom prst="line">
              <a:avLst/>
            </a:prstGeom>
            <a:noFill/>
            <a:ln w="25400">
              <a:solidFill>
                <a:srgbClr val="B9D0E4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 13"/>
            <p:cNvSpPr/>
            <p:nvPr/>
          </p:nvSpPr>
          <p:spPr>
            <a:xfrm>
              <a:off x="7662672" y="2761488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7324D"/>
                  </a:solidFill>
                </a:rPr>
                <a:t>QUEUE</a:t>
              </a:r>
              <a:endParaRPr lang="en-US" sz="1200" dirty="0"/>
            </a:p>
          </p:txBody>
        </p:sp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E3835D35-6123-D88B-1FC8-75B844CB8722}"/>
              </a:ext>
            </a:extLst>
          </p:cNvPr>
          <p:cNvGrpSpPr/>
          <p:nvPr/>
        </p:nvGrpSpPr>
        <p:grpSpPr>
          <a:xfrm>
            <a:off x="8291322" y="1028700"/>
            <a:ext cx="1856232" cy="685800"/>
            <a:chOff x="9646920" y="1188720"/>
            <a:chExt cx="1389888" cy="384048"/>
          </a:xfrm>
        </p:grpSpPr>
        <p:sp>
          <p:nvSpPr>
            <p:cNvPr id="19" name="Shape 17"/>
            <p:cNvSpPr/>
            <p:nvPr/>
          </p:nvSpPr>
          <p:spPr>
            <a:xfrm>
              <a:off x="10550612" y="1380744"/>
              <a:ext cx="121169" cy="0"/>
            </a:xfrm>
            <a:prstGeom prst="line">
              <a:avLst/>
            </a:prstGeom>
            <a:noFill/>
            <a:ln w="21590">
              <a:solidFill>
                <a:srgbClr val="0B8F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59BD9FEC-F091-9D49-1CDA-137B14714E6D}"/>
                </a:ext>
              </a:extLst>
            </p:cNvPr>
            <p:cNvGrpSpPr/>
            <p:nvPr/>
          </p:nvGrpSpPr>
          <p:grpSpPr>
            <a:xfrm>
              <a:off x="9646920" y="1188720"/>
              <a:ext cx="1389888" cy="384048"/>
              <a:chOff x="9646920" y="1188720"/>
              <a:chExt cx="1389888" cy="384048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9646920" y="1188720"/>
                <a:ext cx="384048" cy="38404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5240">
                <a:solidFill>
                  <a:srgbClr val="2F6EAB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10046458" y="1380744"/>
                <a:ext cx="103382" cy="0"/>
              </a:xfrm>
              <a:prstGeom prst="line">
                <a:avLst/>
              </a:prstGeom>
              <a:noFill/>
              <a:ln w="21590">
                <a:solidFill>
                  <a:srgbClr val="0B8FA3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10149840" y="1188720"/>
                <a:ext cx="384048" cy="38404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5240">
                <a:solidFill>
                  <a:srgbClr val="2F6EAB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10652760" y="1188720"/>
                <a:ext cx="384048" cy="38404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5240">
                <a:solidFill>
                  <a:srgbClr val="2F6EAB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1" name="Text 19"/>
          <p:cNvSpPr/>
          <p:nvPr/>
        </p:nvSpPr>
        <p:spPr>
          <a:xfrm>
            <a:off x="8396478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LIST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" y="1097280"/>
            <a:ext cx="65836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and Data Structures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Medical Informatics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13232" y="2487168"/>
            <a:ext cx="6355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7 — Lists, stacks and queues: emergency waiting lists and triage workflows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22960" y="3401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8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· Medical Informatics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" y="3730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September 2026 · 14:30–16:30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8096" y="46177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Prof: Simone Rancati, PhD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simone.rancati01@universitadipavia.it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STRUCTURE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path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EAB"/>
                </a:solidFill>
              </a:rPr>
              <a:t>1. Lists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Ordered collections and basic operations.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8FA3"/>
                </a:solidFill>
              </a:rPr>
              <a:t>2. Linked organization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578608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Dynamic data and references.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3282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EAB"/>
                </a:solidFill>
              </a:rPr>
              <a:t>3. Stacks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360273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LIFO behavior and clinical examples.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8FA3"/>
                </a:solidFill>
              </a:rPr>
              <a:t>4. Queues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FIFO behavior and waiting lists.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217920" y="4434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EAB"/>
                </a:solidFill>
              </a:rPr>
              <a:t>5. Triage case study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17920" y="4754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Priority-based queues in emergency care.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13232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EAB"/>
                </a:solidFill>
              </a:rPr>
              <a:t>Main teaching question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63767" y="1623060"/>
            <a:ext cx="4251960" cy="1417320"/>
          </a:xfrm>
          <a:prstGeom prst="roundRect">
            <a:avLst>
              <a:gd name="adj" fmla="val 7742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615227" y="1904238"/>
            <a:ext cx="3749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How do we choose the right linear data structure for a healthcare workflow?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 OF THE LESSON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lists, stacks and queues as linear data structures.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the difference between LIFO and FIFO behavior.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 an appropriate structure for common healthcare workflows.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simple pseudocode using append, insert, remove, push, pop, enqueue and dequeue.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why emergency triage requires priority rules beyond a simple queue.</a:t>
            </a:r>
            <a:endParaRPr lang="en-US" sz="2400" dirty="0"/>
          </a:p>
        </p:txBody>
      </p:sp>
      <p:pic>
        <p:nvPicPr>
          <p:cNvPr id="8" name="Immagine 7" descr="How to format learning objectives to improve student learning | Talking Teaching">
            <a:extLst>
              <a:ext uri="{FF2B5EF4-FFF2-40B4-BE49-F238E27FC236}">
                <a16:creationId xmlns:a16="http://schemas.microsoft.com/office/drawing/2014/main" id="{70685FA5-279F-7D3F-5462-382F84DAC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53" y="1143000"/>
            <a:ext cx="4544559" cy="45445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linear structures matter in medical informatics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Many healthcare processes are sequential: patients arrive, measurements are collected, tasks are completed and alerts are generated.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order of processing can affect fairness, efficiency and safety.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Lists, stacks and queues are simple abstractions that appear inside larger software systems.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hospital system often combines these structures with databases, user interfaces and rules.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Examples in practice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Emergency waiting lists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Laboratory worklists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Medication administration tasks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Wearable sensor buffers</a:t>
            </a:r>
            <a:endParaRPr lang="en-US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CONCEPT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data structures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6EAB"/>
                </a:solidFill>
              </a:rPr>
              <a:t>What “linear” means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4892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Elements are organized one after another.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There is usually a first element and a last element.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can traverse the structure in sequence.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is part of the meaning of the data.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07024" y="1298448"/>
            <a:ext cx="0" cy="4498848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355080" y="12618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Biomedical interpretation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55080" y="1700784"/>
            <a:ext cx="4892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Patient arrivals over time.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Glucose measurements during a day.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ECG samples captured by a device.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Tasks waiting for a clinician.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 data type vs implementation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abstract data type defines what operations are allowed and what behavior they must have.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 implementation defines how the structure is actually stored in memory or in a program.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same abstract structure can be implemented in different ways.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first reason about behavior, then about performance.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Key idea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Behavior first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Implementation second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Performance depends on implementation</a:t>
            </a: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list?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6EAB"/>
                </a:solidFill>
              </a:rPr>
              <a:t>A list stores an ordered collection of elements</a:t>
            </a:r>
            <a:endParaRPr lang="en-US" sz="1750" dirty="0"/>
          </a:p>
        </p:txBody>
      </p: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328F28D8-14E8-14A0-8733-AF8949E1DEF3}"/>
              </a:ext>
            </a:extLst>
          </p:cNvPr>
          <p:cNvGrpSpPr/>
          <p:nvPr/>
        </p:nvGrpSpPr>
        <p:grpSpPr>
          <a:xfrm>
            <a:off x="1024128" y="1819655"/>
            <a:ext cx="10113264" cy="2272277"/>
            <a:chOff x="914400" y="2057400"/>
            <a:chExt cx="7315200" cy="987552"/>
          </a:xfrm>
        </p:grpSpPr>
        <p:sp>
          <p:nvSpPr>
            <p:cNvPr id="8" name="Shape 6"/>
            <p:cNvSpPr/>
            <p:nvPr/>
          </p:nvSpPr>
          <p:spPr>
            <a:xfrm>
              <a:off x="914400" y="2057400"/>
              <a:ext cx="1051560" cy="502920"/>
            </a:xfrm>
            <a:prstGeom prst="roundRect">
              <a:avLst>
                <a:gd name="adj" fmla="val 14545"/>
              </a:avLst>
            </a:prstGeom>
            <a:solidFill>
              <a:srgbClr val="F7FBFE"/>
            </a:solidFill>
            <a:ln w="16510">
              <a:solidFill>
                <a:srgbClr val="0B8FA3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7"/>
            <p:cNvSpPr/>
            <p:nvPr/>
          </p:nvSpPr>
          <p:spPr>
            <a:xfrm>
              <a:off x="960120" y="2203704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P001</a:t>
              </a:r>
              <a:endParaRPr lang="en-US" sz="13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993392" y="2304288"/>
              <a:ext cx="320040" cy="0"/>
            </a:xfrm>
            <a:prstGeom prst="line">
              <a:avLst/>
            </a:prstGeom>
            <a:noFill/>
            <a:ln w="22860">
              <a:solidFill>
                <a:srgbClr val="B9D0E4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Shape 9"/>
            <p:cNvSpPr/>
            <p:nvPr/>
          </p:nvSpPr>
          <p:spPr>
            <a:xfrm>
              <a:off x="2331720" y="2057400"/>
              <a:ext cx="1051560" cy="502920"/>
            </a:xfrm>
            <a:prstGeom prst="roundRect">
              <a:avLst>
                <a:gd name="adj" fmla="val 14545"/>
              </a:avLst>
            </a:prstGeom>
            <a:solidFill>
              <a:srgbClr val="F7FBFE"/>
            </a:solidFill>
            <a:ln w="16510">
              <a:solidFill>
                <a:srgbClr val="2F6EA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 10"/>
            <p:cNvSpPr/>
            <p:nvPr/>
          </p:nvSpPr>
          <p:spPr>
            <a:xfrm>
              <a:off x="2377440" y="2203704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P014</a:t>
              </a:r>
              <a:endParaRPr lang="en-US" sz="13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410712" y="2304288"/>
              <a:ext cx="320040" cy="0"/>
            </a:xfrm>
            <a:prstGeom prst="line">
              <a:avLst/>
            </a:prstGeom>
            <a:noFill/>
            <a:ln w="22860">
              <a:solidFill>
                <a:srgbClr val="B9D0E4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Shape 12"/>
            <p:cNvSpPr/>
            <p:nvPr/>
          </p:nvSpPr>
          <p:spPr>
            <a:xfrm>
              <a:off x="3749040" y="2057400"/>
              <a:ext cx="1051560" cy="502920"/>
            </a:xfrm>
            <a:prstGeom prst="roundRect">
              <a:avLst>
                <a:gd name="adj" fmla="val 14545"/>
              </a:avLst>
            </a:prstGeom>
            <a:solidFill>
              <a:srgbClr val="F7FBFE"/>
            </a:solidFill>
            <a:ln w="16510">
              <a:solidFill>
                <a:srgbClr val="2F6EA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 13"/>
            <p:cNvSpPr/>
            <p:nvPr/>
          </p:nvSpPr>
          <p:spPr>
            <a:xfrm>
              <a:off x="3794760" y="2203704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P032</a:t>
              </a:r>
              <a:endParaRPr lang="en-US" sz="13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828032" y="2304288"/>
              <a:ext cx="320040" cy="0"/>
            </a:xfrm>
            <a:prstGeom prst="line">
              <a:avLst/>
            </a:prstGeom>
            <a:noFill/>
            <a:ln w="22860">
              <a:solidFill>
                <a:srgbClr val="B9D0E4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Shape 15"/>
            <p:cNvSpPr/>
            <p:nvPr/>
          </p:nvSpPr>
          <p:spPr>
            <a:xfrm>
              <a:off x="5166360" y="2057400"/>
              <a:ext cx="1051560" cy="502920"/>
            </a:xfrm>
            <a:prstGeom prst="roundRect">
              <a:avLst>
                <a:gd name="adj" fmla="val 14545"/>
              </a:avLst>
            </a:prstGeom>
            <a:solidFill>
              <a:srgbClr val="F7FBFE"/>
            </a:solidFill>
            <a:ln w="16510">
              <a:solidFill>
                <a:srgbClr val="2F6EA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 16"/>
            <p:cNvSpPr/>
            <p:nvPr/>
          </p:nvSpPr>
          <p:spPr>
            <a:xfrm>
              <a:off x="5212080" y="2203704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P041</a:t>
              </a:r>
              <a:endParaRPr lang="en-US" sz="13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6245352" y="2304288"/>
              <a:ext cx="320040" cy="0"/>
            </a:xfrm>
            <a:prstGeom prst="line">
              <a:avLst/>
            </a:prstGeom>
            <a:noFill/>
            <a:ln w="22860">
              <a:solidFill>
                <a:srgbClr val="B9D0E4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Shape 18"/>
            <p:cNvSpPr/>
            <p:nvPr/>
          </p:nvSpPr>
          <p:spPr>
            <a:xfrm>
              <a:off x="6583680" y="2057400"/>
              <a:ext cx="1051560" cy="502920"/>
            </a:xfrm>
            <a:prstGeom prst="roundRect">
              <a:avLst>
                <a:gd name="adj" fmla="val 14545"/>
              </a:avLst>
            </a:prstGeom>
            <a:solidFill>
              <a:srgbClr val="F7FBFE"/>
            </a:solidFill>
            <a:ln w="16510">
              <a:solidFill>
                <a:srgbClr val="2F6EA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 19"/>
            <p:cNvSpPr/>
            <p:nvPr/>
          </p:nvSpPr>
          <p:spPr>
            <a:xfrm>
              <a:off x="6629400" y="2203704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P055</a:t>
              </a:r>
              <a:endParaRPr lang="en-US" sz="13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914400" y="2788920"/>
              <a:ext cx="7315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5B6770"/>
                  </a:solidFill>
                </a:rPr>
                <a:t>index:      0                                                           1                                                          2                                                      3                                                            4</a:t>
              </a:r>
              <a:endParaRPr lang="en-US" sz="130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822960" y="4330355"/>
            <a:ext cx="98755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order of elements is meaningful.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can traverse the list from the first element to the last.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Depending on the implementation, access and insertion costs may differ.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healthcare, a list may represent appointments, measurements or tasks.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OPERATIONS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operations on lists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Operation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42946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Meaning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78760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Healthcare example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713232" y="1655064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13232" y="237744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32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append(x)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42946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Add x at the end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78760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Add a new appointment to the daily list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713232" y="303580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132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insert(i, x)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42946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Add x at position i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78760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Insert an urgent follow-up before another visit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713232" y="369417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remove(x)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42946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Delete an element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78760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Remove a cancelled exam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713232" y="435254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132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get(i)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42946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Access position i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78760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Read the third measurement</a:t>
            </a:r>
            <a:endParaRPr lang="en-US" sz="1470" dirty="0"/>
          </a:p>
        </p:txBody>
      </p:sp>
      <p:sp>
        <p:nvSpPr>
          <p:cNvPr id="27" name="Shape 25"/>
          <p:cNvSpPr/>
          <p:nvPr/>
        </p:nvSpPr>
        <p:spPr>
          <a:xfrm>
            <a:off x="713232" y="501091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3232" y="442569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traverse</a:t>
            </a:r>
            <a:endParaRPr lang="en-US" sz="1470" dirty="0"/>
          </a:p>
        </p:txBody>
      </p:sp>
      <p:sp>
        <p:nvSpPr>
          <p:cNvPr id="29" name="Text 27"/>
          <p:cNvSpPr/>
          <p:nvPr/>
        </p:nvSpPr>
        <p:spPr>
          <a:xfrm>
            <a:off x="4294632" y="442569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Visit elements in order</a:t>
            </a:r>
            <a:endParaRPr lang="en-US" sz="1470" dirty="0"/>
          </a:p>
        </p:txBody>
      </p:sp>
      <p:sp>
        <p:nvSpPr>
          <p:cNvPr id="30" name="Text 28"/>
          <p:cNvSpPr/>
          <p:nvPr/>
        </p:nvSpPr>
        <p:spPr>
          <a:xfrm>
            <a:off x="7876032" y="442569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Compute mean heart rate from all values</a:t>
            </a:r>
            <a:endParaRPr lang="en-US" sz="14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CHOICE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Array-based list vs linked list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6EAB"/>
                </a:solidFill>
              </a:rPr>
              <a:t>Array-based list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4892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Elements are stored in contiguous positions.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 access by index.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Insertion in the middle may require shifting elements.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when random access is frequent.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07024" y="1298448"/>
            <a:ext cx="0" cy="4498848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355080" y="12618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Linked list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55080" y="1700784"/>
            <a:ext cx="4892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Elements are stored as nodes connected by references.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Efficient insertion when the position is known.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Accessing the k-th element requires traversal.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for teaching dynamic organization.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BIOMEDICAL EXAMPLE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patient list as a data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clinic may maintain a list of patients scheduled for the day.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order may represent appointment time, arrival time or priority.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Adding, removing and reordering patients are data-structure operations.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same clinical workflow can be represented in several different ways.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Discussion prompt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“first” mean?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Arrival order?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Appointment time?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 priority?</a:t>
            </a: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 ORGANIZATION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linked list representation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4358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6EAB"/>
                </a:solidFill>
              </a:rPr>
              <a:t>Linked list: each element contains data and a reference to the next element</a:t>
            </a:r>
            <a:endParaRPr lang="en-US" sz="1720" dirty="0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10D4AA99-1E64-14E4-FCA5-52B02DFB7200}"/>
              </a:ext>
            </a:extLst>
          </p:cNvPr>
          <p:cNvGrpSpPr/>
          <p:nvPr/>
        </p:nvGrpSpPr>
        <p:grpSpPr>
          <a:xfrm>
            <a:off x="1017270" y="1783079"/>
            <a:ext cx="9299448" cy="1588770"/>
            <a:chOff x="868680" y="1965960"/>
            <a:chExt cx="7909560" cy="749808"/>
          </a:xfrm>
        </p:grpSpPr>
        <p:sp>
          <p:nvSpPr>
            <p:cNvPr id="23" name="Shape 21"/>
            <p:cNvSpPr/>
            <p:nvPr/>
          </p:nvSpPr>
          <p:spPr>
            <a:xfrm>
              <a:off x="7178040" y="1965960"/>
              <a:ext cx="1600200" cy="749808"/>
            </a:xfrm>
            <a:prstGeom prst="roundRect">
              <a:avLst>
                <a:gd name="adj" fmla="val 9756"/>
              </a:avLst>
            </a:prstGeom>
            <a:solidFill>
              <a:srgbClr val="F7FBFE"/>
            </a:solidFill>
            <a:ln w="15240">
              <a:solidFill>
                <a:srgbClr val="2F6EAB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D1418071-302C-A8E1-CD0C-11B0344C974F}"/>
                </a:ext>
              </a:extLst>
            </p:cNvPr>
            <p:cNvGrpSpPr/>
            <p:nvPr/>
          </p:nvGrpSpPr>
          <p:grpSpPr>
            <a:xfrm>
              <a:off x="868680" y="1965960"/>
              <a:ext cx="7836408" cy="749808"/>
              <a:chOff x="868680" y="1965960"/>
              <a:chExt cx="7836408" cy="749808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868680" y="1965960"/>
                <a:ext cx="1600200" cy="749808"/>
              </a:xfrm>
              <a:prstGeom prst="roundRect">
                <a:avLst>
                  <a:gd name="adj" fmla="val 9756"/>
                </a:avLst>
              </a:prstGeom>
              <a:solidFill>
                <a:srgbClr val="F7FBFE"/>
              </a:solidFill>
              <a:ln w="15240">
                <a:solidFill>
                  <a:srgbClr val="0B8FA3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960120" y="2084832"/>
                <a:ext cx="141732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17324D"/>
                    </a:solidFill>
                  </a:rPr>
                  <a:t>data: P001</a:t>
                </a:r>
                <a:endParaRPr lang="en-US" sz="1250" dirty="0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941832" y="2414016"/>
                <a:ext cx="1453896" cy="0"/>
              </a:xfrm>
              <a:prstGeom prst="line">
                <a:avLst/>
              </a:prstGeom>
              <a:noFill/>
              <a:ln w="12700">
                <a:solidFill>
                  <a:srgbClr val="D4E2EF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960120" y="2459736"/>
                <a:ext cx="141732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B6770"/>
                    </a:solidFill>
                  </a:rPr>
                  <a:t>next</a:t>
                </a:r>
                <a:endParaRPr lang="en-US" sz="1100" dirty="0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2468880" y="2350008"/>
                <a:ext cx="429768" cy="0"/>
              </a:xfrm>
              <a:prstGeom prst="line">
                <a:avLst/>
              </a:prstGeom>
              <a:noFill/>
              <a:ln w="25400">
                <a:solidFill>
                  <a:srgbClr val="B9D0E4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Shape 11"/>
              <p:cNvSpPr/>
              <p:nvPr/>
            </p:nvSpPr>
            <p:spPr>
              <a:xfrm>
                <a:off x="2971800" y="1965960"/>
                <a:ext cx="1600200" cy="749808"/>
              </a:xfrm>
              <a:prstGeom prst="roundRect">
                <a:avLst>
                  <a:gd name="adj" fmla="val 9756"/>
                </a:avLst>
              </a:prstGeom>
              <a:solidFill>
                <a:srgbClr val="F7FBFE"/>
              </a:solidFill>
              <a:ln w="15240">
                <a:solidFill>
                  <a:srgbClr val="2F6EAB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3063240" y="2084832"/>
                <a:ext cx="141732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17324D"/>
                    </a:solidFill>
                  </a:rPr>
                  <a:t>data: P014</a:t>
                </a:r>
                <a:endParaRPr lang="en-US" sz="1250" dirty="0"/>
              </a:p>
            </p:txBody>
          </p:sp>
          <p:sp>
            <p:nvSpPr>
              <p:cNvPr id="15" name="Shape 13"/>
              <p:cNvSpPr/>
              <p:nvPr/>
            </p:nvSpPr>
            <p:spPr>
              <a:xfrm>
                <a:off x="3044952" y="2414016"/>
                <a:ext cx="1453896" cy="0"/>
              </a:xfrm>
              <a:prstGeom prst="line">
                <a:avLst/>
              </a:prstGeom>
              <a:noFill/>
              <a:ln w="12700">
                <a:solidFill>
                  <a:srgbClr val="D4E2EF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3063240" y="2459736"/>
                <a:ext cx="141732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B6770"/>
                    </a:solidFill>
                  </a:rPr>
                  <a:t>next</a:t>
                </a:r>
                <a:endParaRPr lang="en-US" sz="1100" dirty="0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4572000" y="2350008"/>
                <a:ext cx="429768" cy="0"/>
              </a:xfrm>
              <a:prstGeom prst="line">
                <a:avLst/>
              </a:prstGeom>
              <a:noFill/>
              <a:ln w="25400">
                <a:solidFill>
                  <a:srgbClr val="B9D0E4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5074920" y="1965960"/>
                <a:ext cx="1600200" cy="749808"/>
              </a:xfrm>
              <a:prstGeom prst="roundRect">
                <a:avLst>
                  <a:gd name="adj" fmla="val 9756"/>
                </a:avLst>
              </a:prstGeom>
              <a:solidFill>
                <a:srgbClr val="F7FBFE"/>
              </a:solidFill>
              <a:ln w="15240">
                <a:solidFill>
                  <a:srgbClr val="2F6EAB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166360" y="2084832"/>
                <a:ext cx="141732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17324D"/>
                    </a:solidFill>
                  </a:rPr>
                  <a:t>data: P032</a:t>
                </a:r>
                <a:endParaRPr lang="en-US" sz="1250" dirty="0"/>
              </a:p>
            </p:txBody>
          </p:sp>
          <p:sp>
            <p:nvSpPr>
              <p:cNvPr id="20" name="Shape 18"/>
              <p:cNvSpPr/>
              <p:nvPr/>
            </p:nvSpPr>
            <p:spPr>
              <a:xfrm>
                <a:off x="5148072" y="2414016"/>
                <a:ext cx="1453896" cy="0"/>
              </a:xfrm>
              <a:prstGeom prst="line">
                <a:avLst/>
              </a:prstGeom>
              <a:noFill/>
              <a:ln w="12700">
                <a:solidFill>
                  <a:srgbClr val="D4E2EF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166360" y="2459736"/>
                <a:ext cx="141732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B6770"/>
                    </a:solidFill>
                  </a:rPr>
                  <a:t>next</a:t>
                </a:r>
                <a:endParaRPr lang="en-US" sz="1100" dirty="0"/>
              </a:p>
            </p:txBody>
          </p:sp>
          <p:sp>
            <p:nvSpPr>
              <p:cNvPr id="22" name="Shape 20"/>
              <p:cNvSpPr/>
              <p:nvPr/>
            </p:nvSpPr>
            <p:spPr>
              <a:xfrm>
                <a:off x="6675120" y="2350008"/>
                <a:ext cx="429768" cy="0"/>
              </a:xfrm>
              <a:prstGeom prst="line">
                <a:avLst/>
              </a:prstGeom>
              <a:noFill/>
              <a:ln w="25400">
                <a:solidFill>
                  <a:srgbClr val="B9D0E4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7269480" y="2084832"/>
                <a:ext cx="141732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17324D"/>
                    </a:solidFill>
                  </a:rPr>
                  <a:t>data: P041</a:t>
                </a:r>
                <a:endParaRPr lang="en-US" sz="1250" dirty="0"/>
              </a:p>
            </p:txBody>
          </p:sp>
          <p:sp>
            <p:nvSpPr>
              <p:cNvPr id="25" name="Shape 23"/>
              <p:cNvSpPr/>
              <p:nvPr/>
            </p:nvSpPr>
            <p:spPr>
              <a:xfrm>
                <a:off x="7251192" y="2414016"/>
                <a:ext cx="1453896" cy="0"/>
              </a:xfrm>
              <a:prstGeom prst="line">
                <a:avLst/>
              </a:prstGeom>
              <a:noFill/>
              <a:ln w="12700">
                <a:solidFill>
                  <a:srgbClr val="D4E2EF"/>
                </a:solidFill>
                <a:prstDash val="solid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7269480" y="2459736"/>
                <a:ext cx="141732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5B6770"/>
                    </a:solidFill>
                  </a:rPr>
                  <a:t>null</a:t>
                </a:r>
                <a:endParaRPr lang="en-US" sz="1100" dirty="0"/>
              </a:p>
            </p:txBody>
          </p:sp>
        </p:grpSp>
      </p:grpSp>
      <p:sp>
        <p:nvSpPr>
          <p:cNvPr id="27" name="Text 25"/>
          <p:cNvSpPr/>
          <p:nvPr/>
        </p:nvSpPr>
        <p:spPr>
          <a:xfrm>
            <a:off x="868680" y="3749040"/>
            <a:ext cx="987552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Elements do not need to be stored in consecutive memory locations.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Insertion can be efficient when we already know the position.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Random access is slower because we must follow references step by step.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structure is useful for understanding dynamic data organization.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Traversing a list of glucose values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CountLowValues(glucose_values)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list of glucose values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number of low values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count_low ← 0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value IN glucose_values DO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value &lt; 70 THEN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count_low ← count_low + 1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count_low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visits every value once.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list provides the repeated measurements.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variable count_low stores intermediate state.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pattern appears in signal processing and dataset analysis.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INSERTION AND DELETION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changes when the list changes?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Adding an element at the end is usually conceptually simple.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Inserting in the middle requires preserving the intended order.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Deleting an element requires deciding what happens to the surrounding elements.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clinical systems, insert/delete operations should be logged and auditable.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Example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Cancelled exam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urgent visit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Duplicated record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Wrong patient removed</a:t>
            </a:r>
            <a:endParaRPr lang="en-US" sz="1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cost of common list operations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Operation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339928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Array-based list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608533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Linked list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877138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Interpretation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713232" y="1655064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13232" y="237744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1323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Access by index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339928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Fast</a:t>
            </a:r>
            <a:endParaRPr lang="en-US" sz="1470" dirty="0"/>
          </a:p>
        </p:txBody>
      </p:sp>
      <p:sp>
        <p:nvSpPr>
          <p:cNvPr id="15" name="Text 13"/>
          <p:cNvSpPr/>
          <p:nvPr/>
        </p:nvSpPr>
        <p:spPr>
          <a:xfrm>
            <a:off x="608533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Slow</a:t>
            </a:r>
            <a:endParaRPr lang="en-US" sz="1470" dirty="0"/>
          </a:p>
        </p:txBody>
      </p:sp>
      <p:sp>
        <p:nvSpPr>
          <p:cNvPr id="16" name="Text 14"/>
          <p:cNvSpPr/>
          <p:nvPr/>
        </p:nvSpPr>
        <p:spPr>
          <a:xfrm>
            <a:off x="877138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Arrays are good for reading position i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713232" y="303580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1323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Append at end</a:t>
            </a:r>
            <a:endParaRPr lang="en-US" sz="1470" dirty="0"/>
          </a:p>
        </p:txBody>
      </p:sp>
      <p:sp>
        <p:nvSpPr>
          <p:cNvPr id="19" name="Text 17"/>
          <p:cNvSpPr/>
          <p:nvPr/>
        </p:nvSpPr>
        <p:spPr>
          <a:xfrm>
            <a:off x="339928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Often fast</a:t>
            </a:r>
            <a:endParaRPr lang="en-US" sz="1470" dirty="0"/>
          </a:p>
        </p:txBody>
      </p:sp>
      <p:sp>
        <p:nvSpPr>
          <p:cNvPr id="20" name="Text 18"/>
          <p:cNvSpPr/>
          <p:nvPr/>
        </p:nvSpPr>
        <p:spPr>
          <a:xfrm>
            <a:off x="608533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Fast if tail known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877138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Good for sensor values arriving over time</a:t>
            </a:r>
            <a:endParaRPr lang="en-US" sz="1470" dirty="0"/>
          </a:p>
        </p:txBody>
      </p:sp>
      <p:sp>
        <p:nvSpPr>
          <p:cNvPr id="22" name="Shape 20"/>
          <p:cNvSpPr/>
          <p:nvPr/>
        </p:nvSpPr>
        <p:spPr>
          <a:xfrm>
            <a:off x="713232" y="369417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1323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Insert in middle</a:t>
            </a:r>
            <a:endParaRPr lang="en-US" sz="1470" dirty="0"/>
          </a:p>
        </p:txBody>
      </p:sp>
      <p:sp>
        <p:nvSpPr>
          <p:cNvPr id="24" name="Text 22"/>
          <p:cNvSpPr/>
          <p:nvPr/>
        </p:nvSpPr>
        <p:spPr>
          <a:xfrm>
            <a:off x="339928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May be slow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608533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Can be fast if node known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877138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Depends on whether we must search first</a:t>
            </a:r>
            <a:endParaRPr lang="en-US" sz="1470" dirty="0"/>
          </a:p>
        </p:txBody>
      </p:sp>
      <p:sp>
        <p:nvSpPr>
          <p:cNvPr id="27" name="Shape 25"/>
          <p:cNvSpPr/>
          <p:nvPr/>
        </p:nvSpPr>
        <p:spPr>
          <a:xfrm>
            <a:off x="713232" y="435254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323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Delete element</a:t>
            </a:r>
            <a:endParaRPr lang="en-US" sz="1470" dirty="0"/>
          </a:p>
        </p:txBody>
      </p:sp>
      <p:sp>
        <p:nvSpPr>
          <p:cNvPr id="29" name="Text 27"/>
          <p:cNvSpPr/>
          <p:nvPr/>
        </p:nvSpPr>
        <p:spPr>
          <a:xfrm>
            <a:off x="339928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May be slow</a:t>
            </a:r>
            <a:endParaRPr lang="en-US" sz="1470" dirty="0"/>
          </a:p>
        </p:txBody>
      </p:sp>
      <p:sp>
        <p:nvSpPr>
          <p:cNvPr id="30" name="Text 28"/>
          <p:cNvSpPr/>
          <p:nvPr/>
        </p:nvSpPr>
        <p:spPr>
          <a:xfrm>
            <a:off x="608533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Can be fast if node known</a:t>
            </a:r>
            <a:endParaRPr lang="en-US" sz="1470" dirty="0"/>
          </a:p>
        </p:txBody>
      </p:sp>
      <p:sp>
        <p:nvSpPr>
          <p:cNvPr id="31" name="Text 29"/>
          <p:cNvSpPr/>
          <p:nvPr/>
        </p:nvSpPr>
        <p:spPr>
          <a:xfrm>
            <a:off x="877138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Real cost includes finding the element</a:t>
            </a:r>
            <a:endParaRPr lang="en-US" sz="1470" dirty="0"/>
          </a:p>
        </p:txBody>
      </p:sp>
      <p:sp>
        <p:nvSpPr>
          <p:cNvPr id="32" name="Shape 30"/>
          <p:cNvSpPr/>
          <p:nvPr/>
        </p:nvSpPr>
        <p:spPr>
          <a:xfrm>
            <a:off x="713232" y="501091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713232" y="4425696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Traverse all</a:t>
            </a:r>
            <a:endParaRPr lang="en-US" sz="1470" dirty="0"/>
          </a:p>
        </p:txBody>
      </p:sp>
      <p:sp>
        <p:nvSpPr>
          <p:cNvPr id="34" name="Text 32"/>
          <p:cNvSpPr/>
          <p:nvPr/>
        </p:nvSpPr>
        <p:spPr>
          <a:xfrm>
            <a:off x="3399282" y="4425696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Linear</a:t>
            </a:r>
            <a:endParaRPr lang="en-US" sz="1470" dirty="0"/>
          </a:p>
        </p:txBody>
      </p:sp>
      <p:sp>
        <p:nvSpPr>
          <p:cNvPr id="35" name="Text 33"/>
          <p:cNvSpPr/>
          <p:nvPr/>
        </p:nvSpPr>
        <p:spPr>
          <a:xfrm>
            <a:off x="6085332" y="4425696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Linear</a:t>
            </a:r>
            <a:endParaRPr lang="en-US" sz="1470" dirty="0"/>
          </a:p>
        </p:txBody>
      </p:sp>
      <p:sp>
        <p:nvSpPr>
          <p:cNvPr id="36" name="Text 34"/>
          <p:cNvSpPr/>
          <p:nvPr/>
        </p:nvSpPr>
        <p:spPr>
          <a:xfrm>
            <a:off x="8771382" y="4425696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Every element must be visited</a:t>
            </a:r>
            <a:endParaRPr lang="en-US" sz="14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MISCONCEPTION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Lists are not always the right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list is flexible, but flexibility does not automatically mean optimal design.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we always process the newest item first, we need stack behavior.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we always process the oldest item first, we need queue behavior.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we process the most urgent item first, we need priority behavior.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Design principle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the structure that matches the workflow rule.</a:t>
            </a:r>
            <a:endParaRPr lang="en-US" sz="1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stack abstraction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6EAB"/>
                </a:solidFill>
              </a:rPr>
              <a:t>Stack: Last In, First Out (LIFO)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4800600"/>
            <a:ext cx="2194560" cy="429768"/>
          </a:xfrm>
          <a:prstGeom prst="roundRect">
            <a:avLst>
              <a:gd name="adj" fmla="val 12766"/>
            </a:avLst>
          </a:prstGeom>
          <a:solidFill>
            <a:srgbClr val="F7FBFE"/>
          </a:solidFill>
          <a:ln w="1778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057400" y="4919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Oldest task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965960" y="4233672"/>
            <a:ext cx="2194560" cy="429768"/>
          </a:xfrm>
          <a:prstGeom prst="roundRect">
            <a:avLst>
              <a:gd name="adj" fmla="val 12766"/>
            </a:avLst>
          </a:prstGeom>
          <a:solidFill>
            <a:srgbClr val="F7FBFE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057400" y="43525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Medication check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965960" y="3666744"/>
            <a:ext cx="2194560" cy="429768"/>
          </a:xfrm>
          <a:prstGeom prst="roundRect">
            <a:avLst>
              <a:gd name="adj" fmla="val 12766"/>
            </a:avLst>
          </a:prstGeom>
          <a:solidFill>
            <a:srgbClr val="F7FBFE"/>
          </a:solidFill>
          <a:ln w="1778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057400" y="3785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Lab review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965960" y="3099816"/>
            <a:ext cx="2194560" cy="429768"/>
          </a:xfrm>
          <a:prstGeom prst="roundRect">
            <a:avLst>
              <a:gd name="adj" fmla="val 12766"/>
            </a:avLst>
          </a:prstGeom>
          <a:solidFill>
            <a:srgbClr val="F7FBFE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057400" y="3218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324D"/>
                </a:solidFill>
              </a:rPr>
              <a:t>ECG 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965960" y="2532888"/>
            <a:ext cx="2194560" cy="429768"/>
          </a:xfrm>
          <a:prstGeom prst="roundRect">
            <a:avLst>
              <a:gd name="adj" fmla="val 12766"/>
            </a:avLst>
          </a:prstGeom>
          <a:solidFill>
            <a:srgbClr val="FFF1DF"/>
          </a:solidFill>
          <a:ln w="17780">
            <a:solidFill>
              <a:srgbClr val="C979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057400" y="26517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324D"/>
                </a:solidFill>
              </a:rPr>
              <a:t>Newest action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1993392"/>
            <a:ext cx="475488" cy="950976"/>
          </a:xfrm>
          <a:prstGeom prst="upArrow">
            <a:avLst/>
          </a:prstGeom>
          <a:solidFill>
            <a:srgbClr val="C97928"/>
          </a:solidFill>
          <a:ln w="12700">
            <a:solidFill>
              <a:srgbClr val="C979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102352" y="21396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C97928"/>
                </a:solidFill>
              </a:rPr>
              <a:t>POP returns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C97928"/>
                </a:solidFill>
              </a:rPr>
              <a:t>the top item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4480560" y="3675888"/>
            <a:ext cx="475488" cy="950976"/>
          </a:xfrm>
          <a:prstGeom prst="downArrow">
            <a:avLst/>
          </a:prstGeom>
          <a:solidFill>
            <a:srgbClr val="0B8FA3"/>
          </a:solidFill>
          <a:ln w="1270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102352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8FA3"/>
                </a:solidFill>
              </a:rPr>
              <a:t>PUSH adds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B8FA3"/>
                </a:solidFill>
              </a:rPr>
              <a:t>a new top item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360920" y="1828800"/>
            <a:ext cx="38404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Only the top element is directly accessible.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most recent item is processed first.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Stacks are useful for reversible or nested operations.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OPERATIONS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operations and behavior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Operation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42946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Meaning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78760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Result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713232" y="1655064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13232" y="237744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32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push(x)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42946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Add x to the top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78760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x becomes the next item to remove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713232" y="303580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132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pop()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42946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Remove and return the top item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78760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The most recent item is processed first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713232" y="369417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peek()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42946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Read the top item without removing it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78760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Useful before deciding what to do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713232" y="435254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132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is_empty()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42946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Check whether the stack has no elements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78760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Prevents invalid pop operations</a:t>
            </a:r>
            <a:endParaRPr lang="en-US" sz="14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EXAMPLES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stacks appear in healthcare software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Undo history in a clinical annotation tool: the most recent action is undone first.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Nested clinical forms: the most recently opened form may be closed first.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Backtracking in rule-based decision pathways.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Parsing structured health messages or configuration files.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Important warning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stack is usually not fair for patient waiting lists.</a:t>
            </a:r>
            <a:endParaRPr lang="en-US" sz="1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example: undo last annotation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UndoLastAnnotation(stack)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stack of previous actions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restored previous state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stack.is_empty() THEN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"nothing_to_undo"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last_action ← stack.pop()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restore_state_before(last_action)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"undo_completed"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must check whether the stack is empty.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last action is the first action reversed.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is LIFO behavior.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same idea appears in many user interfaces.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LIMITATIONS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stack is not a waiting room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patients are stored in a stack, the last patient to arrive would be the first served.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That behavior is usually inappropriate for a standard waiting list.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Stacks are useful when recency is the correct rule.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Healthcare workflows often require FIFO or priority-based behavior instead.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Check understanding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LIFO = newest first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FIFO = oldest first</a:t>
            </a:r>
            <a:endParaRPr lang="en-US" sz="1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queue abstraction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6EAB"/>
                </a:solidFill>
              </a:rPr>
              <a:t>Queue: First In, First Out (FIFO)</a:t>
            </a:r>
            <a:endParaRPr lang="en-US" sz="1800" dirty="0"/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6CA582E7-BCD8-E06A-257A-7ABA01F6FDDE}"/>
              </a:ext>
            </a:extLst>
          </p:cNvPr>
          <p:cNvGrpSpPr/>
          <p:nvPr/>
        </p:nvGrpSpPr>
        <p:grpSpPr>
          <a:xfrm>
            <a:off x="2221992" y="2244852"/>
            <a:ext cx="8202168" cy="1307592"/>
            <a:chOff x="621792" y="2468880"/>
            <a:chExt cx="8202168" cy="1307592"/>
          </a:xfrm>
        </p:grpSpPr>
        <p:sp>
          <p:nvSpPr>
            <p:cNvPr id="8" name="Shape 6"/>
            <p:cNvSpPr/>
            <p:nvPr/>
          </p:nvSpPr>
          <p:spPr>
            <a:xfrm>
              <a:off x="2057400" y="2468880"/>
              <a:ext cx="658368" cy="658368"/>
            </a:xfrm>
            <a:prstGeom prst="ellipse">
              <a:avLst/>
            </a:prstGeom>
            <a:solidFill>
              <a:srgbClr val="FFF1DF"/>
            </a:solidFill>
            <a:ln w="17780">
              <a:solidFill>
                <a:srgbClr val="C97928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7"/>
            <p:cNvSpPr/>
            <p:nvPr/>
          </p:nvSpPr>
          <p:spPr>
            <a:xfrm>
              <a:off x="2057400" y="2679192"/>
              <a:ext cx="658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P1</a:t>
              </a:r>
              <a:endParaRPr lang="en-US" sz="13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063240" y="2468880"/>
              <a:ext cx="658368" cy="658368"/>
            </a:xfrm>
            <a:prstGeom prst="ellipse">
              <a:avLst/>
            </a:prstGeom>
            <a:solidFill>
              <a:srgbClr val="F7FBFE"/>
            </a:solidFill>
            <a:ln w="17780">
              <a:solidFill>
                <a:srgbClr val="0B8FA3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 9"/>
            <p:cNvSpPr/>
            <p:nvPr/>
          </p:nvSpPr>
          <p:spPr>
            <a:xfrm>
              <a:off x="3063240" y="2679192"/>
              <a:ext cx="658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P2</a:t>
              </a:r>
              <a:endParaRPr lang="en-US" sz="13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4069080" y="2468880"/>
              <a:ext cx="658368" cy="658368"/>
            </a:xfrm>
            <a:prstGeom prst="ellipse">
              <a:avLst/>
            </a:prstGeom>
            <a:solidFill>
              <a:srgbClr val="F7FBFE"/>
            </a:solidFill>
            <a:ln w="17780">
              <a:solidFill>
                <a:srgbClr val="0B8FA3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 11"/>
            <p:cNvSpPr/>
            <p:nvPr/>
          </p:nvSpPr>
          <p:spPr>
            <a:xfrm>
              <a:off x="4069080" y="2679192"/>
              <a:ext cx="658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P3</a:t>
              </a:r>
              <a:endParaRPr lang="en-US" sz="13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074920" y="2468880"/>
              <a:ext cx="658368" cy="658368"/>
            </a:xfrm>
            <a:prstGeom prst="ellipse">
              <a:avLst/>
            </a:prstGeom>
            <a:solidFill>
              <a:srgbClr val="F7FBFE"/>
            </a:solidFill>
            <a:ln w="17780">
              <a:solidFill>
                <a:srgbClr val="0B8FA3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 13"/>
            <p:cNvSpPr/>
            <p:nvPr/>
          </p:nvSpPr>
          <p:spPr>
            <a:xfrm>
              <a:off x="5074920" y="2679192"/>
              <a:ext cx="658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P4</a:t>
              </a:r>
              <a:endParaRPr lang="en-US" sz="135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6080760" y="2468880"/>
              <a:ext cx="658368" cy="658368"/>
            </a:xfrm>
            <a:prstGeom prst="ellipse">
              <a:avLst/>
            </a:prstGeom>
            <a:solidFill>
              <a:srgbClr val="F7FBFE"/>
            </a:solidFill>
            <a:ln w="17780">
              <a:solidFill>
                <a:srgbClr val="0B8FA3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 15"/>
            <p:cNvSpPr/>
            <p:nvPr/>
          </p:nvSpPr>
          <p:spPr>
            <a:xfrm>
              <a:off x="6080760" y="2679192"/>
              <a:ext cx="65836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17324D"/>
                  </a:solidFill>
                </a:rPr>
                <a:t>P5</a:t>
              </a:r>
              <a:endParaRPr lang="en-US" sz="13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207008" y="2798064"/>
              <a:ext cx="685800" cy="0"/>
            </a:xfrm>
            <a:prstGeom prst="line">
              <a:avLst/>
            </a:prstGeom>
            <a:noFill/>
            <a:ln w="27940">
              <a:solidFill>
                <a:srgbClr val="B9D0E4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 17"/>
            <p:cNvSpPr/>
            <p:nvPr/>
          </p:nvSpPr>
          <p:spPr>
            <a:xfrm>
              <a:off x="621792" y="3273552"/>
              <a:ext cx="12984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20" b="1" dirty="0">
                  <a:solidFill>
                    <a:srgbClr val="C97928"/>
                  </a:solidFill>
                </a:rPr>
                <a:t>DEQUEUE</a:t>
              </a:r>
              <a:endParaRPr lang="en-US" sz="1320" dirty="0"/>
            </a:p>
            <a:p>
              <a:pPr marL="0" indent="0" algn="ctr">
                <a:buNone/>
              </a:pPr>
              <a:r>
                <a:rPr lang="en-US" sz="1320" b="1" dirty="0">
                  <a:solidFill>
                    <a:srgbClr val="C97928"/>
                  </a:solidFill>
                </a:rPr>
                <a:t>served first</a:t>
              </a:r>
              <a:endParaRPr lang="en-US" sz="132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903720" y="2798064"/>
              <a:ext cx="777240" cy="0"/>
            </a:xfrm>
            <a:prstGeom prst="line">
              <a:avLst/>
            </a:prstGeom>
            <a:noFill/>
            <a:ln w="27940">
              <a:solidFill>
                <a:srgbClr val="B9D0E4"/>
              </a:solidFill>
              <a:prstDash val="solid"/>
              <a:tailEnd type="triangle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Text 19"/>
            <p:cNvSpPr/>
            <p:nvPr/>
          </p:nvSpPr>
          <p:spPr>
            <a:xfrm>
              <a:off x="7452360" y="3063240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0B8FA3"/>
                  </a:solidFill>
                </a:rPr>
                <a:t>ENQUEUE</a:t>
              </a:r>
              <a:endParaRPr lang="en-US" sz="1350" dirty="0"/>
            </a:p>
            <a:p>
              <a:pPr marL="0" indent="0" algn="ctr">
                <a:buNone/>
              </a:pPr>
              <a:r>
                <a:rPr lang="en-US" sz="1350" b="1" dirty="0">
                  <a:solidFill>
                    <a:srgbClr val="0B8FA3"/>
                  </a:solidFill>
                </a:rPr>
                <a:t>new arrival</a:t>
              </a:r>
              <a:endParaRPr lang="en-US" sz="1350" dirty="0"/>
            </a:p>
          </p:txBody>
        </p:sp>
      </p:grpSp>
      <p:sp>
        <p:nvSpPr>
          <p:cNvPr id="22" name="Text 20"/>
          <p:cNvSpPr/>
          <p:nvPr/>
        </p:nvSpPr>
        <p:spPr>
          <a:xfrm>
            <a:off x="960120" y="4315968"/>
            <a:ext cx="99669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first patient who entered the queue is the first to leave it.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Queues are natural for waiting lists, scheduled tasks and buffered messages.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 emergency care often needs priority rules, not only FIFO.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OPERATIONS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 operations and behavior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Operation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42946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Meaning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78760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Healthcare example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713232" y="1655064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13232" y="237744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32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enqueue(x)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42946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Add x at the back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78760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New patient joins a waiting list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713232" y="303580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132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dequeue()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42946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Remove and return the front item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78760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Next patient is called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713232" y="369417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front()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42946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Read the next item without removing it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78760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Check who will be served next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713232" y="435254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132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is_empty()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42946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Check if the queue has no elements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78760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Avoid calling a missing patient</a:t>
            </a:r>
            <a:endParaRPr lang="en-US" sz="14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EXAMPLES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queues appear in health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Patient waiting lists in outpatient clinics.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Laboratory samples waiting for analysis.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Messages waiting to be processed by an integration engine.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Device measurements buffered before storage.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 alerts waiting for review by a team.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Key idea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queue represents controlled waiting.</a:t>
            </a:r>
            <a:endParaRPr lang="en-US" sz="1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PSEUDOCODE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 example: call next patient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CallNextPatient(waiting_queue)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queue of waiting patients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selected patient or message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waiting_queue.is_empty() THEN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"no_patient_waiting"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 ← waiting_queue.dequeue()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patient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first patient in the queue is selected.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selected patient is removed from the queue.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must handle an empty queue.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logic is simple because FIFO behavior is well defined.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9189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STUDY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 Department waiting list and triage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7FBFE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7324D"/>
                </a:solidFill>
              </a:rPr>
              <a:t>Arrival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932688" y="23591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5B6770"/>
                </a:solidFill>
              </a:rPr>
              <a:t>vital signs + symptoms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2926080" y="2350008"/>
            <a:ext cx="530352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1F7FC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675888" y="205740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7324D"/>
                </a:solidFill>
              </a:rPr>
              <a:t>Triage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3675888" y="23591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5B6770"/>
                </a:solidFill>
              </a:rPr>
              <a:t>assign priority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69280" y="2350008"/>
            <a:ext cx="530352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7FBFE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19088" y="205740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7324D"/>
                </a:solidFill>
              </a:rPr>
              <a:t>Queue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6419088" y="23591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5B6770"/>
                </a:solidFill>
              </a:rPr>
              <a:t>wait by priority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412480" y="2350008"/>
            <a:ext cx="530352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052560" y="192024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F1F7FC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162288" y="205740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17324D"/>
                </a:solidFill>
              </a:rPr>
              <a:t>Care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9162288" y="2359152"/>
            <a:ext cx="1837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5B6770"/>
                </a:solidFill>
              </a:rPr>
              <a:t>clinical evaluation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1554480" y="3938451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CECEC"/>
          </a:solidFill>
          <a:ln w="13970">
            <a:solidFill>
              <a:srgbClr val="B4454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645920" y="4103043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44545"/>
                </a:solidFill>
              </a:rPr>
              <a:t>High priority: immediate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09160" y="3938451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FFF1DF"/>
          </a:solidFill>
          <a:ln w="13970">
            <a:solidFill>
              <a:srgbClr val="C979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800600" y="4103043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97928"/>
                </a:solidFill>
              </a:rPr>
              <a:t>Medium priority: soon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63840" y="3938451"/>
            <a:ext cx="2743200" cy="530352"/>
          </a:xfrm>
          <a:prstGeom prst="roundRect">
            <a:avLst>
              <a:gd name="adj" fmla="val 13793"/>
            </a:avLst>
          </a:prstGeom>
          <a:solidFill>
            <a:srgbClr val="EAF6F1"/>
          </a:solidFill>
          <a:ln w="1397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955280" y="4103043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5B"/>
                </a:solidFill>
              </a:rPr>
              <a:t>Low priority: standard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14400" y="51389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7324D"/>
                </a:solidFill>
              </a:rPr>
              <a:t>A triage system is not a simple FIFO queue. It is a queue combined with priority rules.</a:t>
            </a:r>
            <a:endParaRPr lang="en-US" sz="17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FIFO VS PRIORITY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a simple queue is not enough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6EAB"/>
                </a:solidFill>
              </a:rPr>
              <a:t>Simple FIFO queue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4892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Serves patients in arrival order.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Easy to understand and implement.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Fair when all items have similar urgency.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appropriate when urgency differs strongly.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07024" y="1298448"/>
            <a:ext cx="0" cy="4498848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355080" y="12618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Priority-based queue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355080" y="1700784"/>
            <a:ext cx="489204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Serves higher-priority patients first.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Patients with equal priority may follow FIFO order.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Requires a priority score or category.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Better matches triage logic.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086" y="-27432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 ALGORITHM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patient data to a priority queue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1609344"/>
            <a:ext cx="1828800" cy="713232"/>
          </a:xfrm>
          <a:prstGeom prst="diamond">
            <a:avLst>
              <a:gd name="adj" fmla="val 10256"/>
            </a:avLst>
          </a:prstGeom>
          <a:solidFill>
            <a:srgbClr val="F7FBFE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magine 6" descr="START Adult Triage Algorithm - Radiation Emergency Medical Management">
            <a:extLst>
              <a:ext uri="{FF2B5EF4-FFF2-40B4-BE49-F238E27FC236}">
                <a16:creationId xmlns:a16="http://schemas.microsoft.com/office/drawing/2014/main" id="{2A5A6221-61C7-AAF5-CE0E-843257525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80" y="1060705"/>
            <a:ext cx="4400452" cy="5646498"/>
          </a:xfrm>
          <a:prstGeom prst="rect">
            <a:avLst/>
          </a:prstGeom>
        </p:spPr>
      </p:pic>
      <p:pic>
        <p:nvPicPr>
          <p:cNvPr id="8" name="Immagine 7" descr="START Triage for EMR: MCI Management">
            <a:extLst>
              <a:ext uri="{FF2B5EF4-FFF2-40B4-BE49-F238E27FC236}">
                <a16:creationId xmlns:a16="http://schemas.microsoft.com/office/drawing/2014/main" id="{C95366E1-B3C7-72A0-1FA9-1D23A33C8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8588" y="1024128"/>
            <a:ext cx="3109598" cy="54524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QUEUE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options for priority-based processing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Implementation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339928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Insertion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608533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Removing highest priority</a:t>
            </a:r>
            <a:endParaRPr lang="en-US" sz="1560" dirty="0"/>
          </a:p>
        </p:txBody>
      </p:sp>
      <p:sp>
        <p:nvSpPr>
          <p:cNvPr id="10" name="Text 8"/>
          <p:cNvSpPr/>
          <p:nvPr/>
        </p:nvSpPr>
        <p:spPr>
          <a:xfrm>
            <a:off x="8771382" y="1197864"/>
            <a:ext cx="263118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When it may be used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713232" y="1655064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713232" y="237744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1323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Unsorted list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339928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Simple</a:t>
            </a:r>
            <a:endParaRPr lang="en-US" sz="1470" dirty="0"/>
          </a:p>
        </p:txBody>
      </p:sp>
      <p:sp>
        <p:nvSpPr>
          <p:cNvPr id="15" name="Text 13"/>
          <p:cNvSpPr/>
          <p:nvPr/>
        </p:nvSpPr>
        <p:spPr>
          <a:xfrm>
            <a:off x="608533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Search required</a:t>
            </a:r>
            <a:endParaRPr lang="en-US" sz="1470" dirty="0"/>
          </a:p>
        </p:txBody>
      </p:sp>
      <p:sp>
        <p:nvSpPr>
          <p:cNvPr id="16" name="Text 14"/>
          <p:cNvSpPr/>
          <p:nvPr/>
        </p:nvSpPr>
        <p:spPr>
          <a:xfrm>
            <a:off x="8771382" y="1792224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Small educational examples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713232" y="303580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1323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Sorted list</a:t>
            </a:r>
            <a:endParaRPr lang="en-US" sz="1470" dirty="0"/>
          </a:p>
        </p:txBody>
      </p:sp>
      <p:sp>
        <p:nvSpPr>
          <p:cNvPr id="19" name="Text 17"/>
          <p:cNvSpPr/>
          <p:nvPr/>
        </p:nvSpPr>
        <p:spPr>
          <a:xfrm>
            <a:off x="339928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Insert in right position</a:t>
            </a:r>
            <a:endParaRPr lang="en-US" sz="1470" dirty="0"/>
          </a:p>
        </p:txBody>
      </p:sp>
      <p:sp>
        <p:nvSpPr>
          <p:cNvPr id="20" name="Text 18"/>
          <p:cNvSpPr/>
          <p:nvPr/>
        </p:nvSpPr>
        <p:spPr>
          <a:xfrm>
            <a:off x="608533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Front is ready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8771382" y="2450592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Moderate lists, easy to inspect</a:t>
            </a:r>
            <a:endParaRPr lang="en-US" sz="1470" dirty="0"/>
          </a:p>
        </p:txBody>
      </p:sp>
      <p:sp>
        <p:nvSpPr>
          <p:cNvPr id="22" name="Shape 20"/>
          <p:cNvSpPr/>
          <p:nvPr/>
        </p:nvSpPr>
        <p:spPr>
          <a:xfrm>
            <a:off x="713232" y="369417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71323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Heap</a:t>
            </a:r>
            <a:endParaRPr lang="en-US" sz="1470" dirty="0"/>
          </a:p>
        </p:txBody>
      </p:sp>
      <p:sp>
        <p:nvSpPr>
          <p:cNvPr id="24" name="Text 22"/>
          <p:cNvSpPr/>
          <p:nvPr/>
        </p:nvSpPr>
        <p:spPr>
          <a:xfrm>
            <a:off x="339928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Efficient priority operations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608533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Efficient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8771382" y="3108960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Large-scale systems</a:t>
            </a:r>
            <a:endParaRPr lang="en-US" sz="1470" dirty="0"/>
          </a:p>
        </p:txBody>
      </p:sp>
      <p:sp>
        <p:nvSpPr>
          <p:cNvPr id="27" name="Shape 25"/>
          <p:cNvSpPr/>
          <p:nvPr/>
        </p:nvSpPr>
        <p:spPr>
          <a:xfrm>
            <a:off x="713232" y="435254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323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Database query</a:t>
            </a:r>
            <a:endParaRPr lang="en-US" sz="1470" dirty="0"/>
          </a:p>
        </p:txBody>
      </p:sp>
      <p:sp>
        <p:nvSpPr>
          <p:cNvPr id="29" name="Text 27"/>
          <p:cNvSpPr/>
          <p:nvPr/>
        </p:nvSpPr>
        <p:spPr>
          <a:xfrm>
            <a:off x="339928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Depends on index</a:t>
            </a:r>
            <a:endParaRPr lang="en-US" sz="1470" dirty="0"/>
          </a:p>
        </p:txBody>
      </p:sp>
      <p:sp>
        <p:nvSpPr>
          <p:cNvPr id="30" name="Text 28"/>
          <p:cNvSpPr/>
          <p:nvPr/>
        </p:nvSpPr>
        <p:spPr>
          <a:xfrm>
            <a:off x="608533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Depends on query/order</a:t>
            </a:r>
            <a:endParaRPr lang="en-US" sz="1470" dirty="0"/>
          </a:p>
        </p:txBody>
      </p:sp>
      <p:sp>
        <p:nvSpPr>
          <p:cNvPr id="31" name="Text 29"/>
          <p:cNvSpPr/>
          <p:nvPr/>
        </p:nvSpPr>
        <p:spPr>
          <a:xfrm>
            <a:off x="8771382" y="3767328"/>
            <a:ext cx="261289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Real hospital applications</a:t>
            </a:r>
            <a:endParaRPr lang="en-US" sz="147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DESIGN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Queue rules must be explicit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information determines priority?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are ties handled within the same priority level?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a patient move to a higher priority while waiting?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is allowed to modify the priority?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be logged for accountability?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Tie-breaking example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Priority first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Arrival time second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 reassessment can update position</a:t>
            </a:r>
            <a:endParaRPr lang="en-US" sz="16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Deque and circular buffer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deque allows insertion and removal at both ends.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circular buffer reuses a fixed-size memory area for streaming data.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Wearable sensors often need buffers because data arrive continuously.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These variants show how linear structures adapt to practical constraints.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Biomedical example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the last N ECG samples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Store recent glucose readings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 streaming sensor packets</a:t>
            </a:r>
            <a:endParaRPr lang="en-US" sz="16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ERRORS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mistakes and how to prevent them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Mistake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42946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Why it matters</a:t>
            </a:r>
            <a:endParaRPr lang="en-US" sz="1560" dirty="0"/>
          </a:p>
        </p:txBody>
      </p:sp>
      <p:sp>
        <p:nvSpPr>
          <p:cNvPr id="9" name="Text 7"/>
          <p:cNvSpPr/>
          <p:nvPr/>
        </p:nvSpPr>
        <p:spPr>
          <a:xfrm>
            <a:off x="7876032" y="1197864"/>
            <a:ext cx="3526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60" b="1" dirty="0">
                <a:solidFill>
                  <a:srgbClr val="2F6EAB"/>
                </a:solidFill>
              </a:rPr>
              <a:t>Prevention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713232" y="1655064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13232" y="237744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32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Pop from empty stack</a:t>
            </a:r>
            <a:endParaRPr lang="en-US" sz="1470" dirty="0"/>
          </a:p>
        </p:txBody>
      </p:sp>
      <p:sp>
        <p:nvSpPr>
          <p:cNvPr id="13" name="Text 11"/>
          <p:cNvSpPr/>
          <p:nvPr/>
        </p:nvSpPr>
        <p:spPr>
          <a:xfrm>
            <a:off x="42946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No valid item exists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7876032" y="179222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Check is_empty() first</a:t>
            </a:r>
            <a:endParaRPr lang="en-US" sz="1470" dirty="0"/>
          </a:p>
        </p:txBody>
      </p:sp>
      <p:sp>
        <p:nvSpPr>
          <p:cNvPr id="15" name="Shape 13"/>
          <p:cNvSpPr/>
          <p:nvPr/>
        </p:nvSpPr>
        <p:spPr>
          <a:xfrm>
            <a:off x="713232" y="303580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132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Dequeue from empty queue</a:t>
            </a:r>
            <a:endParaRPr lang="en-US" sz="1470" dirty="0"/>
          </a:p>
        </p:txBody>
      </p:sp>
      <p:sp>
        <p:nvSpPr>
          <p:cNvPr id="17" name="Text 15"/>
          <p:cNvSpPr/>
          <p:nvPr/>
        </p:nvSpPr>
        <p:spPr>
          <a:xfrm>
            <a:off x="42946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No patient/task to process</a:t>
            </a:r>
            <a:endParaRPr lang="en-US" sz="1470" dirty="0"/>
          </a:p>
        </p:txBody>
      </p:sp>
      <p:sp>
        <p:nvSpPr>
          <p:cNvPr id="18" name="Text 16"/>
          <p:cNvSpPr/>
          <p:nvPr/>
        </p:nvSpPr>
        <p:spPr>
          <a:xfrm>
            <a:off x="7876032" y="245059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Return a safe message</a:t>
            </a:r>
            <a:endParaRPr lang="en-US" sz="1470" dirty="0"/>
          </a:p>
        </p:txBody>
      </p:sp>
      <p:sp>
        <p:nvSpPr>
          <p:cNvPr id="19" name="Shape 17"/>
          <p:cNvSpPr/>
          <p:nvPr/>
        </p:nvSpPr>
        <p:spPr>
          <a:xfrm>
            <a:off x="713232" y="369417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Wrong order rule</a:t>
            </a:r>
            <a:endParaRPr lang="en-US" sz="1470" dirty="0"/>
          </a:p>
        </p:txBody>
      </p:sp>
      <p:sp>
        <p:nvSpPr>
          <p:cNvPr id="21" name="Text 19"/>
          <p:cNvSpPr/>
          <p:nvPr/>
        </p:nvSpPr>
        <p:spPr>
          <a:xfrm>
            <a:off x="42946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Workflow becomes unfair or unsafe</a:t>
            </a:r>
            <a:endParaRPr lang="en-US" sz="1470" dirty="0"/>
          </a:p>
        </p:txBody>
      </p:sp>
      <p:sp>
        <p:nvSpPr>
          <p:cNvPr id="22" name="Text 20"/>
          <p:cNvSpPr/>
          <p:nvPr/>
        </p:nvSpPr>
        <p:spPr>
          <a:xfrm>
            <a:off x="7876032" y="310896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Define FIFO, LIFO or priority explicitly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713232" y="435254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132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Ignoring ties</a:t>
            </a:r>
            <a:endParaRPr lang="en-US" sz="1470" dirty="0"/>
          </a:p>
        </p:txBody>
      </p:sp>
      <p:sp>
        <p:nvSpPr>
          <p:cNvPr id="25" name="Text 23"/>
          <p:cNvSpPr/>
          <p:nvPr/>
        </p:nvSpPr>
        <p:spPr>
          <a:xfrm>
            <a:off x="42946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Same-priority cases become inconsistent</a:t>
            </a:r>
            <a:endParaRPr lang="en-US" sz="1470" dirty="0"/>
          </a:p>
        </p:txBody>
      </p:sp>
      <p:sp>
        <p:nvSpPr>
          <p:cNvPr id="26" name="Text 24"/>
          <p:cNvSpPr/>
          <p:nvPr/>
        </p:nvSpPr>
        <p:spPr>
          <a:xfrm>
            <a:off x="7876032" y="376732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Specify tie-breaking rule</a:t>
            </a:r>
            <a:endParaRPr lang="en-US" sz="1470" dirty="0"/>
          </a:p>
        </p:txBody>
      </p:sp>
      <p:sp>
        <p:nvSpPr>
          <p:cNvPr id="27" name="Shape 25"/>
          <p:cNvSpPr/>
          <p:nvPr/>
        </p:nvSpPr>
        <p:spPr>
          <a:xfrm>
            <a:off x="713232" y="501091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3232" y="442569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No audit trail</a:t>
            </a:r>
            <a:endParaRPr lang="en-US" sz="1470" dirty="0"/>
          </a:p>
        </p:txBody>
      </p:sp>
      <p:sp>
        <p:nvSpPr>
          <p:cNvPr id="29" name="Text 27"/>
          <p:cNvSpPr/>
          <p:nvPr/>
        </p:nvSpPr>
        <p:spPr>
          <a:xfrm>
            <a:off x="4294632" y="442569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Clinical changes cannot be reviewed</a:t>
            </a:r>
            <a:endParaRPr lang="en-US" sz="1470" dirty="0"/>
          </a:p>
        </p:txBody>
      </p:sp>
      <p:sp>
        <p:nvSpPr>
          <p:cNvPr id="30" name="Text 28"/>
          <p:cNvSpPr/>
          <p:nvPr/>
        </p:nvSpPr>
        <p:spPr>
          <a:xfrm>
            <a:off x="7876032" y="442569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dirty="0">
                <a:solidFill>
                  <a:srgbClr val="374151"/>
                </a:solidFill>
              </a:rPr>
              <a:t>Log insertion, removal and priority changes</a:t>
            </a:r>
            <a:endParaRPr lang="en-US" sz="14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EXAMPLE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insertion using simple rules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434840"/>
          </a:xfrm>
          <a:prstGeom prst="roundRect">
            <a:avLst>
              <a:gd name="adj" fmla="val 2474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AddPatient(patient, queue)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patient record and priority queue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updated queue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← compute_priority(patient)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patient.priority ← priority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patient after all patients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higher priority and after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with the same priority</a:t>
            </a: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arrived earlier</a:t>
            </a:r>
            <a:endParaRPr lang="en-US" sz="1360" dirty="0"/>
          </a:p>
          <a:p>
            <a:pPr marL="0" indent="0">
              <a:buNone/>
            </a:pPr>
            <a:endParaRPr lang="en-US" sz="1360" dirty="0"/>
          </a:p>
          <a:p>
            <a:pPr marL="0" indent="0">
              <a:buNone/>
            </a:pPr>
            <a:r>
              <a:rPr lang="en-US" sz="13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queue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is a simplified priority queue algorithm.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priority is considered before arrival time.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Arrival time is used to break ties.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rule must be documented and testable.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ACTIVITY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the Emergency Department data 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You receive five patients with arrival time, symptoms and vital signs.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Assign each patient to high, medium or low priority using explicit rules.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Choose whether to use a list, stack, queue or priority queue.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Write pseudocode for adding a new patient.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how ties are handled.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Suggested timing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 minutes group work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 minutes discussion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 minutes synthesis</a:t>
            </a:r>
            <a:endParaRPr lang="en-US" sz="16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MINI-LAB PROMPT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 or simulate a waiting list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a small list of patient records.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at least one new patient.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Remove the next patient to be served.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what changes when the structure is a queue instead of a stack.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Extend the solution with a simple priority field.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86600" y="13716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8FA3"/>
                </a:solidFill>
              </a:rPr>
              <a:t>Assessment criteria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022592" y="1801368"/>
            <a:ext cx="4334256" cy="3520440"/>
          </a:xfrm>
          <a:prstGeom prst="roundRect">
            <a:avLst>
              <a:gd name="adj" fmla="val 3636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78624" y="2066544"/>
            <a:ext cx="3822192" cy="28895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Correct operations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Clear rule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Edge cases handled</a:t>
            </a:r>
            <a:endParaRPr lang="en-US" sz="1680" dirty="0"/>
          </a:p>
          <a:p>
            <a:pPr marL="0" indent="0">
              <a:buNone/>
            </a:pPr>
            <a:r>
              <a:rPr lang="en-US" sz="168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Biomedical interpretation</a:t>
            </a:r>
            <a:endParaRPr lang="en-US" sz="16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SYNTHESIS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Lists store ordered collections and support flexible traversal and modification.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Stacks use LIFO behavior: the most recent item is processed first.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Queues use FIFO behavior: the earliest item is processed first.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Emergency triage usually requires priority-based processing, not a simple FIFO queue.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medical informatics, choosing a data structure is also choosing a workflow rule.</a:t>
            </a:r>
            <a:endParaRPr lang="en-US" sz="2400" dirty="0"/>
          </a:p>
        </p:txBody>
      </p:sp>
      <p:pic>
        <p:nvPicPr>
          <p:cNvPr id="8" name="Immagine 7" descr="Key Takeaways Stock Illustrations – 281 Key Takeaways Stock Illustrations, Vectors &amp; Clipart - Dreamstime">
            <a:extLst>
              <a:ext uri="{FF2B5EF4-FFF2-40B4-BE49-F238E27FC236}">
                <a16:creationId xmlns:a16="http://schemas.microsoft.com/office/drawing/2014/main" id="{96E6259F-168D-4916-3E98-81E519E86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414" y="1508760"/>
            <a:ext cx="4839779" cy="322651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LESSON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Looking ahead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989320" cy="4434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 will move from linear structures to hierarchical structures.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Trees help represent decisions, priorities, taxonomies and search spaces.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Heaps provide an efficient way to implement priority queues.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Emergency Department triage example will connect naturally to priority queues and heaps.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3630</Words>
  <Application>Microsoft Macintosh PowerPoint</Application>
  <PresentationFormat>Widescreen</PresentationFormat>
  <Paragraphs>574</Paragraphs>
  <Slides>36</Slides>
  <Notes>36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ITS · Medical 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 — Lists, stacks and queues</dc:title>
  <dc:subject>Algorithms and Data Structures for Medical Informatics</dc:subject>
  <dc:creator>Simone Rancati</dc:creator>
  <cp:lastModifiedBy>RANCATI SIMONE</cp:lastModifiedBy>
  <cp:revision>5</cp:revision>
  <dcterms:created xsi:type="dcterms:W3CDTF">2026-08-19T12:44:24Z</dcterms:created>
  <dcterms:modified xsi:type="dcterms:W3CDTF">2026-09-16T21:00:31Z</dcterms:modified>
</cp:coreProperties>
</file>