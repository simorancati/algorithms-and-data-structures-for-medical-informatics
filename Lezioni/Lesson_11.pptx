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1"/>
  </p:normalViewPr>
  <p:slideViewPr>
    <p:cSldViewPr snapToGrid="0" snapToObjects="1">
      <p:cViewPr varScale="1">
        <p:scale>
          <a:sx n="88" d="100"/>
          <a:sy n="88" d="100"/>
        </p:scale>
        <p:origin x="176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120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8249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76FBF"/>
                </a:solidFill>
                <a:latin typeface="Aptos Display"/>
              </a:rPr>
              <a:t>Lesson 11 — Graphs: Representation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Nodes, edges, adjacency matrices and biomedical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535425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21 September 2026 · 11:30–13:30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7633"/>
          <a:stretch>
            <a:fillRect/>
          </a:stretch>
        </p:blipFill>
        <p:spPr>
          <a:xfrm>
            <a:off x="6836228" y="731519"/>
            <a:ext cx="4734914" cy="5088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Why graphs are useful beyond trees and linear structures.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Core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Vertices, edges, direction and weights.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Representations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Adjacency matrix, adjacency list and edge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Biomedical networks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Patients, genes, proteins, neurons and epidemics.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Data-structure choices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Memory, sparsity and performance.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Examples, exercises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389138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Define a graph and its main components.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Distinguish directed, undirected, weighted and unweighted graphs.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Represent the same network with an adjacency matrix, an adjacency list and an edge list.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why sparsity matters when selecting a representation.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Interpret real biomedical systems as graphs.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Choose a graph structure that matches the problem.</a:t>
            </a:r>
          </a:p>
        </p:txBody>
      </p:sp>
      <p:pic>
        <p:nvPicPr>
          <p:cNvPr id="7" name="Picture 6" descr="a_high_tech_medical_biotech_abstract_illustration.png"/>
          <p:cNvPicPr>
            <a:picLocks noChangeAspect="1"/>
          </p:cNvPicPr>
          <p:nvPr/>
        </p:nvPicPr>
        <p:blipFill>
          <a:blip r:embed="rId2"/>
          <a:srcRect l="42529"/>
          <a:stretch>
            <a:fillRect/>
          </a:stretch>
        </p:blipFill>
        <p:spPr>
          <a:xfrm>
            <a:off x="8119872" y="1847088"/>
            <a:ext cx="3738448" cy="36609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graphs matter in medical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93596"/>
            <a:ext cx="5577840" cy="4602863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Many biomedical systems are networks rather than simple sequences or hierarchies.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Patients may be connected by contact, similarity or referral relationships.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Genes and proteins interact in complex biological networks.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brain can be analyzed as a graph of connected regions or neurons.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Epidemiological spread is often modeled through contact networks.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7170"/>
          <a:stretch>
            <a:fillRect/>
          </a:stretch>
        </p:blipFill>
        <p:spPr>
          <a:xfrm>
            <a:off x="7228114" y="1593596"/>
            <a:ext cx="4117650" cy="4386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GRAPH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graph models entities and their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2874"/>
            <a:ext cx="530352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(also called vertices) represent entities.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Edges represent relationships or interactions between entities.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Unlike trees, graphs may contain cycles and multiple connection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Unlike linear structures, a node can be connected to many others.</a:t>
            </a:r>
          </a:p>
        </p:txBody>
      </p:sp>
      <p:sp>
        <p:nvSpPr>
          <p:cNvPr id="7" name="Oval 6"/>
          <p:cNvSpPr/>
          <p:nvPr/>
        </p:nvSpPr>
        <p:spPr>
          <a:xfrm>
            <a:off x="6675120" y="196596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48272" y="209397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18288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28431" y="19568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224028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17152" y="236829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24612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5472" y="337413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34290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68512" y="35570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931152" y="2075688"/>
            <a:ext cx="1252727" cy="13716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11312" y="2075688"/>
            <a:ext cx="1161288" cy="41148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1152" y="2212848"/>
            <a:ext cx="438912" cy="128016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11312" y="2075688"/>
            <a:ext cx="640080" cy="160019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70064" y="3493008"/>
            <a:ext cx="1481328" cy="18287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851392" y="2487168"/>
            <a:ext cx="521208" cy="118871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Basic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graph G is usually defined as G = (V, E).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 is the set of vertices (nodes).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 is the set of edges (connections).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Edges may be ordered or unordered depending on the graph 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80467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V = {A, B, C, D}</a:t>
            </a:r>
          </a:p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E = {(A,B), (A,C), (C,D)}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80467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The network contains four nodes and three edges.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Vertices, edges and degree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39496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degree of a node is the number of incident edges.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directed graphs, we distinguish in-degree and out-degree.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Highly connected nodes may play important biological or clinical roles.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Degree is one of the simplest graph descriptors.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192024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2" y="20482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P1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18288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28431" y="19568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P2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237744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17152" y="25054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P3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333756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14032" y="346557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P4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4290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35570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P5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848856" y="2093976"/>
            <a:ext cx="1371600" cy="9144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48856" y="2185416"/>
            <a:ext cx="457200" cy="1426464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0456" y="2093976"/>
            <a:ext cx="1188720" cy="54864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0456" y="2093976"/>
            <a:ext cx="548640" cy="1609344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06056" y="3611880"/>
            <a:ext cx="1463040" cy="9144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769096" y="2642616"/>
            <a:ext cx="640080" cy="1060704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43891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E778F"/>
                </a:solidFill>
                <a:latin typeface="Aptos"/>
              </a:rPr>
              <a:t>Node P2 has degree 3 in this undirected graph.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GRAPH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Undirected vs directed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37943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Undirected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11480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An edge has no orientation.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Relationship is symmetric.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protein A interacts with protein 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83080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8192" y="1837943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Directed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55123"/>
            <a:ext cx="4114800" cy="108433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An edge has a direction.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Relationship is asymmetric.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patient A infected patient B.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0" y="38862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84832" y="4014215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3291840" y="38862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4014215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4151376"/>
            <a:ext cx="1280160" cy="0"/>
          </a:xfrm>
          <a:prstGeom prst="line">
            <a:avLst/>
          </a:prstGeom>
          <a:ln w="2286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5200" y="38862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88352" y="4014215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0" y="38862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68512" y="4014215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0" y="4151376"/>
            <a:ext cx="1280160" cy="0"/>
          </a:xfrm>
          <a:prstGeom prst="line">
            <a:avLst/>
          </a:prstGeom>
          <a:ln w="2286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GRAPH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Unweighted vs weighted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an unweighted graph, edges indicate only presence or absence of a connection.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 weighted graph, each edge carries a numerical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Weights may represent distance, similarity, strength, probability or risk.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Biomedical networks often use weighted edges.</a:t>
            </a:r>
          </a:p>
        </p:txBody>
      </p:sp>
      <p:sp>
        <p:nvSpPr>
          <p:cNvPr id="7" name="Oval 6"/>
          <p:cNvSpPr/>
          <p:nvPr/>
        </p:nvSpPr>
        <p:spPr>
          <a:xfrm>
            <a:off x="6766560" y="201168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39712" y="213969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874519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200253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235440" y="242316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08592" y="255117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352044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71231" y="36484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031736" y="2139696"/>
            <a:ext cx="1280160" cy="13716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79" y="1993392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0.8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11896" y="2139696"/>
            <a:ext cx="1188720" cy="54864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32520" y="2176272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0.4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31736" y="2276856"/>
            <a:ext cx="731520" cy="150875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78040" y="2971800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1.2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763256" y="2688336"/>
            <a:ext cx="1737360" cy="1097279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39327" y="2971800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0.9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ADDITIONAL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Self-loops and multiple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self-loop connects a node to itself.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multigraph allows more than one edge between the same pair of nodes.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These extensions are useful in some domains, but not always required.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chosen graph model depends on the meaning of the relationships.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0" y="214884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5472" y="22768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8869680" y="214884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42832" y="22768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97496" y="2148840"/>
            <a:ext cx="1737360" cy="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97496" y="2663517"/>
            <a:ext cx="1737360" cy="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6992" y="272491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two edges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361188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2" y="373989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7033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E778F"/>
                </a:solidFill>
                <a:latin typeface="Aptos"/>
              </a:rPr>
              <a:t>self-loop</a:t>
            </a:r>
          </a:p>
        </p:txBody>
      </p:sp>
      <p:cxnSp>
        <p:nvCxnSpPr>
          <p:cNvPr id="17" name="Connector 16"/>
          <p:cNvCxnSpPr>
            <a:cxnSpLocks/>
            <a:endCxn id="14" idx="1"/>
          </p:cNvCxnSpPr>
          <p:nvPr/>
        </p:nvCxnSpPr>
        <p:spPr>
          <a:xfrm flipH="1" flipV="1">
            <a:off x="8124388" y="3689548"/>
            <a:ext cx="333812" cy="13772"/>
          </a:xfrm>
          <a:prstGeom prst="line">
            <a:avLst/>
          </a:prstGeom>
          <a:ln w="1778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GRAPH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04703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0D3161"/>
                </a:solidFill>
                <a:latin typeface="Aptos Display"/>
              </a:rPr>
              <a:t>Adjacency matrix: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adjacency matrix is a square table.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Rows and columns both correspond to graph nodes.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Entry (</a:t>
            </a:r>
            <a:r>
              <a:rPr sz="2400" dirty="0" err="1"/>
              <a:t>i</a:t>
            </a:r>
            <a:r>
              <a:rPr sz="2400" dirty="0"/>
              <a:t>, j) indicates whether node </a:t>
            </a:r>
            <a:r>
              <a:rPr sz="2400" dirty="0" err="1"/>
              <a:t>i</a:t>
            </a:r>
            <a:r>
              <a:rPr sz="2400" dirty="0"/>
              <a:t> is connected to node j.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weighted graphs, the entry may store the weight instead of 0/1.</a:t>
            </a:r>
          </a:p>
        </p:txBody>
      </p: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D8C73EE7-9BEA-1F98-D9DA-0E7169197EE7}"/>
              </a:ext>
            </a:extLst>
          </p:cNvPr>
          <p:cNvGrpSpPr/>
          <p:nvPr/>
        </p:nvGrpSpPr>
        <p:grpSpPr>
          <a:xfrm>
            <a:off x="7011560" y="1791754"/>
            <a:ext cx="4290424" cy="3543906"/>
            <a:chOff x="6217919" y="1678530"/>
            <a:chExt cx="2350009" cy="1856232"/>
          </a:xfrm>
        </p:grpSpPr>
        <p:grpSp>
          <p:nvGrpSpPr>
            <p:cNvPr id="47" name="Gruppo 46">
              <a:extLst>
                <a:ext uri="{FF2B5EF4-FFF2-40B4-BE49-F238E27FC236}">
                  <a16:creationId xmlns:a16="http://schemas.microsoft.com/office/drawing/2014/main" id="{83D41AEC-A7C8-5816-8B05-358A2A297AD1}"/>
                </a:ext>
              </a:extLst>
            </p:cNvPr>
            <p:cNvGrpSpPr/>
            <p:nvPr/>
          </p:nvGrpSpPr>
          <p:grpSpPr>
            <a:xfrm>
              <a:off x="6217919" y="1678530"/>
              <a:ext cx="2350009" cy="1856232"/>
              <a:chOff x="6236207" y="1664208"/>
              <a:chExt cx="2350009" cy="1856232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995159" y="1664208"/>
                <a:ext cx="274320" cy="128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>
                    <a:solidFill>
                      <a:srgbClr val="0D3161"/>
                    </a:solidFill>
                    <a:latin typeface="Aptos"/>
                  </a:rPr>
                  <a:t>A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236207" y="2249424"/>
                <a:ext cx="228600" cy="128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>
                    <a:solidFill>
                      <a:srgbClr val="0D3161"/>
                    </a:solidFill>
                    <a:latin typeface="Aptos"/>
                  </a:rPr>
                  <a:t>A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434071" y="1664208"/>
                <a:ext cx="274320" cy="128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>
                    <a:solidFill>
                      <a:srgbClr val="0D3161"/>
                    </a:solidFill>
                    <a:latin typeface="Aptos"/>
                  </a:rPr>
                  <a:t>B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236207" y="2615184"/>
                <a:ext cx="228600" cy="128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>
                    <a:solidFill>
                      <a:srgbClr val="0D3161"/>
                    </a:solidFill>
                    <a:latin typeface="Aptos"/>
                  </a:rPr>
                  <a:t>B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7872983" y="1664208"/>
                <a:ext cx="274320" cy="128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>
                    <a:solidFill>
                      <a:srgbClr val="0D3161"/>
                    </a:solidFill>
                    <a:latin typeface="Aptos"/>
                  </a:rPr>
                  <a:t>C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236207" y="2980944"/>
                <a:ext cx="228600" cy="128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>
                    <a:solidFill>
                      <a:srgbClr val="0D3161"/>
                    </a:solidFill>
                    <a:latin typeface="Aptos"/>
                  </a:rPr>
                  <a:t>C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8311896" y="1664208"/>
                <a:ext cx="274320" cy="128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>
                    <a:solidFill>
                      <a:srgbClr val="0D3161"/>
                    </a:solidFill>
                    <a:latin typeface="Aptos"/>
                  </a:rPr>
                  <a:t>D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236207" y="3346704"/>
                <a:ext cx="228600" cy="128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>
                    <a:solidFill>
                      <a:srgbClr val="0D3161"/>
                    </a:solidFill>
                    <a:latin typeface="Aptos"/>
                  </a:rPr>
                  <a:t>D</a:t>
                </a: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6903720" y="214884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922007" y="222199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0</a:t>
                </a:r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7342631" y="214884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7360919" y="222199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781544" y="214884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799831" y="222199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8220456" y="214884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8238744" y="222199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0</a:t>
                </a: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6903720" y="251460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922007" y="258775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7342631" y="251460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7360919" y="258775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0</a:t>
                </a:r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7781544" y="251460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7799831" y="258775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0</a:t>
                </a:r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8220456" y="251460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238744" y="258775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6903720" y="288036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922007" y="295351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7342631" y="288036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7360919" y="295351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0</a:t>
                </a:r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7781544" y="288036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799831" y="295351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0</a:t>
                </a:r>
              </a:p>
            </p:txBody>
          </p:sp>
          <p:sp>
            <p:nvSpPr>
              <p:cNvPr id="37" name="Rounded Rectangle 36"/>
              <p:cNvSpPr/>
              <p:nvPr/>
            </p:nvSpPr>
            <p:spPr>
              <a:xfrm>
                <a:off x="8220456" y="288036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8238744" y="295351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6903720" y="324612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6922007" y="331927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0</a:t>
                </a:r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7342631" y="324612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7360919" y="331927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7781544" y="324612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7799831" y="3319272"/>
                <a:ext cx="329184" cy="13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>
                    <a:solidFill>
                      <a:srgbClr val="233142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8220456" y="3246120"/>
                <a:ext cx="365760" cy="27432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8238744" y="3319272"/>
              <a:ext cx="329184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dirty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GRAPH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Adjacency matrix: advantages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Simple conceptual model.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O(1) edge lookup.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Good for dense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13258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Uses O(n²) memory.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Wasteful for sparse graphs.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Node insertion may be costly.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657600"/>
            <a:ext cx="822960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73936" y="3749039"/>
            <a:ext cx="7973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When to use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05072"/>
            <a:ext cx="7973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Adjacency matrices are often preferred when the network is dense or when constant-time edge lookup is a priority.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GRAPH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Adjacency list: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adjacency list stores, for each node, the list of its neighbors.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one of the most common graph representations in practice.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especially efficient for sparse graphs.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total memory is proportional to nodes plus edges.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36576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883664"/>
            <a:ext cx="3511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286000"/>
            <a:ext cx="34747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0255" y="2377440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7627" y="2382810"/>
            <a:ext cx="3218687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52928"/>
            <a:ext cx="34747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0255" y="2944368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7626" y="2981307"/>
            <a:ext cx="3218687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A, 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419856"/>
            <a:ext cx="34747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0255" y="3511296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7626" y="3548235"/>
            <a:ext cx="3218687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A,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986784"/>
            <a:ext cx="34747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0255" y="4078224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7625" y="4115163"/>
            <a:ext cx="3218687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B, 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GRAPH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Adjacency list: advantages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11887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Memory efficient for sparse graphs.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Easy to traverse neighbors.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Natural for many algorithms.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118872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6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Edge lookup is slower than in a matrix.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500">
                <a:solidFill>
                  <a:srgbClr val="233142"/>
                </a:solidFill>
                <a:latin typeface="Aptos"/>
              </a:defRPr>
            </a:pPr>
            <a:r>
              <a:rPr dirty="0"/>
              <a:t>Less convenient for dense graphs.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611880"/>
            <a:ext cx="85953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91056" y="3703320"/>
            <a:ext cx="8339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When to use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3959352"/>
            <a:ext cx="833932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Adjacency lists are usually the best general-purpose representation for large sparse biomedical networks.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GRAPH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Edge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9496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edge list stores all edges as pairs or tuples.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compact and simple to read.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useful for importing, exporting and iterating over edges.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However, neighbor queries are less direct than in adjacency lists.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34747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1883664"/>
            <a:ext cx="33284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 edge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67712"/>
            <a:ext cx="32918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11696" y="2359152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(A, 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98064"/>
            <a:ext cx="32918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11696" y="2889504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(A, 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328415"/>
            <a:ext cx="32918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1696" y="3419856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(B, 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858768"/>
            <a:ext cx="32918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11696" y="3950207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(C, 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Three common graph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0116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18288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883664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828800"/>
            <a:ext cx="18288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10912" y="1883664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Edge lookup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828800"/>
            <a:ext cx="20116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22592" y="1883664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Neighbor traversal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17373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2" y="1883664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Typical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267712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2377440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Adjacency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267712"/>
            <a:ext cx="182880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62656" y="2377440"/>
            <a:ext cx="1755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O(n²)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267712"/>
            <a:ext cx="182880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74336" y="2377440"/>
            <a:ext cx="1755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fast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2267712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86016" y="2377440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moderate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267712"/>
            <a:ext cx="17373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0576" y="2377440"/>
            <a:ext cx="166420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dense graphs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292608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035808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Adjacency 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2926080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62656" y="3035808"/>
            <a:ext cx="1755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O(n+e)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2926080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74336" y="3035808"/>
            <a:ext cx="1755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moderate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292608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86016" y="3035808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fast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2926080"/>
            <a:ext cx="1737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0576" y="3035808"/>
            <a:ext cx="166420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sparse graphs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584448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9536" y="3694176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Edge list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6080" y="3584448"/>
            <a:ext cx="182880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62656" y="3694176"/>
            <a:ext cx="1755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O(e)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0" y="3584448"/>
            <a:ext cx="182880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74336" y="3694176"/>
            <a:ext cx="1755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slow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49440" y="3584448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86016" y="3694176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slow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3584448"/>
            <a:ext cx="17373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80576" y="3694176"/>
            <a:ext cx="166420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233142"/>
                </a:solidFill>
                <a:latin typeface="Aptos"/>
              </a:rPr>
              <a:t>data exchange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DESIGN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Sparse vs dense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sparse graph has relatively few edges compared with the maximum possible number.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dense graph has many edges.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Most large biomedical networks are sparse.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Sparsity strongly influences the best choice of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566160" cy="8229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Sparse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310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Few edges relative to the number of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71800"/>
            <a:ext cx="3566160" cy="8229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6324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Dense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319272"/>
            <a:ext cx="3310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Many edges; adjacency matrix becomes more reasonable.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Patient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may represent patients.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Edges may represent similarity, shared diagnosis, shared ward or social contact.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Such networks can support clustering, risk propagation analysis or outbreak investigation.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meaning of an edge must always be defined clearly.</a:t>
            </a:r>
          </a:p>
        </p:txBody>
      </p:sp>
      <p:sp>
        <p:nvSpPr>
          <p:cNvPr id="7" name="Oval 6"/>
          <p:cNvSpPr/>
          <p:nvPr/>
        </p:nvSpPr>
        <p:spPr>
          <a:xfrm>
            <a:off x="6675120" y="196596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48272" y="209397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P1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18288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28431" y="19568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P2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224028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17152" y="236829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P3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29184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5472" y="34198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P4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34290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68512" y="35570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P5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940296" y="2093976"/>
            <a:ext cx="1280160" cy="13716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0456" y="2093976"/>
            <a:ext cx="1188720" cy="41148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0296" y="2231136"/>
            <a:ext cx="457200" cy="132588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97496" y="3557016"/>
            <a:ext cx="1463040" cy="13716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860536" y="2505456"/>
            <a:ext cx="548640" cy="118872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Gene or regulatory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may represent genes, transcripts or transcription factors.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Directed edges may represent regulation: one gene influences another.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Weights may quantify activation strength or confidence.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Graph representations help summarize complex molecular systems.</a:t>
            </a:r>
          </a:p>
        </p:txBody>
      </p:sp>
      <p:sp>
        <p:nvSpPr>
          <p:cNvPr id="7" name="Oval 6"/>
          <p:cNvSpPr/>
          <p:nvPr/>
        </p:nvSpPr>
        <p:spPr>
          <a:xfrm>
            <a:off x="6675120" y="2011680"/>
            <a:ext cx="530352" cy="530352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48272" y="213969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G1</a:t>
            </a:r>
          </a:p>
        </p:txBody>
      </p:sp>
      <p:sp>
        <p:nvSpPr>
          <p:cNvPr id="9" name="Oval 8"/>
          <p:cNvSpPr/>
          <p:nvPr/>
        </p:nvSpPr>
        <p:spPr>
          <a:xfrm>
            <a:off x="8138160" y="1874519"/>
            <a:ext cx="530352" cy="530352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200253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G2</a:t>
            </a:r>
          </a:p>
        </p:txBody>
      </p:sp>
      <p:sp>
        <p:nvSpPr>
          <p:cNvPr id="11" name="Oval 10"/>
          <p:cNvSpPr/>
          <p:nvPr/>
        </p:nvSpPr>
        <p:spPr>
          <a:xfrm>
            <a:off x="9235440" y="2423160"/>
            <a:ext cx="530352" cy="530352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08592" y="255117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G3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3429000"/>
            <a:ext cx="530352" cy="530352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8352" y="35570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G4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940296" y="2139696"/>
            <a:ext cx="1463040" cy="13716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03336" y="2139696"/>
            <a:ext cx="1097280" cy="54864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0296" y="2276856"/>
            <a:ext cx="640079" cy="141732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580375" y="2688336"/>
            <a:ext cx="1920241" cy="1005840"/>
          </a:xfrm>
          <a:prstGeom prst="line">
            <a:avLst/>
          </a:prstGeom>
          <a:ln w="2032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Protein–protein interaction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represent proteins.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Undirected edges often represent known physical or functional interactions.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Highly connected proteins may be biologically important hubs.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These graphs are often sparse but very large.</a:t>
            </a:r>
          </a:p>
        </p:txBody>
      </p:sp>
      <p:sp>
        <p:nvSpPr>
          <p:cNvPr id="7" name="Oval 6"/>
          <p:cNvSpPr/>
          <p:nvPr/>
        </p:nvSpPr>
        <p:spPr>
          <a:xfrm>
            <a:off x="6492240" y="2103120"/>
            <a:ext cx="530352" cy="530352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223113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7680960" y="1828800"/>
            <a:ext cx="530352" cy="530352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54112" y="19568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0" y="2103120"/>
            <a:ext cx="530352" cy="530352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34272" y="223113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3337560"/>
            <a:ext cx="530352" cy="530352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1152" y="346557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0" y="3520440"/>
            <a:ext cx="530352" cy="530352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36484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0" y="3246120"/>
            <a:ext cx="530352" cy="530352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82912" y="337413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F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757416" y="2093976"/>
            <a:ext cx="1188720" cy="27432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46136" y="2093976"/>
            <a:ext cx="1280160" cy="27432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57416" y="2368296"/>
            <a:ext cx="365760" cy="123444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46136" y="2093976"/>
            <a:ext cx="548640" cy="1691639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26296" y="2368296"/>
            <a:ext cx="548640" cy="114300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23176" y="3602736"/>
            <a:ext cx="1371600" cy="182879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494776" y="3511296"/>
            <a:ext cx="1280160" cy="274319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Neuronal or brain connectivity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may represent individual neurons or brain regions.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Edges may represent anatomical, functional or effective connectivity.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Such graphs are central in neuroscience and neuroimaging.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Weights can encode connection strength or correlation.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201168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2" y="213969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R1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1874519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28431" y="200253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R2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224028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17152" y="236829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R3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29184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5472" y="34198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R4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0" y="34290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51392" y="35570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R5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848856" y="2139696"/>
            <a:ext cx="1371600" cy="137160"/>
          </a:xfrm>
          <a:prstGeom prst="line">
            <a:avLst/>
          </a:prstGeom>
          <a:ln w="1905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06640" y="1993392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0.72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0456" y="2139696"/>
            <a:ext cx="1188720" cy="365760"/>
          </a:xfrm>
          <a:prstGeom prst="line">
            <a:avLst/>
          </a:prstGeom>
          <a:ln w="1905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0" y="2048256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0.41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48856" y="2276856"/>
            <a:ext cx="548640" cy="1280160"/>
          </a:xfrm>
          <a:prstGeom prst="line">
            <a:avLst/>
          </a:prstGeom>
          <a:ln w="1905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03720" y="2834640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0.63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97496" y="3557016"/>
            <a:ext cx="1645920" cy="137160"/>
          </a:xfrm>
          <a:prstGeom prst="line">
            <a:avLst/>
          </a:prstGeom>
          <a:ln w="1905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2440" y="3456432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0.81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Epidemic and contact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represent individuals, households or locations.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Edges represent contacts through which infection may spread.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Direction or time may matter when reconstructing transmission.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Graphs help model outbreak dynamics and intervention strategies.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196596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2" y="209397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18288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28431" y="19568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235440" y="214884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08592" y="227685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0" y="324612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96912" y="337413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429000"/>
            <a:ext cx="530352" cy="530352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59952" y="3557016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3161"/>
                </a:solidFill>
                <a:latin typeface="Aptos"/>
              </a:rPr>
              <a:t>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848856" y="2093976"/>
            <a:ext cx="1371600" cy="137160"/>
          </a:xfrm>
          <a:prstGeom prst="line">
            <a:avLst/>
          </a:prstGeom>
          <a:ln w="2286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0456" y="2093976"/>
            <a:ext cx="1280160" cy="320040"/>
          </a:xfrm>
          <a:prstGeom prst="line">
            <a:avLst/>
          </a:prstGeom>
          <a:ln w="2286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88936" y="2093976"/>
            <a:ext cx="731520" cy="1417320"/>
          </a:xfrm>
          <a:prstGeom prst="line">
            <a:avLst/>
          </a:prstGeom>
          <a:ln w="2286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88936" y="3511296"/>
            <a:ext cx="1463040" cy="182880"/>
          </a:xfrm>
          <a:prstGeom prst="line">
            <a:avLst/>
          </a:prstGeom>
          <a:ln w="22860">
            <a:solidFill>
              <a:srgbClr val="D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Referral and care-pathway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 may represent clinicians, departments or hospitals.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Directed edges may represent referral flows.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Weights may count the number of referrals.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Graphs can reveal bottlenecks, hubs and coordination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84048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584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584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GP, Emergency Department, Radiology, Cardiology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384048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26080"/>
            <a:ext cx="3584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182112"/>
            <a:ext cx="3584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Referral from one service to another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384048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840479"/>
            <a:ext cx="3584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096511"/>
            <a:ext cx="3584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Number of patients referred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REPRESENTATION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Adjacency matrix for a small patient-contact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2269193"/>
            <a:ext cx="5303520" cy="292342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a small contact network, a matrix is easy to inspect manually.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Entry 1 means the two patients had contact; 0 means no observed contact.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Symmetry indicates an undirected contact graph.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96691" y="3416763"/>
            <a:ext cx="722188" cy="553697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5971BD71-97D0-4F05-5F02-9BBF008D796C}"/>
              </a:ext>
            </a:extLst>
          </p:cNvPr>
          <p:cNvGrpSpPr/>
          <p:nvPr/>
        </p:nvGrpSpPr>
        <p:grpSpPr>
          <a:xfrm>
            <a:off x="6126480" y="1600199"/>
            <a:ext cx="5110870" cy="3944258"/>
            <a:chOff x="6126480" y="1600199"/>
            <a:chExt cx="2523744" cy="1947672"/>
          </a:xfrm>
        </p:grpSpPr>
        <p:sp>
          <p:nvSpPr>
            <p:cNvPr id="7" name="TextBox 6"/>
            <p:cNvSpPr txBox="1"/>
            <p:nvPr/>
          </p:nvSpPr>
          <p:spPr>
            <a:xfrm>
              <a:off x="6931152" y="1600199"/>
              <a:ext cx="292608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D3161"/>
                  </a:solidFill>
                  <a:latin typeface="Aptos"/>
                </a:rPr>
                <a:t>P1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126480" y="2221991"/>
              <a:ext cx="27432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D3161"/>
                  </a:solidFill>
                  <a:latin typeface="Aptos"/>
                </a:rPr>
                <a:t>P1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06640" y="1600199"/>
              <a:ext cx="292608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D3161"/>
                  </a:solidFill>
                  <a:latin typeface="Aptos"/>
                </a:rPr>
                <a:t>P2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26480" y="2606039"/>
              <a:ext cx="27432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D3161"/>
                  </a:solidFill>
                  <a:latin typeface="Aptos"/>
                </a:rPr>
                <a:t>P2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882128" y="1600199"/>
              <a:ext cx="292608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D3161"/>
                  </a:solidFill>
                  <a:latin typeface="Aptos"/>
                </a:rPr>
                <a:t>P3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26480" y="2990087"/>
              <a:ext cx="27432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D3161"/>
                  </a:solidFill>
                  <a:latin typeface="Aptos"/>
                </a:rPr>
                <a:t>P3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57616" y="1600199"/>
              <a:ext cx="292608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D3161"/>
                  </a:solidFill>
                  <a:latin typeface="Aptos"/>
                </a:rPr>
                <a:t>P4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26480" y="3374135"/>
              <a:ext cx="27432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D3161"/>
                  </a:solidFill>
                  <a:latin typeface="Aptos"/>
                </a:rPr>
                <a:t>P4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821424" y="2103120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39712" y="2176272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96912" y="2103120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15200" y="2176272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1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772400" y="2103120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90688" y="2176272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1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247888" y="2103120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66175" y="2176272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821424" y="2487168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39712" y="2560320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1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296912" y="2487168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15200" y="2560320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90688" y="2560320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247888" y="2487168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266175" y="2560320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1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821424" y="2871215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839712" y="2944368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1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296912" y="2871215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15200" y="2944368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772400" y="2871215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90688" y="2944368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247888" y="2871215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66175" y="2944368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1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6821424" y="3255263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839712" y="3328415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96912" y="3255263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315200" y="3328415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1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772400" y="3255263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90688" y="3328415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1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247888" y="3255263"/>
              <a:ext cx="393192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266175" y="3328415"/>
              <a:ext cx="356616" cy="137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>
                  <a:solidFill>
                    <a:srgbClr val="233142"/>
                  </a:solidFill>
                  <a:latin typeface="Aptos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REPRESENTATION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Adjacency list for a sparse gene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292342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only a small fraction of all possible interactions is present, an adjacency list is more efficient.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gene stores only its observed neighbors.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avoids allocating a large mostly empty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34747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883664"/>
            <a:ext cx="33284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240280"/>
            <a:ext cx="329184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0255" y="2331720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G1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2141" y="2359152"/>
            <a:ext cx="303580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G2, G4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88920"/>
            <a:ext cx="329184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0255" y="2880360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G2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2141" y="2903220"/>
            <a:ext cx="303580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G1, G3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337560"/>
            <a:ext cx="329184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0255" y="3429000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G3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2141" y="3479292"/>
            <a:ext cx="303580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G2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886200"/>
            <a:ext cx="329184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0255" y="3977639"/>
            <a:ext cx="3035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G4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2141" y="4018788"/>
            <a:ext cx="303580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G1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MEMORY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sparsity changes the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Suppose a network has 10,000 nodes but very few edges per node.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adjacency matrix would require 10,000 × 10,000 possible entries.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adjacency list stores only the edges that truly exist.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sparse biomedical graphs, this difference is substantial.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657600" cy="8229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Adjacency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Potentially huge, mostly empty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71800"/>
            <a:ext cx="3657600" cy="8229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6324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Adjacency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319272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Stores only actual neighbors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representation matters for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60120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Graph algorithms such as BFS, DFS and shortest paths depend on the chosen representation.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Adjacency lists are often ideal when neighbors must be traversed repeatedly.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Adjacency matrices are attractive when edge existence must be checked constantly.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data structure influences both time and memory usage.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MODELING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Before building a biomedical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a node?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Patient, gene, protein, region, hospital or event?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an edge?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Contact, interaction, similarity, referral or regulation?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4679"/>
            <a:ext cx="44348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4612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Is the edge directed?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02151"/>
            <a:ext cx="4178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Does order or causality matter?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54679"/>
            <a:ext cx="44348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4612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Should the edge be weighted?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02151"/>
            <a:ext cx="4178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Do we need strength, frequency or probability?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Interpretation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graph is only as meaningful as the definition of its nodes and edges.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Correlation does not automatically imply causation.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Missing edges may reflect missing data rather than absence of a relationship.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Graph visualizations can be useful, but they may also oversimplify or mislead.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USE-CASE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Where graphs appear in medical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470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385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 similarity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945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Compare patients using phenotypes or biomarkers.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470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385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Molecular biology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Represent regulatory or interaction networks.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797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71216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Neuroscience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272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Map structural and functional connectivity.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797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71216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Epidemiology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272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Track or simulate spread across contacts.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12464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803904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Health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59936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Study referrals and collaboration networks.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Designing a contact network for outbreak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Nodes: individual patients admitted to a ward.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Edges: documented close contacts within a time window.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Directed or undirected? Often undirected for simple contact, directed for inferred transmission.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Recommended representation: adjacency list for a sparse large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20240"/>
            <a:ext cx="365760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74536" y="201168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226771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Understand potential pathways of spread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834640"/>
            <a:ext cx="365760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4536" y="292608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318211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Many patients, but relatively few contacts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749039"/>
            <a:ext cx="3657600" cy="7315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3840479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Best representation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4096511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Adjacency list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DESIGN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to choose a graph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constant-time edge lookup?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Consider an adjacency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memory efficiency on sparse data?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Prefer an adjacency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24912"/>
            <a:ext cx="443484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16352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a simple exchange format?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072384"/>
            <a:ext cx="41788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 an edge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24912"/>
            <a:ext cx="443484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16352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weighted or directed edges?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072384"/>
            <a:ext cx="41788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Any representation can support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21024"/>
            <a:ext cx="443484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12463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interpretability?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3968496"/>
            <a:ext cx="41788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Define node and edge meaning clearly.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Choose the graph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69264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1. A set of proteins that interact physically.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2. A network of suspected infection contacts in a hospital ward.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3. A referral network between departments.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4. A patient similarity network based on shared biomarkers.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For each case, define the node, the edge, whether the graph is directed, and a suitable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526280"/>
            <a:ext cx="39319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5295" y="4617720"/>
            <a:ext cx="3675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Discussion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4873752"/>
            <a:ext cx="3675887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Meaning of edges + choice of representation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526280"/>
            <a:ext cx="39319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14416" y="4617720"/>
            <a:ext cx="3675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Suggested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4873752"/>
            <a:ext cx="3675887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undirected / directed / weighted / sparse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MINI-LAB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Convert one graph into three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7132320" cy="2560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Given a small graph with four or five nodes, write: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1. its edge list,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2. its adjacency list,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3. its adjacency matrix.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Then explain which representation you would choose if the graph became very sparse.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210312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7616" y="210312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2359152"/>
            <a:ext cx="18470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three representations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63240"/>
            <a:ext cx="210312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7616" y="315468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410712"/>
            <a:ext cx="18470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114800"/>
            <a:ext cx="2103120" cy="6858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7616" y="420624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462272"/>
            <a:ext cx="184708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correct mapping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does a node represent?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An entity in the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When is an adjacency list usually preferred?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When the graph is sparse.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stored in an adjacency matrix?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4564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Whether or how strongly pairs of nodes are connected.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Name one biomedical system that can be modeled as a graph.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7435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genes, proteins, contacts, patients, neurons.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34394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Graphs model entities and relationships in a flexible way.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Adjacency matrices, adjacency lists and edge lists describe the same graph differently.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best representation depends on sparsity, memory needs and the operations we want to perform.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Biomedical networks are everywhere: patients, genes, proteins, neurons and epidemics.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well-defined graph model is essential for meaningful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2255</Words>
  <Application>Microsoft Macintosh PowerPoint</Application>
  <PresentationFormat>Widescreen</PresentationFormat>
  <Paragraphs>476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4</cp:revision>
  <dcterms:created xsi:type="dcterms:W3CDTF">2013-01-27T09:14:16Z</dcterms:created>
  <dcterms:modified xsi:type="dcterms:W3CDTF">2026-09-20T20:51:30Z</dcterms:modified>
  <cp:category/>
</cp:coreProperties>
</file>