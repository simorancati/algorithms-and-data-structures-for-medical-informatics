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234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Introduce sorting as a central operation in data processing. Emphasize that sorting is not only a programming exercise: it appears in patient cohorts, clinical dashboards, medical devices and preprocessing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Present the lesson as a bridge from arrays and complexity to real data organization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Read objectives. Explain that students will not only memorize names, but learn when and why each idea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examples: laboratory values sorted by date, patients sorted by waiting time, glucose values sorted by timestamp.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Emphasize that the data values are the same. Sorting changes their order according to a precise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These definitions are essential because many errors in sorting arise from unclear keys and 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Highlight that sorting a table is not sorting only one column: the entire row/record must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Ask students: what happens if we sort by age? by glucose? by priority? by arrival_time?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generic view prepares students for the individual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Stress that there is no universally best algorithm; the choice depends on data and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Frame these algorithms as educational foundations, not as recommended default choices for large healthcare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an analogy: heavier values “sink” or larger values “bubble” to the end depending on the perspective.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Do not show all passes if time is limited. The point is to see adjacent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Students should identify the outer loop, inner loop, comparison and swap.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Connect this slide to Lesson 3 on complexity. Ask what happens when n increases from 100 to 1,000,000.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Make the “select minimum” idea explicit. This algorithm is often easier for students to trace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Point out the difference from Bubble Sort: we scan to find a global minimum in the remaining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Ask students to identify where the sorting key would be used if A contained patient records instead of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a deck-of-cards analogy. Then translate it to a list of time-ordered records with one incorrect timestamp.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Explain that the vertical separator marks the boundary between sorted prefix and unsorted suffix.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Emphasize shifting rather than swapping. This is important for understanding memory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Students should learn this table conceptually, not mechanically. Ask: which would you use if records are nearly sorted?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Relate this to the previous lesson on Big-O. Use the CGM scale example: many measurements per day multiplied by many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Merge Sort is usually the cleanest sorting algorithm for explaining divide and conquer.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Trace the four levels. If there is time, draw the recursive tree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Explain base case and recursive structure. This reinforces Lesson 5 on recursion and divide and conquer.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The merge step is often where students understand why two sorted lists can be merged in linear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Present Quick Sort as a practical divide-and-conquer algorithm with an important worst-case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Students should understand partitioning before memorizing the code. Explain that implementations can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Avoid diving into low-level partition variants unless students are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Mention that real programming languages usually provide optimized sorting functions. Understanding the algorithms helps students reason about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slide is important for ITS professional training. Sorting is simple in theory, but real clinical data require policy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Connect algorithm choice to scale. Small examples can be sorted by almost anything; large time series require efficient algorithms and libraries.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Let students work in pairs. Make them state the sorting keys clearly before they write pseudocode.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lab can be performed on paper or in Python depending on the class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this slide to consolidate. Ask students which concept was most intuitive and which was most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these questions for formative assessment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Close by previewing the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452360" y="749808"/>
            <a:ext cx="4069080" cy="4983480"/>
          </a:xfrm>
          <a:prstGeom prst="roundRect">
            <a:avLst>
              <a:gd name="adj" fmla="val 4944"/>
            </a:avLst>
          </a:prstGeom>
          <a:solidFill>
            <a:srgbClr val="F1F7FC"/>
          </a:solidFill>
          <a:ln w="12700">
            <a:solidFill>
              <a:srgbClr val="F1F7F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498080" y="4617720"/>
            <a:ext cx="384048" cy="685800"/>
          </a:xfrm>
          <a:prstGeom prst="rect">
            <a:avLst/>
          </a:prstGeom>
          <a:solidFill>
            <a:srgbClr val="0B8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571232" y="5486400"/>
            <a:ext cx="237744" cy="73152"/>
          </a:xfrm>
          <a:prstGeom prst="rect">
            <a:avLst/>
          </a:prstGeom>
          <a:solidFill>
            <a:srgbClr val="B9D0E4"/>
          </a:solidFill>
          <a:ln w="1270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138160" y="4343400"/>
            <a:ext cx="384048" cy="960120"/>
          </a:xfrm>
          <a:prstGeom prst="rect">
            <a:avLst/>
          </a:prstGeom>
          <a:solidFill>
            <a:srgbClr val="0B8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211312" y="5486400"/>
            <a:ext cx="237744" cy="73152"/>
          </a:xfrm>
          <a:prstGeom prst="rect">
            <a:avLst/>
          </a:prstGeom>
          <a:solidFill>
            <a:srgbClr val="B9D0E4"/>
          </a:solidFill>
          <a:ln w="1270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8778240" y="4480560"/>
            <a:ext cx="384048" cy="822960"/>
          </a:xfrm>
          <a:prstGeom prst="rect">
            <a:avLst/>
          </a:prstGeom>
          <a:solidFill>
            <a:srgbClr val="2F6E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8851392" y="5486400"/>
            <a:ext cx="237744" cy="73152"/>
          </a:xfrm>
          <a:prstGeom prst="rect">
            <a:avLst/>
          </a:prstGeom>
          <a:solidFill>
            <a:srgbClr val="B9D0E4"/>
          </a:solidFill>
          <a:ln w="1270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9418320" y="4069080"/>
            <a:ext cx="384048" cy="1234440"/>
          </a:xfrm>
          <a:prstGeom prst="rect">
            <a:avLst/>
          </a:prstGeom>
          <a:solidFill>
            <a:srgbClr val="2F6E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9491472" y="5486400"/>
            <a:ext cx="237744" cy="73152"/>
          </a:xfrm>
          <a:prstGeom prst="rect">
            <a:avLst/>
          </a:prstGeom>
          <a:solidFill>
            <a:srgbClr val="B9D0E4"/>
          </a:solidFill>
          <a:ln w="1270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10058400" y="4251960"/>
            <a:ext cx="384048" cy="1051560"/>
          </a:xfrm>
          <a:prstGeom prst="rect">
            <a:avLst/>
          </a:prstGeom>
          <a:solidFill>
            <a:srgbClr val="6A5AA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10131552" y="5486400"/>
            <a:ext cx="237744" cy="73152"/>
          </a:xfrm>
          <a:prstGeom prst="rect">
            <a:avLst/>
          </a:prstGeom>
          <a:solidFill>
            <a:srgbClr val="B9D0E4"/>
          </a:solidFill>
          <a:ln w="1270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10698480" y="3886200"/>
            <a:ext cx="384048" cy="1417320"/>
          </a:xfrm>
          <a:prstGeom prst="rect">
            <a:avLst/>
          </a:prstGeom>
          <a:solidFill>
            <a:srgbClr val="6A5AA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10771632" y="5486400"/>
            <a:ext cx="237744" cy="73152"/>
          </a:xfrm>
          <a:prstGeom prst="rect">
            <a:avLst/>
          </a:prstGeom>
          <a:solidFill>
            <a:srgbClr val="B9D0E4"/>
          </a:solidFill>
          <a:ln w="1270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360920" y="5577840"/>
            <a:ext cx="384048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788026" y="1188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EAB"/>
                </a:solidFill>
              </a:rPr>
              <a:t>SORT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434240" y="1874520"/>
            <a:ext cx="960120" cy="502920"/>
          </a:xfrm>
          <a:prstGeom prst="chevron">
            <a:avLst/>
          </a:prstGeom>
          <a:solidFill>
            <a:srgbClr val="0B8FA3"/>
          </a:solidFill>
          <a:ln w="1270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9531520" y="1874520"/>
            <a:ext cx="960120" cy="502920"/>
          </a:xfrm>
          <a:prstGeom prst="chevron">
            <a:avLst/>
          </a:prstGeom>
          <a:solidFill>
            <a:srgbClr val="2F6EAB"/>
          </a:solidFill>
          <a:ln w="1270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918704" y="284841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ORDER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" y="1161288"/>
            <a:ext cx="65836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and Data Structures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Medical Informatics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13232" y="246888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6 — Sorting algorithms: Bubble Sort, Selection Sort, Insertion Sort, Merge Sort and Quick Sort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22960" y="3364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8F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· Medical Informatics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13232" y="3703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September 2026 · 11:30–13:30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" y="461772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Prof: Simone Rancati, PhD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simone.rancati01@universitadipavia.it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STRUCTURE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path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1417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6EAB"/>
                </a:solidFill>
              </a:rPr>
              <a:t>1. Motivation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1746504"/>
            <a:ext cx="30632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374151"/>
                </a:solidFill>
              </a:rPr>
              <a:t>Why sorting is fundamental in biomedical data processing.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4489704" y="1417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8FA3"/>
                </a:solidFill>
              </a:rPr>
              <a:t>2. Concepts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489704" y="1746504"/>
            <a:ext cx="30632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374151"/>
                </a:solidFill>
              </a:rPr>
              <a:t>Sorting key, order, correctness, stability and complexity.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8174736" y="14173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6EAB"/>
                </a:solidFill>
              </a:rPr>
              <a:t>3. Simple algorithms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174736" y="1746504"/>
            <a:ext cx="30632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374151"/>
                </a:solidFill>
              </a:rPr>
              <a:t>Bubble Sort, Selection Sort and Insertion Sort.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804672" y="33375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8FA3"/>
                </a:solidFill>
              </a:rPr>
              <a:t>4. Efficient algorithms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04672" y="3666744"/>
            <a:ext cx="30632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374151"/>
                </a:solidFill>
              </a:rPr>
              <a:t>Merge Sort and Quick Sort.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4489704" y="33375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6EAB"/>
                </a:solidFill>
              </a:rPr>
              <a:t>5. Healthcare use cases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489704" y="3666744"/>
            <a:ext cx="30632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80" dirty="0">
                <a:solidFill>
                  <a:srgbClr val="374151"/>
                </a:solidFill>
              </a:rPr>
              <a:t>Patients, glucose values, triage priority and clinical records.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1097280" y="51389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EAB"/>
                </a:solidFill>
              </a:rPr>
              <a:t>Main teaching question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5468112"/>
            <a:ext cx="96012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How do we choose a sorting algorithm that is correct, understandable and appropriate for healthcare data scale?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END OF THE LESSON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996696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sorting as the process of reorganizing elements according to a key.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the difference between simple quadratic algorithms and divide-and-conquer algorithms.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Trace Bubble Sort, Selection Sort, Insertion Sort, Merge Sort and Quick Sort on small examples.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algorithms using time complexity, memory usage, stability and practical behavior.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Apply sorting to patient tables, CGM measurements and triage-like priority lists.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sorting matters in medical informatics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85216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Clinical data are rarely useful in the order in which they are received.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Sorting makes data easier to search, summarize, visualize and validate.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Many systems sort records by timestamp, priority, risk score, laboratory value or patient identifier.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Sorting is often a preprocessing step before reporting, analysis or model training.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algorithm must still be correct when there are missing values, ties, duplicated records or very large datasets.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EAB"/>
                </a:solidFill>
              </a:rPr>
              <a:t>Examples in healthcare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59168" y="1828800"/>
            <a:ext cx="4297680" cy="3291840"/>
          </a:xfrm>
          <a:prstGeom prst="roundRect">
            <a:avLst>
              <a:gd name="adj" fmla="val 3889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96912" y="2066544"/>
            <a:ext cx="3822192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Order appointments by date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Rank alerts by severity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Sort samples by acquisition time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List patients by risk score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sorting do?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6142" y="19979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6EAB"/>
                </a:solidFill>
              </a:rPr>
              <a:t>Before sorting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2296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181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78308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78308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68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74320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74320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135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70332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70332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92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66344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210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2356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62356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75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8368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58368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110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389120" y="2606040"/>
            <a:ext cx="502920" cy="685800"/>
          </a:xfrm>
          <a:prstGeom prst="downArrow">
            <a:avLst/>
          </a:prstGeom>
          <a:solidFill>
            <a:srgbClr val="0B8FA3"/>
          </a:solidFill>
          <a:ln w="1270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8506142" y="38496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8FA3"/>
                </a:solidFill>
              </a:rPr>
              <a:t>After sorting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2296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2296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68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78308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78308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75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274320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74320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92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370332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70332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110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66344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66344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135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62356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62356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181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58368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58368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210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41248" y="4828032"/>
            <a:ext cx="978408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Sorting reorganizes the same elements according to a chosen key.</a:t>
            </a:r>
            <a:endParaRPr lang="en-US" sz="18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TERMINOLOGY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Sorting vocabulary for this lesson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207008"/>
            <a:ext cx="3526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2F6EAB"/>
                </a:solidFill>
              </a:rPr>
              <a:t>Term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4294632" y="1207008"/>
            <a:ext cx="3526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2F6EAB"/>
                </a:solidFill>
              </a:rPr>
              <a:t>Meaning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7876032" y="1207008"/>
            <a:ext cx="3526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30" b="1" dirty="0">
                <a:solidFill>
                  <a:srgbClr val="2F6EAB"/>
                </a:solidFill>
              </a:rPr>
              <a:t>Biomedical example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10744200" cy="0"/>
          </a:xfrm>
          <a:prstGeom prst="line">
            <a:avLst/>
          </a:prstGeom>
          <a:noFill/>
          <a:ln w="1397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713232" y="234086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13232" y="175564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Element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294632" y="175564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One item in the collection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876032" y="175564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One patient record or one glucose measurement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13232" y="2999232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13232" y="241401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Key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294632" y="241401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Value used to define the order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876032" y="241401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age, timestamp, glucose, priority level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13232" y="3657600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13232" y="307238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Order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294632" y="307238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Ascending or descending arrangement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876032" y="307238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lowest to highest glucose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13232" y="4315968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13232" y="373075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Comparison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294632" y="373075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Operation that decides which key comes first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876032" y="373075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is 135 lower than 181?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13232" y="4974336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13232" y="438912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Tie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294632" y="438912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Two elements have equal key values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876032" y="438912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two patients with same priority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13232" y="563270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13232" y="504748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Stable sort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294632" y="504748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Keeps original order among equal keys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876032" y="504748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74151"/>
                </a:solidFill>
              </a:rPr>
              <a:t>same priority keeps arrival order</a:t>
            </a:r>
            <a:endParaRPr lang="en-US" sz="14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SORTING KEY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Sorting values versus sorting records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61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F6EAB"/>
                </a:solidFill>
              </a:rPr>
              <a:t>Sorting simple values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489204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element is the value itself.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Example: [181, 68, 135, 92].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comparison directly uses the number.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Useful for teaching and simple signal summaries.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55080" y="1261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B8FA3"/>
                </a:solidFill>
              </a:rPr>
              <a:t>Sorting patient records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355080" y="1691640"/>
            <a:ext cx="489204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element is a structured record.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sorting key is one selected field.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Example: sort patients by age, risk score or waiting time.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record must move together with all its fields.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25312" y="1307592"/>
            <a:ext cx="0" cy="452628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EXAMPLE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records: sorting by a chosen key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207008"/>
            <a:ext cx="20939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30" b="1" dirty="0">
                <a:solidFill>
                  <a:srgbClr val="2F6EAB"/>
                </a:solidFill>
              </a:rPr>
              <a:t>patient_id</a:t>
            </a:r>
            <a:endParaRPr lang="en-US" sz="1630" dirty="0"/>
          </a:p>
        </p:txBody>
      </p:sp>
      <p:sp>
        <p:nvSpPr>
          <p:cNvPr id="8" name="Text 6"/>
          <p:cNvSpPr/>
          <p:nvPr/>
        </p:nvSpPr>
        <p:spPr>
          <a:xfrm>
            <a:off x="2862072" y="1207008"/>
            <a:ext cx="20939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30" b="1" dirty="0">
                <a:solidFill>
                  <a:srgbClr val="2F6EAB"/>
                </a:solidFill>
              </a:rPr>
              <a:t>age</a:t>
            </a:r>
            <a:endParaRPr lang="en-US" sz="1630" dirty="0"/>
          </a:p>
        </p:txBody>
      </p:sp>
      <p:sp>
        <p:nvSpPr>
          <p:cNvPr id="9" name="Text 7"/>
          <p:cNvSpPr/>
          <p:nvPr/>
        </p:nvSpPr>
        <p:spPr>
          <a:xfrm>
            <a:off x="5010912" y="1207008"/>
            <a:ext cx="20939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30" b="1" dirty="0">
                <a:solidFill>
                  <a:srgbClr val="2F6EAB"/>
                </a:solidFill>
              </a:rPr>
              <a:t>glucose</a:t>
            </a:r>
            <a:endParaRPr lang="en-US" sz="1630" dirty="0"/>
          </a:p>
        </p:txBody>
      </p:sp>
      <p:sp>
        <p:nvSpPr>
          <p:cNvPr id="10" name="Text 8"/>
          <p:cNvSpPr/>
          <p:nvPr/>
        </p:nvSpPr>
        <p:spPr>
          <a:xfrm>
            <a:off x="7159752" y="1207008"/>
            <a:ext cx="20939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30" b="1" dirty="0">
                <a:solidFill>
                  <a:srgbClr val="2F6EAB"/>
                </a:solidFill>
              </a:rPr>
              <a:t>arrival_time</a:t>
            </a:r>
            <a:endParaRPr lang="en-US" sz="1630" dirty="0"/>
          </a:p>
        </p:txBody>
      </p:sp>
      <p:sp>
        <p:nvSpPr>
          <p:cNvPr id="11" name="Text 9"/>
          <p:cNvSpPr/>
          <p:nvPr/>
        </p:nvSpPr>
        <p:spPr>
          <a:xfrm>
            <a:off x="9308592" y="1207008"/>
            <a:ext cx="20939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30" b="1" dirty="0">
                <a:solidFill>
                  <a:srgbClr val="2F6EAB"/>
                </a:solidFill>
              </a:rPr>
              <a:t>priority</a:t>
            </a:r>
            <a:endParaRPr lang="en-US" sz="1630" dirty="0"/>
          </a:p>
        </p:txBody>
      </p:sp>
      <p:sp>
        <p:nvSpPr>
          <p:cNvPr id="12" name="Shape 10"/>
          <p:cNvSpPr/>
          <p:nvPr/>
        </p:nvSpPr>
        <p:spPr>
          <a:xfrm>
            <a:off x="713232" y="1627632"/>
            <a:ext cx="10744200" cy="0"/>
          </a:xfrm>
          <a:prstGeom prst="line">
            <a:avLst/>
          </a:prstGeom>
          <a:noFill/>
          <a:ln w="1397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713232" y="234086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13232" y="1755648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P004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862072" y="1755648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72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010912" y="1755648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168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159752" y="1755648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09:10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308592" y="1755648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2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13232" y="2999232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13232" y="2414016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P001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862072" y="2414016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35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5010912" y="2414016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95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59752" y="2414016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08:55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08592" y="2414016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4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13232" y="3657600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13232" y="3072384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P003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2862072" y="3072384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58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010912" y="3072384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221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159752" y="3072384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09:05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308592" y="3072384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2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13232" y="4315968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13232" y="3730752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P002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2862072" y="3730752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67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5010912" y="3730752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182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159752" y="3730752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08:50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9308592" y="3730752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1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713232" y="4974336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713232" y="4389120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P005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2862072" y="4389120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43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5010912" y="4389120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110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7159752" y="4389120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09:20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9308592" y="4389120"/>
            <a:ext cx="2075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374151"/>
                </a:solidFill>
              </a:rPr>
              <a:t>3</a:t>
            </a:r>
            <a:endParaRPr lang="en-US" sz="155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PATTERN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basic logic behind comparison-based sorting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F1F7FC"/>
          </a:solidFill>
          <a:ln w="1651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59536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Select two elements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587752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916936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EEF7F8"/>
          </a:solidFill>
          <a:ln w="1651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026664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Compare their keys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084064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F1F7FC"/>
          </a:solidFill>
          <a:ln w="1651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193792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Decide their order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22008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251192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EEF7F8"/>
          </a:solidFill>
          <a:ln w="1651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360920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Move or copy elements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089136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9418320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F1F7FC"/>
          </a:solidFill>
          <a:ln w="1651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528048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Repeat until ordered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60120" y="3822192"/>
            <a:ext cx="10195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74151"/>
                </a:solidFill>
              </a:rPr>
              <a:t>The same conceptual pattern appears in many sorting algorithms: compare, decide, rearrange and repeat until the data are ordered.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PROPERTIES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compare sorting algorithms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207008"/>
            <a:ext cx="3526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2F6EAB"/>
                </a:solidFill>
              </a:rPr>
              <a:t>Property</a:t>
            </a:r>
            <a:endParaRPr lang="en-US" sz="1510" dirty="0"/>
          </a:p>
        </p:txBody>
      </p:sp>
      <p:sp>
        <p:nvSpPr>
          <p:cNvPr id="8" name="Text 6"/>
          <p:cNvSpPr/>
          <p:nvPr/>
        </p:nvSpPr>
        <p:spPr>
          <a:xfrm>
            <a:off x="4294632" y="1207008"/>
            <a:ext cx="3526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2F6EAB"/>
                </a:solidFill>
              </a:rPr>
              <a:t>Question</a:t>
            </a:r>
            <a:endParaRPr lang="en-US" sz="1510" dirty="0"/>
          </a:p>
        </p:txBody>
      </p:sp>
      <p:sp>
        <p:nvSpPr>
          <p:cNvPr id="9" name="Text 7"/>
          <p:cNvSpPr/>
          <p:nvPr/>
        </p:nvSpPr>
        <p:spPr>
          <a:xfrm>
            <a:off x="7876032" y="1207008"/>
            <a:ext cx="35265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2F6EAB"/>
                </a:solidFill>
              </a:rPr>
              <a:t>Why it matters in practice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713232" y="1627632"/>
            <a:ext cx="10744200" cy="0"/>
          </a:xfrm>
          <a:prstGeom prst="line">
            <a:avLst/>
          </a:prstGeom>
          <a:noFill/>
          <a:ln w="1397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713232" y="234086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13232" y="175564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Time complexity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4294632" y="175564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How runtime grows with n?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7876032" y="1755648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Important when sorting millions of measurements</a:t>
            </a:r>
            <a:endParaRPr lang="en-US" sz="1430" dirty="0"/>
          </a:p>
        </p:txBody>
      </p:sp>
      <p:sp>
        <p:nvSpPr>
          <p:cNvPr id="15" name="Shape 13"/>
          <p:cNvSpPr/>
          <p:nvPr/>
        </p:nvSpPr>
        <p:spPr>
          <a:xfrm>
            <a:off x="713232" y="2999232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13232" y="241401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Memory usage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4294632" y="241401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Does it need extra space?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7876032" y="2414016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Relevant for large arrays and embedded devices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713232" y="3657600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13232" y="307238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Stability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4294632" y="307238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Are equal-key records kept in original order?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876032" y="3072384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Important for same-priority patients</a:t>
            </a:r>
            <a:endParaRPr lang="en-US" sz="1430" dirty="0"/>
          </a:p>
        </p:txBody>
      </p:sp>
      <p:sp>
        <p:nvSpPr>
          <p:cNvPr id="23" name="Shape 21"/>
          <p:cNvSpPr/>
          <p:nvPr/>
        </p:nvSpPr>
        <p:spPr>
          <a:xfrm>
            <a:off x="713232" y="4315968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13232" y="373075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In-place behavior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4294632" y="373075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Does it modify the original collection?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7876032" y="3730752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Useful but may affect auditability</a:t>
            </a:r>
            <a:endParaRPr lang="en-US" sz="1430" dirty="0"/>
          </a:p>
        </p:txBody>
      </p:sp>
      <p:sp>
        <p:nvSpPr>
          <p:cNvPr id="27" name="Shape 25"/>
          <p:cNvSpPr/>
          <p:nvPr/>
        </p:nvSpPr>
        <p:spPr>
          <a:xfrm>
            <a:off x="713232" y="4974336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13232" y="438912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Simplicity</a:t>
            </a:r>
            <a:endParaRPr lang="en-US" sz="1430" dirty="0"/>
          </a:p>
        </p:txBody>
      </p:sp>
      <p:sp>
        <p:nvSpPr>
          <p:cNvPr id="29" name="Text 27"/>
          <p:cNvSpPr/>
          <p:nvPr/>
        </p:nvSpPr>
        <p:spPr>
          <a:xfrm>
            <a:off x="4294632" y="438912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Can students and developers verify it?</a:t>
            </a:r>
            <a:endParaRPr lang="en-US" sz="1430" dirty="0"/>
          </a:p>
        </p:txBody>
      </p:sp>
      <p:sp>
        <p:nvSpPr>
          <p:cNvPr id="30" name="Text 28"/>
          <p:cNvSpPr/>
          <p:nvPr/>
        </p:nvSpPr>
        <p:spPr>
          <a:xfrm>
            <a:off x="7876032" y="4389120"/>
            <a:ext cx="35082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Useful for teaching and small datasets</a:t>
            </a:r>
            <a:endParaRPr lang="en-US" sz="143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FAMILY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Quadratic sorting algorithms: useful for learning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261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F6EAB"/>
                </a:solidFill>
              </a:rPr>
              <a:t>Main idea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489204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Bubble Sort, Selection Sort and Insertion Sort are conceptually simple.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They often perform many comparisons or movements.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Their typical worst-case time complexity is O(n²).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They are useful for understanding comparison, swaps and loops.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55080" y="12618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B8FA3"/>
                </a:solidFill>
              </a:rPr>
              <a:t>Biomedical perspective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355080" y="1691640"/>
            <a:ext cx="4892040" cy="4160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Acceptable for very small teaching examples.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Not appropriate for large hospital databases or long CGM streams.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Can still appear in small embedded tasks or as simplified pseudocode.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They prepare the intuition for more efficient algorithms.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25312" y="1307592"/>
            <a:ext cx="0" cy="452628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BUBBLE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Intuition: repeated adjacent swaps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85216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Bubble Sort compares adjacent elements one pair at a time.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two adjacent elements are in the wrong order, they are swapped.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After one full pass, the largest element has moved toward the end of the list.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process repeats until no swaps are needed or all passes are completed.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is easy to understand but inefficient for large datasets.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EAB"/>
                </a:solidFill>
              </a:rPr>
              <a:t>Clinical example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59168" y="1828800"/>
            <a:ext cx="4297680" cy="3291840"/>
          </a:xfrm>
          <a:prstGeom prst="roundRect">
            <a:avLst>
              <a:gd name="adj" fmla="val 3889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96912" y="2066544"/>
            <a:ext cx="3822192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Sort glucose values ascending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Identify extreme values after ordering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Teach loops and repeated comparisons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BUBBLE SORT TRACE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Tracing Bubble Sort on glucose values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AB"/>
                </a:solidFill>
              </a:rPr>
              <a:t>Pass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7452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87452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181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65176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65176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68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42900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42900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135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20624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20624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92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98348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98348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210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76072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76072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75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863840" y="1344168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</a:rPr>
              <a:t>181 and 68: swap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68680" y="2203704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AB"/>
                </a:solidFill>
              </a:rPr>
              <a:t>Pass 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7452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87452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68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265176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65176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181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342900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42900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135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420624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20624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92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498348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98348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210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576072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576072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75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863840" y="2130552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</a:rPr>
              <a:t>181 and 135: swap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68680" y="299008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AB"/>
                </a:solidFill>
              </a:rPr>
              <a:t>Pass 3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87452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187452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68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265176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265176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135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342900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342900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181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420624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20624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92</a:t>
            </a:r>
            <a:endParaRPr lang="en-US" sz="1550" dirty="0"/>
          </a:p>
        </p:txBody>
      </p:sp>
      <p:sp>
        <p:nvSpPr>
          <p:cNvPr id="44" name="Shape 42"/>
          <p:cNvSpPr/>
          <p:nvPr/>
        </p:nvSpPr>
        <p:spPr>
          <a:xfrm>
            <a:off x="498348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498348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210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576072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576072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75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7863840" y="2916936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</a:rPr>
              <a:t>181 and 92: swap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68680" y="377647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AB"/>
                </a:solidFill>
              </a:rPr>
              <a:t>Pass 4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87452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187452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68</a:t>
            </a:r>
            <a:endParaRPr lang="en-US" sz="1550" dirty="0"/>
          </a:p>
        </p:txBody>
      </p:sp>
      <p:sp>
        <p:nvSpPr>
          <p:cNvPr id="52" name="Shape 50"/>
          <p:cNvSpPr/>
          <p:nvPr/>
        </p:nvSpPr>
        <p:spPr>
          <a:xfrm>
            <a:off x="265176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265176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135</a:t>
            </a:r>
            <a:endParaRPr lang="en-US" sz="1550" dirty="0"/>
          </a:p>
        </p:txBody>
      </p:sp>
      <p:sp>
        <p:nvSpPr>
          <p:cNvPr id="54" name="Shape 52"/>
          <p:cNvSpPr/>
          <p:nvPr/>
        </p:nvSpPr>
        <p:spPr>
          <a:xfrm>
            <a:off x="342900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342900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92</a:t>
            </a:r>
            <a:endParaRPr lang="en-US" sz="1550" dirty="0"/>
          </a:p>
        </p:txBody>
      </p:sp>
      <p:sp>
        <p:nvSpPr>
          <p:cNvPr id="56" name="Shape 54"/>
          <p:cNvSpPr/>
          <p:nvPr/>
        </p:nvSpPr>
        <p:spPr>
          <a:xfrm>
            <a:off x="420624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420624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181</a:t>
            </a:r>
            <a:endParaRPr lang="en-US" sz="1550" dirty="0"/>
          </a:p>
        </p:txBody>
      </p:sp>
      <p:sp>
        <p:nvSpPr>
          <p:cNvPr id="58" name="Shape 56"/>
          <p:cNvSpPr/>
          <p:nvPr/>
        </p:nvSpPr>
        <p:spPr>
          <a:xfrm>
            <a:off x="498348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498348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210</a:t>
            </a:r>
            <a:endParaRPr lang="en-US" sz="1550" dirty="0"/>
          </a:p>
        </p:txBody>
      </p:sp>
      <p:sp>
        <p:nvSpPr>
          <p:cNvPr id="60" name="Shape 58"/>
          <p:cNvSpPr/>
          <p:nvPr/>
        </p:nvSpPr>
        <p:spPr>
          <a:xfrm>
            <a:off x="576072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576072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75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7863840" y="3703320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</a:rPr>
              <a:t>210 and 75: swap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868680" y="456285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AB"/>
                </a:solidFill>
              </a:rPr>
              <a:t>Pass 5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187452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187452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68</a:t>
            </a:r>
            <a:endParaRPr lang="en-US" sz="1550" dirty="0"/>
          </a:p>
        </p:txBody>
      </p:sp>
      <p:sp>
        <p:nvSpPr>
          <p:cNvPr id="66" name="Shape 64"/>
          <p:cNvSpPr/>
          <p:nvPr/>
        </p:nvSpPr>
        <p:spPr>
          <a:xfrm>
            <a:off x="265176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265176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135</a:t>
            </a:r>
            <a:endParaRPr lang="en-US" sz="1550" dirty="0"/>
          </a:p>
        </p:txBody>
      </p:sp>
      <p:sp>
        <p:nvSpPr>
          <p:cNvPr id="68" name="Shape 66"/>
          <p:cNvSpPr/>
          <p:nvPr/>
        </p:nvSpPr>
        <p:spPr>
          <a:xfrm>
            <a:off x="342900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342900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92</a:t>
            </a:r>
            <a:endParaRPr lang="en-US" sz="1550" dirty="0"/>
          </a:p>
        </p:txBody>
      </p:sp>
      <p:sp>
        <p:nvSpPr>
          <p:cNvPr id="70" name="Shape 68"/>
          <p:cNvSpPr/>
          <p:nvPr/>
        </p:nvSpPr>
        <p:spPr>
          <a:xfrm>
            <a:off x="420624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420624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181</a:t>
            </a:r>
            <a:endParaRPr lang="en-US" sz="1550" dirty="0"/>
          </a:p>
        </p:txBody>
      </p:sp>
      <p:sp>
        <p:nvSpPr>
          <p:cNvPr id="72" name="Shape 70"/>
          <p:cNvSpPr/>
          <p:nvPr/>
        </p:nvSpPr>
        <p:spPr>
          <a:xfrm>
            <a:off x="498348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498348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75</a:t>
            </a:r>
            <a:endParaRPr lang="en-US" sz="1550" dirty="0"/>
          </a:p>
        </p:txBody>
      </p:sp>
      <p:sp>
        <p:nvSpPr>
          <p:cNvPr id="74" name="Shape 72"/>
          <p:cNvSpPr/>
          <p:nvPr/>
        </p:nvSpPr>
        <p:spPr>
          <a:xfrm>
            <a:off x="576072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576072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210</a:t>
            </a:r>
            <a:endParaRPr lang="en-US" sz="1550" dirty="0"/>
          </a:p>
        </p:txBody>
      </p:sp>
      <p:sp>
        <p:nvSpPr>
          <p:cNvPr id="76" name="Text 74"/>
          <p:cNvSpPr/>
          <p:nvPr/>
        </p:nvSpPr>
        <p:spPr>
          <a:xfrm>
            <a:off x="7863840" y="4489704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</a:rPr>
              <a:t>largest value at the end</a:t>
            </a:r>
            <a:endParaRPr lang="en-US" sz="1350" dirty="0"/>
          </a:p>
        </p:txBody>
      </p:sp>
      <p:sp>
        <p:nvSpPr>
          <p:cNvPr id="7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BUBBLE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Pseudocode representation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5230368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BubbleSort(A)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list A of n values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A sorted in ascending order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0 TO n-2: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swapped = false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= 0 TO n-2-i: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A[j] &gt; A[j+1] THEN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swap A[j] and A[j+1]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swapped = true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swapped = false THEN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STOP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812280" y="1325880"/>
            <a:ext cx="438912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Two nested loops generate many comparisons.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inner loop becomes shorter after each pass.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swapped flag allows early stopping on already sorted data.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Worst-case time complexity remains O(n²).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BUBBLE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Complexity and practical interpretation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1014984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Best case with early stopping: O(n), when the list is already sorted.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Average and worst case: O(n²), because many pairs may be compared.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Memory usage: O(1), because it sorts in place.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Stable: yes, if equal elements are not swapped.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Practical use: rarely chosen for real large-scale systems, but valuable for teaching algorithmic thinking.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Intuition: repeatedly select the minimum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85216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Selection Sort divides the list into a sorted part and an unsorted part.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 each step, it scans the unsorted part to find the smallest element.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smallest element is placed in the next position of the sorted part.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performs a predictable number of comparisons.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usually performs fewer swaps than Bubble Sort, but it is still O(n²).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EAB"/>
                </a:solidFill>
              </a:rPr>
              <a:t>Healthcare analogy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59168" y="1828800"/>
            <a:ext cx="4297680" cy="3291840"/>
          </a:xfrm>
          <a:prstGeom prst="roundRect">
            <a:avLst>
              <a:gd name="adj" fmla="val 3889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96912" y="2066544"/>
            <a:ext cx="3822192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Find the lowest glucose value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Place it first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Repeat on remaining values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Build a sorted report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SORT TRACE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Selecting the next smallest value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AB"/>
                </a:solidFill>
              </a:rPr>
              <a:t>Pass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7452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87452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181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265176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65176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68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42900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42900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135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20624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20624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92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98348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98348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210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760720" y="1234440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760720" y="138074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75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863840" y="1344168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</a:rPr>
              <a:t>minimum is 68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68680" y="2203704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AB"/>
                </a:solidFill>
              </a:rPr>
              <a:t>Pass 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7452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87452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68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265176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65176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181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342900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342900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135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420624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420624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92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498348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98348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210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5760720" y="2020824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5760720" y="21671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75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863840" y="2130552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</a:rPr>
              <a:t>minimum in remaining part is 75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68680" y="2990088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AB"/>
                </a:solidFill>
              </a:rPr>
              <a:t>Pass 3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87452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187452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68</a:t>
            </a:r>
            <a:endParaRPr lang="en-US" sz="1550" dirty="0"/>
          </a:p>
        </p:txBody>
      </p:sp>
      <p:sp>
        <p:nvSpPr>
          <p:cNvPr id="38" name="Shape 36"/>
          <p:cNvSpPr/>
          <p:nvPr/>
        </p:nvSpPr>
        <p:spPr>
          <a:xfrm>
            <a:off x="265176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265176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75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342900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342900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135</a:t>
            </a:r>
            <a:endParaRPr lang="en-US" sz="1550" dirty="0"/>
          </a:p>
        </p:txBody>
      </p:sp>
      <p:sp>
        <p:nvSpPr>
          <p:cNvPr id="42" name="Shape 40"/>
          <p:cNvSpPr/>
          <p:nvPr/>
        </p:nvSpPr>
        <p:spPr>
          <a:xfrm>
            <a:off x="420624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20624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92</a:t>
            </a:r>
            <a:endParaRPr lang="en-US" sz="1550" dirty="0"/>
          </a:p>
        </p:txBody>
      </p:sp>
      <p:sp>
        <p:nvSpPr>
          <p:cNvPr id="44" name="Shape 42"/>
          <p:cNvSpPr/>
          <p:nvPr/>
        </p:nvSpPr>
        <p:spPr>
          <a:xfrm>
            <a:off x="498348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498348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210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5760720" y="2807208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5760720" y="29535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181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7863840" y="2916936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</a:rPr>
              <a:t>minimum in remaining part is 92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68680" y="3776472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AB"/>
                </a:solidFill>
              </a:rPr>
              <a:t>Pass 4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87452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187452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68</a:t>
            </a:r>
            <a:endParaRPr lang="en-US" sz="1550" dirty="0"/>
          </a:p>
        </p:txBody>
      </p:sp>
      <p:sp>
        <p:nvSpPr>
          <p:cNvPr id="52" name="Shape 50"/>
          <p:cNvSpPr/>
          <p:nvPr/>
        </p:nvSpPr>
        <p:spPr>
          <a:xfrm>
            <a:off x="265176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265176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75</a:t>
            </a:r>
            <a:endParaRPr lang="en-US" sz="1550" dirty="0"/>
          </a:p>
        </p:txBody>
      </p:sp>
      <p:sp>
        <p:nvSpPr>
          <p:cNvPr id="54" name="Shape 52"/>
          <p:cNvSpPr/>
          <p:nvPr/>
        </p:nvSpPr>
        <p:spPr>
          <a:xfrm>
            <a:off x="342900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53"/>
          <p:cNvSpPr/>
          <p:nvPr/>
        </p:nvSpPr>
        <p:spPr>
          <a:xfrm>
            <a:off x="342900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92</a:t>
            </a:r>
            <a:endParaRPr lang="en-US" sz="1550" dirty="0"/>
          </a:p>
        </p:txBody>
      </p:sp>
      <p:sp>
        <p:nvSpPr>
          <p:cNvPr id="56" name="Shape 54"/>
          <p:cNvSpPr/>
          <p:nvPr/>
        </p:nvSpPr>
        <p:spPr>
          <a:xfrm>
            <a:off x="420624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420624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135</a:t>
            </a:r>
            <a:endParaRPr lang="en-US" sz="1550" dirty="0"/>
          </a:p>
        </p:txBody>
      </p:sp>
      <p:sp>
        <p:nvSpPr>
          <p:cNvPr id="58" name="Shape 56"/>
          <p:cNvSpPr/>
          <p:nvPr/>
        </p:nvSpPr>
        <p:spPr>
          <a:xfrm>
            <a:off x="498348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498348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210</a:t>
            </a:r>
            <a:endParaRPr lang="en-US" sz="1550" dirty="0"/>
          </a:p>
        </p:txBody>
      </p:sp>
      <p:sp>
        <p:nvSpPr>
          <p:cNvPr id="60" name="Shape 58"/>
          <p:cNvSpPr/>
          <p:nvPr/>
        </p:nvSpPr>
        <p:spPr>
          <a:xfrm>
            <a:off x="5760720" y="3593592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1" name="Text 59"/>
          <p:cNvSpPr/>
          <p:nvPr/>
        </p:nvSpPr>
        <p:spPr>
          <a:xfrm>
            <a:off x="5760720" y="37398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181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7863840" y="3703320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</a:rPr>
              <a:t>minimum is 135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868680" y="4562856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EAB"/>
                </a:solidFill>
              </a:rPr>
              <a:t>Pass 5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187452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187452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68</a:t>
            </a:r>
            <a:endParaRPr lang="en-US" sz="1550" dirty="0"/>
          </a:p>
        </p:txBody>
      </p:sp>
      <p:sp>
        <p:nvSpPr>
          <p:cNvPr id="66" name="Shape 64"/>
          <p:cNvSpPr/>
          <p:nvPr/>
        </p:nvSpPr>
        <p:spPr>
          <a:xfrm>
            <a:off x="265176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265176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75</a:t>
            </a:r>
            <a:endParaRPr lang="en-US" sz="1550" dirty="0"/>
          </a:p>
        </p:txBody>
      </p:sp>
      <p:sp>
        <p:nvSpPr>
          <p:cNvPr id="68" name="Shape 66"/>
          <p:cNvSpPr/>
          <p:nvPr/>
        </p:nvSpPr>
        <p:spPr>
          <a:xfrm>
            <a:off x="342900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342900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92</a:t>
            </a:r>
            <a:endParaRPr lang="en-US" sz="1550" dirty="0"/>
          </a:p>
        </p:txBody>
      </p:sp>
      <p:sp>
        <p:nvSpPr>
          <p:cNvPr id="70" name="Shape 68"/>
          <p:cNvSpPr/>
          <p:nvPr/>
        </p:nvSpPr>
        <p:spPr>
          <a:xfrm>
            <a:off x="420624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420624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135</a:t>
            </a:r>
            <a:endParaRPr lang="en-US" sz="1550" dirty="0"/>
          </a:p>
        </p:txBody>
      </p:sp>
      <p:sp>
        <p:nvSpPr>
          <p:cNvPr id="72" name="Shape 70"/>
          <p:cNvSpPr/>
          <p:nvPr/>
        </p:nvSpPr>
        <p:spPr>
          <a:xfrm>
            <a:off x="498348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778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498348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181</a:t>
            </a:r>
            <a:endParaRPr lang="en-US" sz="1550" dirty="0"/>
          </a:p>
        </p:txBody>
      </p:sp>
      <p:sp>
        <p:nvSpPr>
          <p:cNvPr id="74" name="Shape 72"/>
          <p:cNvSpPr/>
          <p:nvPr/>
        </p:nvSpPr>
        <p:spPr>
          <a:xfrm>
            <a:off x="5760720" y="4379976"/>
            <a:ext cx="621792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016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5760720" y="452628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17324D"/>
                </a:solidFill>
              </a:rPr>
              <a:t>210</a:t>
            </a:r>
            <a:endParaRPr lang="en-US" sz="1550" dirty="0"/>
          </a:p>
        </p:txBody>
      </p:sp>
      <p:sp>
        <p:nvSpPr>
          <p:cNvPr id="76" name="Text 74"/>
          <p:cNvSpPr/>
          <p:nvPr/>
        </p:nvSpPr>
        <p:spPr>
          <a:xfrm>
            <a:off x="7863840" y="4489704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0"/>
                </a:solidFill>
              </a:rPr>
              <a:t>last two are ordered</a:t>
            </a:r>
            <a:endParaRPr lang="en-US" sz="1350" dirty="0"/>
          </a:p>
        </p:txBody>
      </p:sp>
      <p:sp>
        <p:nvSpPr>
          <p:cNvPr id="7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Pseudocode representation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5230368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SelectionSort(A)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list A of n values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A sorted in ascending order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0 TO n-2: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min_index = i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= i+1 TO n-1: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A[j] &lt; A[min_index] THEN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min_index = j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swap A[i] and A[min_index]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812280" y="1325880"/>
            <a:ext cx="438912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outer loop selects the next position to fill.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inner loop searches for the minimum remaining value.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algorithm performs O(n²) comparisons.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It is not naturally stable if implemented using swaps.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INSERTION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Intuition: insert each element into the right position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85216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Insertion Sort builds a sorted prefix of the list one element at a time.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next element is compared with previous elements and inserted where it belongs.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is efficient when the list is already almost sorted.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is similar to organizing cards in your hand.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is a good algorithm for small or nearly ordered clinical lists.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EAB"/>
                </a:solidFill>
              </a:rPr>
              <a:t>Biomedical example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59168" y="1828800"/>
            <a:ext cx="4297680" cy="3291840"/>
          </a:xfrm>
          <a:prstGeom prst="roundRect">
            <a:avLst>
              <a:gd name="adj" fmla="val 3889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96912" y="2066544"/>
            <a:ext cx="3822192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Appointments mostly sorted by time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A new late record is inserted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Only local movement is needed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INSERTION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 a sorted prefix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99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EAB"/>
                </a:solidFill>
              </a:rPr>
              <a:t>Before inserting 92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2296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68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78308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78308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135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74320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74320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181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70332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70332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|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66344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92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62356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62356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210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83680" y="18288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583680" y="1993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75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389120" y="2606040"/>
            <a:ext cx="502920" cy="685800"/>
          </a:xfrm>
          <a:prstGeom prst="downArrow">
            <a:avLst/>
          </a:prstGeom>
          <a:solidFill>
            <a:srgbClr val="0B8FA3"/>
          </a:solidFill>
          <a:ln w="1270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822960" y="3227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8FA3"/>
                </a:solidFill>
              </a:rPr>
              <a:t>After inserting 92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82296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68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78308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78308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92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274320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74320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135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370332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70332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181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66344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66344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|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562356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EEF6FB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62356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210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583680" y="3657600"/>
            <a:ext cx="749808" cy="594360"/>
          </a:xfrm>
          <a:prstGeom prst="roundRect">
            <a:avLst>
              <a:gd name="adj" fmla="val 12308"/>
            </a:avLst>
          </a:prstGeom>
          <a:solidFill>
            <a:srgbClr val="F7FBFE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583680" y="38221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75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841248" y="4828032"/>
            <a:ext cx="978408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Sorting reorganizes the same elements according to a chosen key.</a:t>
            </a:r>
            <a:endParaRPr lang="en-US" sz="18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INSERTION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Pseudocode representation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5230368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InsertionSort(A)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list A of n values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A sorted in ascending order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n-1: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A[i]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i - 1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j &gt;= 0 AND A[j] &gt; key: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A[j+1] = A[j]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 = j - 1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A[j+1] = key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812280" y="1325880"/>
            <a:ext cx="438912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key element is temporarily stored.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Larger previous elements are shifted to the right.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Best case: O(n) if the list is already sorted.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Worst case: O(n²) if the list is reverse sorted.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sorting algorithms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2F6EAB"/>
                </a:solidFill>
              </a:rPr>
              <a:t>Algorithm</a:t>
            </a:r>
            <a:endParaRPr lang="en-US" sz="1510" dirty="0"/>
          </a:p>
        </p:txBody>
      </p:sp>
      <p:sp>
        <p:nvSpPr>
          <p:cNvPr id="8" name="Text 6"/>
          <p:cNvSpPr/>
          <p:nvPr/>
        </p:nvSpPr>
        <p:spPr>
          <a:xfrm>
            <a:off x="25039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2F6EAB"/>
                </a:solidFill>
              </a:rPr>
              <a:t>Best case</a:t>
            </a:r>
            <a:endParaRPr lang="en-US" sz="1510" dirty="0"/>
          </a:p>
        </p:txBody>
      </p:sp>
      <p:sp>
        <p:nvSpPr>
          <p:cNvPr id="9" name="Text 7"/>
          <p:cNvSpPr/>
          <p:nvPr/>
        </p:nvSpPr>
        <p:spPr>
          <a:xfrm>
            <a:off x="42946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2F6EAB"/>
                </a:solidFill>
              </a:rPr>
              <a:t>Average/Worst case</a:t>
            </a:r>
            <a:endParaRPr lang="en-US" sz="1510" dirty="0"/>
          </a:p>
        </p:txBody>
      </p:sp>
      <p:sp>
        <p:nvSpPr>
          <p:cNvPr id="10" name="Text 8"/>
          <p:cNvSpPr/>
          <p:nvPr/>
        </p:nvSpPr>
        <p:spPr>
          <a:xfrm>
            <a:off x="60853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2F6EAB"/>
                </a:solidFill>
              </a:rPr>
              <a:t>Memory</a:t>
            </a:r>
            <a:endParaRPr lang="en-US" sz="1510" dirty="0"/>
          </a:p>
        </p:txBody>
      </p:sp>
      <p:sp>
        <p:nvSpPr>
          <p:cNvPr id="11" name="Text 9"/>
          <p:cNvSpPr/>
          <p:nvPr/>
        </p:nvSpPr>
        <p:spPr>
          <a:xfrm>
            <a:off x="78760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2F6EAB"/>
                </a:solidFill>
              </a:rPr>
              <a:t>Stable?</a:t>
            </a:r>
            <a:endParaRPr lang="en-US" sz="1510" dirty="0"/>
          </a:p>
        </p:txBody>
      </p:sp>
      <p:sp>
        <p:nvSpPr>
          <p:cNvPr id="12" name="Text 10"/>
          <p:cNvSpPr/>
          <p:nvPr/>
        </p:nvSpPr>
        <p:spPr>
          <a:xfrm>
            <a:off x="96667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2F6EAB"/>
                </a:solidFill>
              </a:rPr>
              <a:t>Teaching use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713232" y="1627632"/>
            <a:ext cx="10744200" cy="0"/>
          </a:xfrm>
          <a:prstGeom prst="line">
            <a:avLst/>
          </a:prstGeom>
          <a:noFill/>
          <a:ln w="1397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713232" y="234086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132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Bubble Sort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25039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O(n)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42946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O(n²)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60853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O(1)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78760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Yes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96667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Adjacent swaps and loops</a:t>
            </a:r>
            <a:endParaRPr lang="en-US" sz="1430" dirty="0"/>
          </a:p>
        </p:txBody>
      </p:sp>
      <p:sp>
        <p:nvSpPr>
          <p:cNvPr id="21" name="Shape 19"/>
          <p:cNvSpPr/>
          <p:nvPr/>
        </p:nvSpPr>
        <p:spPr>
          <a:xfrm>
            <a:off x="713232" y="2999232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132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Selection Sort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25039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O(n²)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42946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O(n²)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60853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O(1)</a:t>
            </a:r>
            <a:endParaRPr lang="en-US" sz="1430" dirty="0"/>
          </a:p>
        </p:txBody>
      </p:sp>
      <p:sp>
        <p:nvSpPr>
          <p:cNvPr id="26" name="Text 24"/>
          <p:cNvSpPr/>
          <p:nvPr/>
        </p:nvSpPr>
        <p:spPr>
          <a:xfrm>
            <a:off x="78760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Usually no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96667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Finding a minimum repeatedly</a:t>
            </a:r>
            <a:endParaRPr lang="en-US" sz="1430" dirty="0"/>
          </a:p>
        </p:txBody>
      </p:sp>
      <p:sp>
        <p:nvSpPr>
          <p:cNvPr id="28" name="Shape 26"/>
          <p:cNvSpPr/>
          <p:nvPr/>
        </p:nvSpPr>
        <p:spPr>
          <a:xfrm>
            <a:off x="713232" y="3657600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7132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Insertion Sort</a:t>
            </a:r>
            <a:endParaRPr lang="en-US" sz="1430" dirty="0"/>
          </a:p>
        </p:txBody>
      </p:sp>
      <p:sp>
        <p:nvSpPr>
          <p:cNvPr id="30" name="Text 28"/>
          <p:cNvSpPr/>
          <p:nvPr/>
        </p:nvSpPr>
        <p:spPr>
          <a:xfrm>
            <a:off x="25039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O(n)</a:t>
            </a:r>
            <a:endParaRPr lang="en-US" sz="1430" dirty="0"/>
          </a:p>
        </p:txBody>
      </p:sp>
      <p:sp>
        <p:nvSpPr>
          <p:cNvPr id="31" name="Text 29"/>
          <p:cNvSpPr/>
          <p:nvPr/>
        </p:nvSpPr>
        <p:spPr>
          <a:xfrm>
            <a:off x="42946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O(n²)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60853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O(1)</a:t>
            </a:r>
            <a:endParaRPr lang="en-US" sz="1430" dirty="0"/>
          </a:p>
        </p:txBody>
      </p:sp>
      <p:sp>
        <p:nvSpPr>
          <p:cNvPr id="33" name="Text 31"/>
          <p:cNvSpPr/>
          <p:nvPr/>
        </p:nvSpPr>
        <p:spPr>
          <a:xfrm>
            <a:off x="78760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Yes</a:t>
            </a:r>
            <a:endParaRPr lang="en-US" sz="1430" dirty="0"/>
          </a:p>
        </p:txBody>
      </p:sp>
      <p:sp>
        <p:nvSpPr>
          <p:cNvPr id="34" name="Text 32"/>
          <p:cNvSpPr/>
          <p:nvPr/>
        </p:nvSpPr>
        <p:spPr>
          <a:xfrm>
            <a:off x="96667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30" dirty="0">
                <a:solidFill>
                  <a:srgbClr val="374151"/>
                </a:solidFill>
              </a:rPr>
              <a:t>Nearly sorted data and shifting</a:t>
            </a:r>
            <a:endParaRPr lang="en-US" sz="143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DIVIDE AND CONQUER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we need more efficient algorithms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1014984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Quadratic algorithms become impractical as n grows.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hospital network may contain millions of events, measurements and records.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Divide-and-conquer algorithms solve a large problem by splitting it into smaller problems.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Merge Sort and Quick Sort often achieve O(n log n) behavior.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improvement is not a small detail: it can change an algorithm from impossible to usable.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Divide, sort and merge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F1F7FC"/>
          </a:solidFill>
          <a:ln w="1651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59536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Split the list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587752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916936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EEF7F8"/>
          </a:solidFill>
          <a:ln w="1651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026664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Sort left half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084064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F1F7FC"/>
          </a:solidFill>
          <a:ln w="1651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193792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Sort right half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22008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251192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EEF7F8"/>
          </a:solidFill>
          <a:ln w="1651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360920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Merge sorted halves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089136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9418320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F1F7FC"/>
          </a:solidFill>
          <a:ln w="1651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528048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Return sorted list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60120" y="3822192"/>
            <a:ext cx="10195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74151"/>
                </a:solidFill>
              </a:rPr>
              <a:t>The same conceptual pattern appears in many sorting algorithms: compare, decide, rearrange and repeat until the data are ordered.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SORT VISUAL TRACE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Splitting and merging glucose values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99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EAB"/>
                </a:solidFill>
              </a:rPr>
              <a:t>Original list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88920" y="123444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88920" y="137160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181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538728" y="123444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538728" y="137160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68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288536" y="123444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288536" y="137160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135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38344" y="123444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038344" y="137160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92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788152" y="123444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788152" y="137160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210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37960" y="123444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537960" y="137160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75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24048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EAB"/>
                </a:solidFill>
              </a:rPr>
              <a:t>Split into halves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788920" y="224028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788920" y="237744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181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3538728" y="224028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3538728" y="237744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68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288536" y="224028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288536" y="237744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135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788152" y="224028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788152" y="237744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92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537960" y="224028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537960" y="237744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210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287768" y="224028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287768" y="237744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75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2960" y="34107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EAB"/>
                </a:solidFill>
              </a:rPr>
              <a:t>Each half sorted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2788920" y="324612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2788920" y="338328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68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3538728" y="324612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3538728" y="338328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135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4288536" y="324612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4288536" y="338328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181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5788152" y="324612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5788152" y="338328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75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6537960" y="324612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6537960" y="338328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92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7287768" y="324612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7287768" y="338328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210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822960" y="4416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EAB"/>
                </a:solidFill>
              </a:rPr>
              <a:t>Merged result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2788920" y="425196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2788920" y="438912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68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3538728" y="425196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3538728" y="438912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75</a:t>
            </a:r>
            <a:endParaRPr lang="en-US" sz="1450" dirty="0"/>
          </a:p>
        </p:txBody>
      </p:sp>
      <p:sp>
        <p:nvSpPr>
          <p:cNvPr id="51" name="Shape 49"/>
          <p:cNvSpPr/>
          <p:nvPr/>
        </p:nvSpPr>
        <p:spPr>
          <a:xfrm>
            <a:off x="4288536" y="425196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4288536" y="438912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92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5038344" y="425196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5038344" y="438912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135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5788152" y="425196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5788152" y="438912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181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6537960" y="4251960"/>
            <a:ext cx="603504" cy="512064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6537960" y="4389120"/>
            <a:ext cx="603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210</a:t>
            </a:r>
            <a:endParaRPr lang="en-US" sz="1450" dirty="0"/>
          </a:p>
        </p:txBody>
      </p:sp>
      <p:sp>
        <p:nvSpPr>
          <p:cNvPr id="59" name="Text 57"/>
          <p:cNvSpPr/>
          <p:nvPr/>
        </p:nvSpPr>
        <p:spPr>
          <a:xfrm>
            <a:off x="914400" y="5413248"/>
            <a:ext cx="10058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374151"/>
                </a:solidFill>
              </a:rPr>
              <a:t>Merge Sort is stable and predictable, but it typically requires extra memory to merge the parts.</a:t>
            </a:r>
            <a:endParaRPr lang="en-US" sz="17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Pseudocode representation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5230368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MergeSort(A)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list A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sorted list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length(A) &lt;= 1 THEN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 = MergeSort(first half of A)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= MergeSort(second half of A)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Merge(left, right)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812280" y="1325880"/>
            <a:ext cx="438912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base case stops the recursion.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recursive calls sort smaller lists.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The merge operation combines two already sorted lists.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Time complexity: O(n log n).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Memory usage: usually O(n).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 OPERATION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two sorted lists are combined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F1F7FC"/>
          </a:solidFill>
          <a:ln w="1651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59536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Compare first elements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587752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2916936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EEF7F8"/>
          </a:solidFill>
          <a:ln w="1651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026664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Copy the smaller one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084064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F1F7FC"/>
          </a:solidFill>
          <a:ln w="1651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193792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Advance that list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22008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251192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EEF7F8"/>
          </a:solidFill>
          <a:ln w="1651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360920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Repeat until empty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9089136" y="2468880"/>
            <a:ext cx="274320" cy="0"/>
          </a:xfrm>
          <a:prstGeom prst="line">
            <a:avLst/>
          </a:prstGeom>
          <a:noFill/>
          <a:ln w="25400">
            <a:solidFill>
              <a:srgbClr val="B9D0E4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9418320" y="205740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F1F7FC"/>
          </a:solidFill>
          <a:ln w="1651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528048" y="2203704"/>
            <a:ext cx="156362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Append remaining elements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60120" y="3822192"/>
            <a:ext cx="10195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374151"/>
                </a:solidFill>
              </a:rPr>
              <a:t>The same conceptual pattern appears in many sorting algorithms: compare, decide, rearrange and repeat until the data are ordered.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Intuition: choose a pivot and partition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585216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Quick Sort chooses a pivot element from the list.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Elements smaller than the pivot are moved to one side.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Elements greater than the pivot are moved to the other side.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same process is recursively applied to the sublists.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is often very fast in practice, but the pivot strategy matters.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3232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EAB"/>
                </a:solidFill>
              </a:rPr>
              <a:t>Clinical analogy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059168" y="1828800"/>
            <a:ext cx="4297680" cy="3291840"/>
          </a:xfrm>
          <a:prstGeom prst="roundRect">
            <a:avLst>
              <a:gd name="adj" fmla="val 3889"/>
            </a:avLst>
          </a:prstGeom>
          <a:solidFill>
            <a:srgbClr val="F1F7FC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296912" y="2066544"/>
            <a:ext cx="3822192" cy="2779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Choose a threshold-like reference value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Separate lower and higher values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374151"/>
                </a:solidFill>
              </a:rPr>
              <a:t>• Repeat within each subgroup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SORT VISUAL TRACE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Partitioning around a pivot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EAB"/>
                </a:solidFill>
              </a:rPr>
              <a:t>Example values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664208"/>
            <a:ext cx="640080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524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14400" y="1810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181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719072" y="1664208"/>
            <a:ext cx="640080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524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719072" y="1810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68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523744" y="1664208"/>
            <a:ext cx="640080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523744" y="1810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135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328416" y="1664208"/>
            <a:ext cx="640080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524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3328416" y="1810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92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133088" y="1664208"/>
            <a:ext cx="640080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524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133088" y="1810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210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937760" y="1664208"/>
            <a:ext cx="640080" cy="530352"/>
          </a:xfrm>
          <a:prstGeom prst="roundRect">
            <a:avLst>
              <a:gd name="adj" fmla="val 12069"/>
            </a:avLst>
          </a:prstGeom>
          <a:solidFill>
            <a:srgbClr val="F7FBFE"/>
          </a:solidFill>
          <a:ln w="1524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937760" y="181051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75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1783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8FA3"/>
                </a:solidFill>
              </a:rPr>
              <a:t>pivot = 135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66360" y="2423160"/>
            <a:ext cx="457200" cy="548640"/>
          </a:xfrm>
          <a:prstGeom prst="downArrow">
            <a:avLst/>
          </a:prstGeom>
          <a:solidFill>
            <a:srgbClr val="B9D0E4"/>
          </a:solidFill>
          <a:ln w="1270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09728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</a:rPr>
              <a:t>&lt; pivot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97280" y="3611880"/>
            <a:ext cx="658368" cy="530352"/>
          </a:xfrm>
          <a:prstGeom prst="roundRect">
            <a:avLst>
              <a:gd name="adj" fmla="val 12069"/>
            </a:avLst>
          </a:prstGeom>
          <a:solidFill>
            <a:srgbClr val="EDF8F4"/>
          </a:solidFill>
          <a:ln w="1397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097280" y="37490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68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1965960" y="3611880"/>
            <a:ext cx="658368" cy="530352"/>
          </a:xfrm>
          <a:prstGeom prst="roundRect">
            <a:avLst>
              <a:gd name="adj" fmla="val 12069"/>
            </a:avLst>
          </a:prstGeom>
          <a:solidFill>
            <a:srgbClr val="EDF8F4"/>
          </a:solidFill>
          <a:ln w="1397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965960" y="37490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92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2834640" y="3611880"/>
            <a:ext cx="658368" cy="530352"/>
          </a:xfrm>
          <a:prstGeom prst="roundRect">
            <a:avLst>
              <a:gd name="adj" fmla="val 12069"/>
            </a:avLst>
          </a:prstGeom>
          <a:solidFill>
            <a:srgbClr val="EDF8F4"/>
          </a:solidFill>
          <a:ln w="1397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2834640" y="37490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75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75488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8FA3"/>
                </a:solidFill>
              </a:rPr>
              <a:t>pivot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92040" y="3611880"/>
            <a:ext cx="658368" cy="530352"/>
          </a:xfrm>
          <a:prstGeom prst="roundRect">
            <a:avLst>
              <a:gd name="adj" fmla="val 12069"/>
            </a:avLst>
          </a:prstGeom>
          <a:solidFill>
            <a:srgbClr val="DDF3F7"/>
          </a:solidFill>
          <a:ln w="1524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892040" y="37490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135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315200" y="3182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4545"/>
                </a:solidFill>
              </a:rPr>
              <a:t>&gt; pivot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15200" y="3611880"/>
            <a:ext cx="658368" cy="530352"/>
          </a:xfrm>
          <a:prstGeom prst="roundRect">
            <a:avLst>
              <a:gd name="adj" fmla="val 12069"/>
            </a:avLst>
          </a:prstGeom>
          <a:solidFill>
            <a:srgbClr val="FCF2F2"/>
          </a:solidFill>
          <a:ln w="13970">
            <a:solidFill>
              <a:srgbClr val="B4454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7315200" y="37490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181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8183880" y="3611880"/>
            <a:ext cx="658368" cy="530352"/>
          </a:xfrm>
          <a:prstGeom prst="roundRect">
            <a:avLst>
              <a:gd name="adj" fmla="val 12069"/>
            </a:avLst>
          </a:prstGeom>
          <a:solidFill>
            <a:srgbClr val="FCF2F2"/>
          </a:solidFill>
          <a:ln w="13970">
            <a:solidFill>
              <a:srgbClr val="B4454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8183880" y="37490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324D"/>
                </a:solidFill>
              </a:rPr>
              <a:t>210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6012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74151"/>
                </a:solidFill>
              </a:rPr>
              <a:t>After partitioning, each subgroup is sorted recursively.</a:t>
            </a:r>
            <a:endParaRPr lang="en-US" sz="18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SORT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Pseudocode representation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" y="1225296"/>
            <a:ext cx="5669280" cy="438912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960120" y="1444752"/>
            <a:ext cx="5230368" cy="3977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Algorithm QuickSort(A)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list A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sorted list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length(A) &lt;= 1 THEN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pivot = choose one element from A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  = elements &lt; pivot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 = elements = pivot</a:t>
            </a: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greater = elements &gt; pivot</a:t>
            </a:r>
            <a:endParaRPr lang="en-US" sz="1380" dirty="0"/>
          </a:p>
          <a:p>
            <a:pPr marL="0" indent="0">
              <a:buNone/>
            </a:pPr>
            <a:endParaRPr lang="en-US" sz="1380" dirty="0"/>
          </a:p>
          <a:p>
            <a:pPr marL="0" indent="0">
              <a:buNone/>
            </a:pPr>
            <a:r>
              <a:rPr lang="en-US" sz="138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QuickSort(less) + equal + QuickSort(greater)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812280" y="1325880"/>
            <a:ext cx="4389120" cy="4069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This version is simple and clear for teaching.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Some real implementations partition in place.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Average time complexity: O(n log n).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Worst case: O(n²), especially with poor pivot choices.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Memory usage depends on implementation.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Efficient sorting algorithms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2F6EAB"/>
                </a:solidFill>
              </a:rPr>
              <a:t>Algorithm</a:t>
            </a:r>
            <a:endParaRPr lang="en-US" sz="1470" dirty="0"/>
          </a:p>
        </p:txBody>
      </p:sp>
      <p:sp>
        <p:nvSpPr>
          <p:cNvPr id="8" name="Text 6"/>
          <p:cNvSpPr/>
          <p:nvPr/>
        </p:nvSpPr>
        <p:spPr>
          <a:xfrm>
            <a:off x="25039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2F6EAB"/>
                </a:solidFill>
              </a:rPr>
              <a:t>Main idea</a:t>
            </a:r>
            <a:endParaRPr lang="en-US" sz="1470" dirty="0"/>
          </a:p>
        </p:txBody>
      </p:sp>
      <p:sp>
        <p:nvSpPr>
          <p:cNvPr id="9" name="Text 7"/>
          <p:cNvSpPr/>
          <p:nvPr/>
        </p:nvSpPr>
        <p:spPr>
          <a:xfrm>
            <a:off x="42946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2F6EAB"/>
                </a:solidFill>
              </a:rPr>
              <a:t>Average time</a:t>
            </a:r>
            <a:endParaRPr lang="en-US" sz="1470" dirty="0"/>
          </a:p>
        </p:txBody>
      </p:sp>
      <p:sp>
        <p:nvSpPr>
          <p:cNvPr id="10" name="Text 8"/>
          <p:cNvSpPr/>
          <p:nvPr/>
        </p:nvSpPr>
        <p:spPr>
          <a:xfrm>
            <a:off x="60853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2F6EAB"/>
                </a:solidFill>
              </a:rPr>
              <a:t>Worst time</a:t>
            </a:r>
            <a:endParaRPr lang="en-US" sz="1470" dirty="0"/>
          </a:p>
        </p:txBody>
      </p:sp>
      <p:sp>
        <p:nvSpPr>
          <p:cNvPr id="11" name="Text 9"/>
          <p:cNvSpPr/>
          <p:nvPr/>
        </p:nvSpPr>
        <p:spPr>
          <a:xfrm>
            <a:off x="78760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2F6EAB"/>
                </a:solidFill>
              </a:rPr>
              <a:t>Memory</a:t>
            </a:r>
            <a:endParaRPr lang="en-US" sz="1470" dirty="0"/>
          </a:p>
        </p:txBody>
      </p:sp>
      <p:sp>
        <p:nvSpPr>
          <p:cNvPr id="12" name="Text 10"/>
          <p:cNvSpPr/>
          <p:nvPr/>
        </p:nvSpPr>
        <p:spPr>
          <a:xfrm>
            <a:off x="9666732" y="1207008"/>
            <a:ext cx="17358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2F6EAB"/>
                </a:solidFill>
              </a:rPr>
              <a:t>Stable?</a:t>
            </a:r>
            <a:endParaRPr lang="en-US" sz="1470" dirty="0"/>
          </a:p>
        </p:txBody>
      </p:sp>
      <p:sp>
        <p:nvSpPr>
          <p:cNvPr id="13" name="Shape 11"/>
          <p:cNvSpPr/>
          <p:nvPr/>
        </p:nvSpPr>
        <p:spPr>
          <a:xfrm>
            <a:off x="713232" y="1627632"/>
            <a:ext cx="10744200" cy="0"/>
          </a:xfrm>
          <a:prstGeom prst="line">
            <a:avLst/>
          </a:prstGeom>
          <a:noFill/>
          <a:ln w="13970">
            <a:solidFill>
              <a:srgbClr val="B9D0E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713232" y="2340864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132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Merge Sort</a:t>
            </a:r>
            <a:endParaRPr lang="en-US" sz="1390" dirty="0"/>
          </a:p>
        </p:txBody>
      </p:sp>
      <p:sp>
        <p:nvSpPr>
          <p:cNvPr id="16" name="Text 14"/>
          <p:cNvSpPr/>
          <p:nvPr/>
        </p:nvSpPr>
        <p:spPr>
          <a:xfrm>
            <a:off x="25039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Split and merge sorted halves</a:t>
            </a:r>
            <a:endParaRPr lang="en-US" sz="1390" dirty="0"/>
          </a:p>
        </p:txBody>
      </p:sp>
      <p:sp>
        <p:nvSpPr>
          <p:cNvPr id="17" name="Text 15"/>
          <p:cNvSpPr/>
          <p:nvPr/>
        </p:nvSpPr>
        <p:spPr>
          <a:xfrm>
            <a:off x="42946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O(n log n)</a:t>
            </a:r>
            <a:endParaRPr lang="en-US" sz="1390" dirty="0"/>
          </a:p>
        </p:txBody>
      </p:sp>
      <p:sp>
        <p:nvSpPr>
          <p:cNvPr id="18" name="Text 16"/>
          <p:cNvSpPr/>
          <p:nvPr/>
        </p:nvSpPr>
        <p:spPr>
          <a:xfrm>
            <a:off x="60853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O(n log n)</a:t>
            </a:r>
            <a:endParaRPr lang="en-US" sz="1390" dirty="0"/>
          </a:p>
        </p:txBody>
      </p:sp>
      <p:sp>
        <p:nvSpPr>
          <p:cNvPr id="19" name="Text 17"/>
          <p:cNvSpPr/>
          <p:nvPr/>
        </p:nvSpPr>
        <p:spPr>
          <a:xfrm>
            <a:off x="78760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O(n)</a:t>
            </a:r>
            <a:endParaRPr lang="en-US" sz="1390" dirty="0"/>
          </a:p>
        </p:txBody>
      </p:sp>
      <p:sp>
        <p:nvSpPr>
          <p:cNvPr id="20" name="Text 18"/>
          <p:cNvSpPr/>
          <p:nvPr/>
        </p:nvSpPr>
        <p:spPr>
          <a:xfrm>
            <a:off x="9666732" y="1755648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Yes</a:t>
            </a:r>
            <a:endParaRPr lang="en-US" sz="1390" dirty="0"/>
          </a:p>
        </p:txBody>
      </p:sp>
      <p:sp>
        <p:nvSpPr>
          <p:cNvPr id="21" name="Shape 19"/>
          <p:cNvSpPr/>
          <p:nvPr/>
        </p:nvSpPr>
        <p:spPr>
          <a:xfrm>
            <a:off x="713232" y="2999232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132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Quick Sort</a:t>
            </a:r>
            <a:endParaRPr lang="en-US" sz="1390" dirty="0"/>
          </a:p>
        </p:txBody>
      </p:sp>
      <p:sp>
        <p:nvSpPr>
          <p:cNvPr id="23" name="Text 21"/>
          <p:cNvSpPr/>
          <p:nvPr/>
        </p:nvSpPr>
        <p:spPr>
          <a:xfrm>
            <a:off x="25039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Pivot and partition</a:t>
            </a:r>
            <a:endParaRPr lang="en-US" sz="1390" dirty="0"/>
          </a:p>
        </p:txBody>
      </p:sp>
      <p:sp>
        <p:nvSpPr>
          <p:cNvPr id="24" name="Text 22"/>
          <p:cNvSpPr/>
          <p:nvPr/>
        </p:nvSpPr>
        <p:spPr>
          <a:xfrm>
            <a:off x="42946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O(n log n)</a:t>
            </a:r>
            <a:endParaRPr lang="en-US" sz="1390" dirty="0"/>
          </a:p>
        </p:txBody>
      </p:sp>
      <p:sp>
        <p:nvSpPr>
          <p:cNvPr id="25" name="Text 23"/>
          <p:cNvSpPr/>
          <p:nvPr/>
        </p:nvSpPr>
        <p:spPr>
          <a:xfrm>
            <a:off x="60853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O(n²)</a:t>
            </a:r>
            <a:endParaRPr lang="en-US" sz="1390" dirty="0"/>
          </a:p>
        </p:txBody>
      </p:sp>
      <p:sp>
        <p:nvSpPr>
          <p:cNvPr id="26" name="Text 24"/>
          <p:cNvSpPr/>
          <p:nvPr/>
        </p:nvSpPr>
        <p:spPr>
          <a:xfrm>
            <a:off x="78760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O(log n) average stack</a:t>
            </a:r>
            <a:endParaRPr lang="en-US" sz="1390" dirty="0"/>
          </a:p>
        </p:txBody>
      </p:sp>
      <p:sp>
        <p:nvSpPr>
          <p:cNvPr id="27" name="Text 25"/>
          <p:cNvSpPr/>
          <p:nvPr/>
        </p:nvSpPr>
        <p:spPr>
          <a:xfrm>
            <a:off x="9666732" y="2414016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Usually no</a:t>
            </a:r>
            <a:endParaRPr lang="en-US" sz="1390" dirty="0"/>
          </a:p>
        </p:txBody>
      </p:sp>
      <p:sp>
        <p:nvSpPr>
          <p:cNvPr id="28" name="Shape 26"/>
          <p:cNvSpPr/>
          <p:nvPr/>
        </p:nvSpPr>
        <p:spPr>
          <a:xfrm>
            <a:off x="713232" y="3657600"/>
            <a:ext cx="10744200" cy="0"/>
          </a:xfrm>
          <a:prstGeom prst="line">
            <a:avLst/>
          </a:prstGeom>
          <a:noFill/>
          <a:ln w="6985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7132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Built-in sorting</a:t>
            </a:r>
            <a:endParaRPr lang="en-US" sz="1390" dirty="0"/>
          </a:p>
        </p:txBody>
      </p:sp>
      <p:sp>
        <p:nvSpPr>
          <p:cNvPr id="30" name="Text 28"/>
          <p:cNvSpPr/>
          <p:nvPr/>
        </p:nvSpPr>
        <p:spPr>
          <a:xfrm>
            <a:off x="25039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Optimized library algorithm</a:t>
            </a:r>
            <a:endParaRPr lang="en-US" sz="1390" dirty="0"/>
          </a:p>
        </p:txBody>
      </p:sp>
      <p:sp>
        <p:nvSpPr>
          <p:cNvPr id="31" name="Text 29"/>
          <p:cNvSpPr/>
          <p:nvPr/>
        </p:nvSpPr>
        <p:spPr>
          <a:xfrm>
            <a:off x="42946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Often O(n log n)</a:t>
            </a:r>
            <a:endParaRPr lang="en-US" sz="1390" dirty="0"/>
          </a:p>
        </p:txBody>
      </p:sp>
      <p:sp>
        <p:nvSpPr>
          <p:cNvPr id="32" name="Text 30"/>
          <p:cNvSpPr/>
          <p:nvPr/>
        </p:nvSpPr>
        <p:spPr>
          <a:xfrm>
            <a:off x="60853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Language dependent</a:t>
            </a:r>
            <a:endParaRPr lang="en-US" sz="1390" dirty="0"/>
          </a:p>
        </p:txBody>
      </p:sp>
      <p:sp>
        <p:nvSpPr>
          <p:cNvPr id="33" name="Text 31"/>
          <p:cNvSpPr/>
          <p:nvPr/>
        </p:nvSpPr>
        <p:spPr>
          <a:xfrm>
            <a:off x="78760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Language dependent</a:t>
            </a:r>
            <a:endParaRPr lang="en-US" sz="1390" dirty="0"/>
          </a:p>
        </p:txBody>
      </p:sp>
      <p:sp>
        <p:nvSpPr>
          <p:cNvPr id="34" name="Text 32"/>
          <p:cNvSpPr/>
          <p:nvPr/>
        </p:nvSpPr>
        <p:spPr>
          <a:xfrm>
            <a:off x="9666732" y="3072384"/>
            <a:ext cx="17175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90" dirty="0">
                <a:solidFill>
                  <a:srgbClr val="374151"/>
                </a:solidFill>
              </a:rPr>
              <a:t>Often stable</a:t>
            </a:r>
            <a:endParaRPr lang="en-US" sz="139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DATA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practical issues when sorting clinical data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1014984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Missing values: should null values go first, last or be excluded?</a:t>
            </a: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Units: glucose in mg/dL and mmol/L cannot be sorted together without conversion.</a:t>
            </a: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Ties: two patients may have the same priority or risk score.</a:t>
            </a: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Auditability: changing order can hide the original acquisition sequence unless metadata are preserved.</a:t>
            </a:r>
            <a:endParaRPr lang="en-US" sz="1950" dirty="0"/>
          </a:p>
          <a:p>
            <a:pPr marL="0" indent="0">
              <a:buNone/>
            </a:pPr>
            <a:r>
              <a:rPr lang="en-US" sz="19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Clinical meaning: sorting by a number does not automatically imply medical priority.</a:t>
            </a:r>
            <a:endParaRPr lang="en-US" sz="1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AN ALGORITHM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100 patients to millions of CGM measurements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90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Bubble Sort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2971800" y="1527048"/>
            <a:ext cx="4663440" cy="237744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2971800" y="1527048"/>
            <a:ext cx="1828800" cy="237744"/>
          </a:xfrm>
          <a:prstGeom prst="rect">
            <a:avLst/>
          </a:prstGeom>
          <a:solidFill>
            <a:srgbClr val="B44545"/>
          </a:solidFill>
          <a:ln w="12700">
            <a:solidFill>
              <a:srgbClr val="B4454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90956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</a:rPr>
              <a:t>simple but slow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Selection Sort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2971800" y="2276856"/>
            <a:ext cx="4663440" cy="237744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2971800" y="2276856"/>
            <a:ext cx="2011680" cy="237744"/>
          </a:xfrm>
          <a:prstGeom prst="rect">
            <a:avLst/>
          </a:prstGeom>
          <a:solidFill>
            <a:srgbClr val="C97928"/>
          </a:solidFill>
          <a:ln w="12700">
            <a:solidFill>
              <a:srgbClr val="C979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7909560" y="2212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</a:rPr>
              <a:t>few swaps, still slow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2990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Insertion Sort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2971800" y="3026664"/>
            <a:ext cx="4663440" cy="237744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2971800" y="3026664"/>
            <a:ext cx="2834640" cy="237744"/>
          </a:xfrm>
          <a:prstGeom prst="rect">
            <a:avLst/>
          </a:prstGeom>
          <a:solidFill>
            <a:srgbClr val="0B8FA3"/>
          </a:solidFill>
          <a:ln w="12700">
            <a:solidFill>
              <a:srgbClr val="0B8FA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909560" y="29626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</a:rPr>
              <a:t>good on nearly sorted data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3739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Merge Sort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2971800" y="3776472"/>
            <a:ext cx="4663440" cy="237744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2971800" y="3776472"/>
            <a:ext cx="4297680" cy="237744"/>
          </a:xfrm>
          <a:prstGeom prst="rect">
            <a:avLst/>
          </a:prstGeom>
          <a:solidFill>
            <a:srgbClr val="2F6EAB"/>
          </a:solidFill>
          <a:ln w="12700">
            <a:solidFill>
              <a:srgbClr val="2F6EA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909560" y="37124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</a:rPr>
              <a:t>predictable O(n log n)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4897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Quick Sort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2971800" y="4526280"/>
            <a:ext cx="4663440" cy="237744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2971800" y="4526280"/>
            <a:ext cx="4480560" cy="237744"/>
          </a:xfrm>
          <a:prstGeom prst="rect">
            <a:avLst/>
          </a:prstGeom>
          <a:solidFill>
            <a:srgbClr val="6A5AAE"/>
          </a:solidFill>
          <a:ln w="12700">
            <a:solidFill>
              <a:srgbClr val="6A5AA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909560" y="44622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770"/>
                </a:solidFill>
              </a:rPr>
              <a:t>often fast, worst case matters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14400" y="5532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5B6770"/>
                </a:solidFill>
              </a:rPr>
              <a:t>The bar length is qualitative: it represents typical usefulness for larger datasets, not exact runtime.</a:t>
            </a:r>
            <a:endParaRPr lang="en-US" sz="15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ACTIVITY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Guided exercise: sort patient records correctly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EAB"/>
                </a:solidFill>
              </a:rPr>
              <a:t>Problem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1536192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50" dirty="0">
                <a:solidFill>
                  <a:srgbClr val="374151"/>
                </a:solidFill>
              </a:rPr>
              <a:t>Given a list of patient records, sort them for a clinical dashboard using priority first and arrival time second.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8FA3"/>
                </a:solidFill>
              </a:rPr>
              <a:t>Rules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960120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Lower priority number means more urgent.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If two patients have the same priority, earlier arrival comes first.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If arrival time is missing, place the record at the end and flag it for review.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• Write pseudocode and specify which field is the primary key and secondary key.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6EAB"/>
                </a:solidFill>
              </a:rPr>
              <a:t>Discussion question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956048"/>
            <a:ext cx="9875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24D"/>
                </a:solidFill>
              </a:rPr>
              <a:t>Why is a stable sorting algorithm useful when two records have equal keys?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MINI-LAB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Python-like implementation tasks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F6EAB"/>
                </a:solidFill>
              </a:rPr>
              <a:t>Task 1 — sort simple values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4937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</a:rPr>
              <a:t>Sort the list of glucose values in ascending order and identify the lowest and highest value.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B8FA3"/>
                </a:solidFill>
              </a:rPr>
              <a:t>Task 2 — sort records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68680" y="2944368"/>
            <a:ext cx="4937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</a:rPr>
              <a:t>Sort patient dictionaries by latest_glucose, then discuss whether this is clinically sufficient for prioritization.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3877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6A5AAE"/>
                </a:solidFill>
              </a:rPr>
              <a:t>Task 3 — compare algorithms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68680" y="4242816"/>
            <a:ext cx="4937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374151"/>
                </a:solidFill>
              </a:rPr>
              <a:t>Trace Bubble Sort and Merge Sort on the same list. Which one performs fewer conceptual passes?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0" y="1325880"/>
            <a:ext cx="4206240" cy="356616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812280" y="1600200"/>
            <a:ext cx="374904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glucose_values = [181, 68, 135, 92, 210, 75]</a:t>
            </a:r>
            <a:endParaRPr lang="en-US" sz="1330" dirty="0"/>
          </a:p>
          <a:p>
            <a:pPr marL="0" indent="0">
              <a:buNone/>
            </a:pP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patients = [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{"id":"P1", "glucose":95},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{"id":"P2", "glucose":182},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{"id":"P3", "glucose":68}</a:t>
            </a:r>
            <a:endParaRPr lang="en-US" sz="1330" dirty="0"/>
          </a:p>
          <a:p>
            <a:pPr marL="0" indent="0">
              <a:buNone/>
            </a:pPr>
            <a:r>
              <a:rPr lang="en-US" sz="133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SYNTHESIS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298448"/>
            <a:ext cx="100584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Sorting reorganizes elements according to a chosen key and order.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Simple algorithms are useful for learning but often have O(n²) behavior.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Merge Sort and Quick Sort introduce efficient divide-and-conquer strategies.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Algorithm selection depends on scale, memory, stability and data quality.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healthcare, sorting must respect clinical meaning, metadata, missing values and ties.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40080" y="1024128"/>
            <a:ext cx="10241280" cy="0"/>
          </a:xfrm>
          <a:prstGeom prst="line">
            <a:avLst/>
          </a:prstGeom>
          <a:noFill/>
          <a:ln w="12700">
            <a:solidFill>
              <a:srgbClr val="D4E2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658368" y="274320"/>
            <a:ext cx="9509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6E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YOUR UNDERSTANDING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640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review questions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9875520" cy="3200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</a:rPr>
              <a:t>1. What is the sorting key when we order patients by age?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</a:rPr>
              <a:t>2. Why is Bubble Sort usually not appropriate for millions of measurements?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</a:rPr>
              <a:t>3. Which algorithm uses a merge operation?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</a:rPr>
              <a:t>4. What does stability mean in sorting?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</a:rPr>
              <a:t>5. Why can sorting by risk score be useful but also clinically incomplete?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97840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2F6EAB"/>
                </a:solidFill>
              </a:rPr>
              <a:t>Suggested use: individual answer for 5 minutes, then pair discussion.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9202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</a:rPr>
              <a:t>Next lesson: lists, stacks and queues in healthcare workflows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7673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F6EAB"/>
                </a:solidFill>
              </a:rPr>
              <a:t>simone.rancati01@universitadipavia.it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412480" y="1234440"/>
            <a:ext cx="2514600" cy="3886200"/>
          </a:xfrm>
          <a:prstGeom prst="rect">
            <a:avLst/>
          </a:prstGeom>
          <a:solidFill>
            <a:srgbClr val="F1F7FC"/>
          </a:solidFill>
          <a:ln w="12700">
            <a:solidFill>
              <a:srgbClr val="F1F7F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732520" y="4343400"/>
            <a:ext cx="329184" cy="502920"/>
          </a:xfrm>
          <a:prstGeom prst="rect">
            <a:avLst/>
          </a:prstGeom>
          <a:solidFill>
            <a:srgbClr val="0B8FA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9116568" y="3840480"/>
            <a:ext cx="329184" cy="1005840"/>
          </a:xfrm>
          <a:prstGeom prst="rect">
            <a:avLst/>
          </a:prstGeom>
          <a:solidFill>
            <a:srgbClr val="2F6E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9500616" y="3337560"/>
            <a:ext cx="329184" cy="1508760"/>
          </a:xfrm>
          <a:prstGeom prst="rect">
            <a:avLst/>
          </a:prstGeom>
          <a:solidFill>
            <a:srgbClr val="6A5AA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9884664" y="2834640"/>
            <a:ext cx="329184" cy="2011680"/>
          </a:xfrm>
          <a:prstGeom prst="rect">
            <a:avLst/>
          </a:prstGeom>
          <a:solidFill>
            <a:srgbClr val="C979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10268712" y="2331720"/>
            <a:ext cx="329184" cy="2514600"/>
          </a:xfrm>
          <a:prstGeom prst="rect">
            <a:avLst/>
          </a:prstGeom>
          <a:solidFill>
            <a:srgbClr val="B44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1113739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2636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73808A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4025</Words>
  <Application>Microsoft Macintosh PowerPoint</Application>
  <PresentationFormat>Widescreen</PresentationFormat>
  <Paragraphs>754</Paragraphs>
  <Slides>38</Slides>
  <Notes>38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ITS · Medical 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 — Sorting algorithms</dc:title>
  <dc:subject>Algorithms and Data Structures for Medical Informatics</dc:subject>
  <dc:creator>Simone Rancati</dc:creator>
  <cp:lastModifiedBy>RANCATI SIMONE</cp:lastModifiedBy>
  <cp:revision>4</cp:revision>
  <dcterms:created xsi:type="dcterms:W3CDTF">2026-08-19T12:31:45Z</dcterms:created>
  <dcterms:modified xsi:type="dcterms:W3CDTF">2026-09-16T20:56:36Z</dcterms:modified>
</cp:coreProperties>
</file>