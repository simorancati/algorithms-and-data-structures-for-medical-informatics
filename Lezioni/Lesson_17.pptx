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91"/>
  </p:normalViewPr>
  <p:slideViewPr>
    <p:cSldViewPr snapToGrid="0" snapToObjects="1">
      <p:cViewPr varScale="1">
        <p:scale>
          <a:sx n="103" d="100"/>
          <a:sy n="103" d="100"/>
        </p:scale>
        <p:origin x="8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5303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Algorithms and Data Structures
for Medical Informatics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244104"/>
            <a:ext cx="6035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276FBF"/>
                </a:solidFill>
                <a:latin typeface="Aptos Display"/>
              </a:rPr>
              <a:t>Lesson 17 — Introduction to Machine Learning
as an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92104"/>
            <a:ext cx="57546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5E778F"/>
                </a:solidFill>
                <a:latin typeface="Aptos"/>
              </a:rPr>
              <a:t>Datasets, samples, features, targets, training, models and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566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233142"/>
                </a:solidFill>
                <a:latin typeface="Aptos"/>
              </a:rPr>
              <a:t>ITS · Medical Informatics
08 October 2026 · 14:30–16:30
Prof. Simone </a:t>
            </a:r>
            <a:r>
              <a:rPr sz="1600" b="0" dirty="0" err="1">
                <a:solidFill>
                  <a:srgbClr val="233142"/>
                </a:solidFill>
                <a:latin typeface="Aptos"/>
              </a:rPr>
              <a:t>Rancati</a:t>
            </a:r>
            <a:r>
              <a:rPr sz="1600" b="0" dirty="0">
                <a:solidFill>
                  <a:srgbClr val="233142"/>
                </a:solidFill>
                <a:latin typeface="Aptos"/>
              </a:rPr>
              <a:t>, PhD</a:t>
            </a:r>
          </a:p>
        </p:txBody>
      </p:sp>
      <p:pic>
        <p:nvPicPr>
          <p:cNvPr id="7" name="Picture 6" descr="a_clean_modern_vector_flat_illustration_with_a_me.png"/>
          <p:cNvPicPr>
            <a:picLocks noChangeAspect="1"/>
          </p:cNvPicPr>
          <p:nvPr/>
        </p:nvPicPr>
        <p:blipFill>
          <a:blip r:embed="rId2"/>
          <a:srcRect l="40180"/>
          <a:stretch>
            <a:fillRect/>
          </a:stretch>
        </p:blipFill>
        <p:spPr>
          <a:xfrm>
            <a:off x="7048025" y="1212815"/>
            <a:ext cx="4711159" cy="44323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LESSON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Lesson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6596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1. What ML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221991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From explicit rules to learning patterns from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6596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2. Dataset 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221991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Sample, feature, target and label.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6596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3. Training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221991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How the model learns from examples.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9184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4. Inference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How trained models produce predictions.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9184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5. Biomedical examples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Diagnosis, prognosis and forecasting.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9184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6. Practice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Mini-lab, quiz and recap.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AT THE END OF THE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847088"/>
            <a:ext cx="7315200" cy="3456587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Explain why machine learning can be viewed as an algorithmic approach.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Distinguish dataset, sample, feature, target and label.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Describe the difference between training and inference.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Explain what a model learns during training.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Connect diagnostic and predictive clinical tasks to supervised learning.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Recognize common risks such as overfitting, data leakage and biased data.</a:t>
            </a:r>
          </a:p>
        </p:txBody>
      </p:sp>
      <p:pic>
        <p:nvPicPr>
          <p:cNvPr id="7" name="Picture 6" descr="a_clean_modern_medical_health_data_illustration_o.png"/>
          <p:cNvPicPr>
            <a:picLocks noChangeAspect="1"/>
          </p:cNvPicPr>
          <p:nvPr/>
        </p:nvPicPr>
        <p:blipFill>
          <a:blip r:embed="rId2"/>
          <a:srcRect l="42027"/>
          <a:stretch>
            <a:fillRect/>
          </a:stretch>
        </p:blipFill>
        <p:spPr>
          <a:xfrm>
            <a:off x="8303493" y="1885129"/>
            <a:ext cx="3200648" cy="31071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introduce Machine Learning in a course on algorithms?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259975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Machine learning is not separate from algorithms: it is a family of algorithms that learn from data.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Traditional algorithms apply explicitly written rules.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Machine-learning algorithms infer useful patterns from examples.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medicine, this can support diagnosis, risk prediction, image analysis and time-series forecasting.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Traditional algorithms vs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Traditional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4206240" cy="137518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Human writes explicit rules.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Rules + data produce the output.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Example: if glucose &lt; 70 → hypoglycemia.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67712"/>
            <a:ext cx="4023360" cy="195688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The algorithm learns rules from examples.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Data + known answers produce a model.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The model predicts answers for new cases.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06240"/>
            <a:ext cx="7498079" cy="95888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297679"/>
            <a:ext cx="724204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Key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553712"/>
            <a:ext cx="724204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Machine learning changes how the algorithm is constructed: it is learned rather than manually written.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MACHINE LEARNING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From biomedical data to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1874519" cy="10058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" y="2423160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Biomedical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679191"/>
            <a:ext cx="1618487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t>patients, signals, images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2834640"/>
            <a:ext cx="274320" cy="0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40" y="2331720"/>
            <a:ext cx="1874519" cy="10058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62656" y="2423160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2679191"/>
            <a:ext cx="1618487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t>samples × features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09160" y="2834640"/>
            <a:ext cx="274320" cy="0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83480" y="2331720"/>
            <a:ext cx="1874519" cy="10058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11496" y="2423160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1496" y="2679191"/>
            <a:ext cx="1618487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t>learn model parameters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0" y="2834640"/>
            <a:ext cx="274320" cy="0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132320" y="2331720"/>
            <a:ext cx="1874519" cy="10058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0336" y="2423160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0336" y="2679191"/>
            <a:ext cx="1618487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t>pattern encoded by algorithm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06840" y="2834640"/>
            <a:ext cx="274320" cy="0"/>
          </a:xfrm>
          <a:prstGeom prst="line">
            <a:avLst/>
          </a:prstGeom>
          <a:ln w="2540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81160" y="2331720"/>
            <a:ext cx="1874519" cy="10058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09176" y="2423160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Inference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9176" y="2679191"/>
            <a:ext cx="1618487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t>prediction on new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114800"/>
            <a:ext cx="9692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33142"/>
                </a:solidFill>
                <a:latin typeface="Aptos"/>
              </a:rPr>
              <a:t>A machine-learning system is still an algorithmic pipeline with inputs, operations and outputs.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DATASET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is a dataset?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669280" cy="415094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dataset is a structured collection of examples used for analysis or learning.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supervised learning, each example usually contains input information and a known target.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medical informatics, one example may be one patient, one image, one signal window or one visit.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dataset design determines what the model can learn.</a:t>
            </a:r>
          </a:p>
        </p:txBody>
      </p: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A05E6A52-7CC8-C0BD-2B93-3F23BCF153EA}"/>
              </a:ext>
            </a:extLst>
          </p:cNvPr>
          <p:cNvGrpSpPr/>
          <p:nvPr/>
        </p:nvGrpSpPr>
        <p:grpSpPr>
          <a:xfrm>
            <a:off x="7012459" y="2276642"/>
            <a:ext cx="2800041" cy="2011679"/>
            <a:chOff x="6492240" y="1965960"/>
            <a:chExt cx="2285999" cy="1536192"/>
          </a:xfrm>
        </p:grpSpPr>
        <p:grpSp>
          <p:nvGrpSpPr>
            <p:cNvPr id="38" name="Gruppo 37">
              <a:extLst>
                <a:ext uri="{FF2B5EF4-FFF2-40B4-BE49-F238E27FC236}">
                  <a16:creationId xmlns:a16="http://schemas.microsoft.com/office/drawing/2014/main" id="{6A4D96FA-94EA-0329-6E75-A613DCCDA4FB}"/>
                </a:ext>
              </a:extLst>
            </p:cNvPr>
            <p:cNvGrpSpPr/>
            <p:nvPr/>
          </p:nvGrpSpPr>
          <p:grpSpPr>
            <a:xfrm>
              <a:off x="6492240" y="1965960"/>
              <a:ext cx="2285999" cy="1536192"/>
              <a:chOff x="6492240" y="1965960"/>
              <a:chExt cx="2285999" cy="1536192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6492240" y="1965960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Rounded Rectangle 7"/>
              <p:cNvSpPr/>
              <p:nvPr/>
            </p:nvSpPr>
            <p:spPr>
              <a:xfrm>
                <a:off x="6876288" y="1965960"/>
                <a:ext cx="365759" cy="29260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7260336" y="1965960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7644383" y="1965960"/>
                <a:ext cx="365759" cy="29260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>
                <a:off x="8028431" y="1965960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8412480" y="1965960"/>
                <a:ext cx="365759" cy="29260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6492240" y="2276856"/>
                <a:ext cx="365759" cy="29260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6876288" y="2276856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7260336" y="2276856"/>
                <a:ext cx="365759" cy="29260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Rounded Rectangle 15"/>
              <p:cNvSpPr/>
              <p:nvPr/>
            </p:nvSpPr>
            <p:spPr>
              <a:xfrm>
                <a:off x="7644383" y="2276856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Rounded Rectangle 16"/>
              <p:cNvSpPr/>
              <p:nvPr/>
            </p:nvSpPr>
            <p:spPr>
              <a:xfrm>
                <a:off x="8028431" y="2276856"/>
                <a:ext cx="365759" cy="29260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Rounded Rectangle 17"/>
              <p:cNvSpPr/>
              <p:nvPr/>
            </p:nvSpPr>
            <p:spPr>
              <a:xfrm>
                <a:off x="8412480" y="2276856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6492240" y="2587752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Rounded Rectangle 19"/>
              <p:cNvSpPr/>
              <p:nvPr/>
            </p:nvSpPr>
            <p:spPr>
              <a:xfrm>
                <a:off x="6876288" y="2587752"/>
                <a:ext cx="365759" cy="29260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Rounded Rectangle 20"/>
              <p:cNvSpPr/>
              <p:nvPr/>
            </p:nvSpPr>
            <p:spPr>
              <a:xfrm>
                <a:off x="7260336" y="2587752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Rounded Rectangle 21"/>
              <p:cNvSpPr/>
              <p:nvPr/>
            </p:nvSpPr>
            <p:spPr>
              <a:xfrm>
                <a:off x="7644383" y="2587752"/>
                <a:ext cx="365759" cy="29260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Rounded Rectangle 22"/>
              <p:cNvSpPr/>
              <p:nvPr/>
            </p:nvSpPr>
            <p:spPr>
              <a:xfrm>
                <a:off x="8028431" y="2587752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Rounded Rectangle 23"/>
              <p:cNvSpPr/>
              <p:nvPr/>
            </p:nvSpPr>
            <p:spPr>
              <a:xfrm>
                <a:off x="8412480" y="2587752"/>
                <a:ext cx="365759" cy="29260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Rounded Rectangle 24"/>
              <p:cNvSpPr/>
              <p:nvPr/>
            </p:nvSpPr>
            <p:spPr>
              <a:xfrm>
                <a:off x="6492240" y="2898648"/>
                <a:ext cx="365759" cy="29260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Rounded Rectangle 25"/>
              <p:cNvSpPr/>
              <p:nvPr/>
            </p:nvSpPr>
            <p:spPr>
              <a:xfrm>
                <a:off x="6876288" y="2898648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Rounded Rectangle 26"/>
              <p:cNvSpPr/>
              <p:nvPr/>
            </p:nvSpPr>
            <p:spPr>
              <a:xfrm>
                <a:off x="7260336" y="2898648"/>
                <a:ext cx="365759" cy="29260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Rounded Rectangle 27"/>
              <p:cNvSpPr/>
              <p:nvPr/>
            </p:nvSpPr>
            <p:spPr>
              <a:xfrm>
                <a:off x="7644383" y="2898648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Rounded Rectangle 28"/>
              <p:cNvSpPr/>
              <p:nvPr/>
            </p:nvSpPr>
            <p:spPr>
              <a:xfrm>
                <a:off x="8028431" y="2898648"/>
                <a:ext cx="365759" cy="29260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Rounded Rectangle 29"/>
              <p:cNvSpPr/>
              <p:nvPr/>
            </p:nvSpPr>
            <p:spPr>
              <a:xfrm>
                <a:off x="8412480" y="2898648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Rounded Rectangle 30"/>
              <p:cNvSpPr/>
              <p:nvPr/>
            </p:nvSpPr>
            <p:spPr>
              <a:xfrm>
                <a:off x="6492240" y="3209544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Rounded Rectangle 31"/>
              <p:cNvSpPr/>
              <p:nvPr/>
            </p:nvSpPr>
            <p:spPr>
              <a:xfrm>
                <a:off x="6876288" y="3209544"/>
                <a:ext cx="365759" cy="29260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Rounded Rectangle 32"/>
              <p:cNvSpPr/>
              <p:nvPr/>
            </p:nvSpPr>
            <p:spPr>
              <a:xfrm>
                <a:off x="7260336" y="3209544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Rounded Rectangle 33"/>
              <p:cNvSpPr/>
              <p:nvPr/>
            </p:nvSpPr>
            <p:spPr>
              <a:xfrm>
                <a:off x="7644383" y="3209544"/>
                <a:ext cx="365759" cy="29260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Rounded Rectangle 34"/>
              <p:cNvSpPr/>
              <p:nvPr/>
            </p:nvSpPr>
            <p:spPr>
              <a:xfrm>
                <a:off x="8028431" y="3209544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36" name="Rounded Rectangle 35"/>
            <p:cNvSpPr/>
            <p:nvPr/>
          </p:nvSpPr>
          <p:spPr>
            <a:xfrm>
              <a:off x="8412480" y="3209544"/>
              <a:ext cx="365759" cy="2926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1EC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446520" y="4389119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dirty="0">
                <a:solidFill>
                  <a:srgbClr val="5E778F"/>
                </a:solidFill>
                <a:latin typeface="Aptos"/>
              </a:rPr>
              <a:t>Dataset = rows of samples × columns of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DATASET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is a sample?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sample is one individual example in the dataset.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For a tabular clinical dataset, a sample may be one patient.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For image analysis, a sample may be one radiological image.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For time series, a sample may be one sliding window of ECG or CGM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01952"/>
            <a:ext cx="3749039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1993392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Patient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49424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Age, BMI, glucose, blood pressure, diagnosis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852928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2944368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Image sample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00400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One chest X-ray with label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03904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3895344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Signal sample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4151376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One ECG segment or CGM window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DATASET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is a feature?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57784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feature is an input variable used by the model.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Features describe each sample numerically or categorically.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Examples include age, BMI, heart rate, glucose variability or image-derived values.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Feature quality strongly influences model quality.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74519"/>
            <a:ext cx="3749039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196596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Demographic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21991"/>
            <a:ext cx="3493007" cy="1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t>age, sex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560320"/>
            <a:ext cx="3749039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265176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Clinical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907791"/>
            <a:ext cx="3493007" cy="1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t>blood pressure, diagnosis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246120"/>
            <a:ext cx="3749039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333756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Laboratory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3593591"/>
            <a:ext cx="3493007" cy="1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t>HbA1c, creatinine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931920"/>
            <a:ext cx="3749039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28816" y="4023359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Signal-derived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4279392"/>
            <a:ext cx="3493007" cy="1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t>mean HR, glucose trend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DATASET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is a target?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target is the output the model is trained to predict.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classification, the target is a class label.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regression, the target is a continuous value.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target must be defined carefully because it determines the clinical question.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Classification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disease present vs absent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Regression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future glucose value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3192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4023359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Risk prediction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427939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hospital readmission within 30 days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DATASET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Target, label and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4206240" cy="137518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The variable we want to predict.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General term used in supervised learning.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Can be categorical or continuous.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67712"/>
            <a:ext cx="4023360" cy="137518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Often used for classification targets.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Example: normal vs abnormal ECG.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Must be reliable and consistently assigned.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06240"/>
            <a:ext cx="7498079" cy="5486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297679"/>
            <a:ext cx="724204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Clinical caution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553712"/>
            <a:ext cx="724204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The model cannot learn a reliable task if the labels are noisy or poorly defined.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TABULAR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Patient dataset for diabetes-risk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Rows = patients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206240" cy="102021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Each row is one patient sample.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Rows should be independent enough for evaluation.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Columns = features +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4023360" cy="131106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Age, BMI, glucose and blood pressure are features.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Future diabetes diagnosis is the target.</a:t>
            </a:r>
          </a:p>
        </p:txBody>
      </p:sp>
      <p:grpSp>
        <p:nvGrpSpPr>
          <p:cNvPr id="38" name="Gruppo 37">
            <a:extLst>
              <a:ext uri="{FF2B5EF4-FFF2-40B4-BE49-F238E27FC236}">
                <a16:creationId xmlns:a16="http://schemas.microsoft.com/office/drawing/2014/main" id="{A3296A29-3123-215D-A0FE-5BB2F7D64563}"/>
              </a:ext>
            </a:extLst>
          </p:cNvPr>
          <p:cNvGrpSpPr/>
          <p:nvPr/>
        </p:nvGrpSpPr>
        <p:grpSpPr>
          <a:xfrm>
            <a:off x="4032504" y="3922776"/>
            <a:ext cx="3273552" cy="804671"/>
            <a:chOff x="2011680" y="3840480"/>
            <a:chExt cx="3273552" cy="804671"/>
          </a:xfrm>
        </p:grpSpPr>
        <p:grpSp>
          <p:nvGrpSpPr>
            <p:cNvPr id="37" name="Gruppo 36">
              <a:extLst>
                <a:ext uri="{FF2B5EF4-FFF2-40B4-BE49-F238E27FC236}">
                  <a16:creationId xmlns:a16="http://schemas.microsoft.com/office/drawing/2014/main" id="{215C49EC-DBBE-CCE4-829E-BD20F56AB0F8}"/>
                </a:ext>
              </a:extLst>
            </p:cNvPr>
            <p:cNvGrpSpPr/>
            <p:nvPr/>
          </p:nvGrpSpPr>
          <p:grpSpPr>
            <a:xfrm>
              <a:off x="2011680" y="3840480"/>
              <a:ext cx="3273552" cy="804671"/>
              <a:chOff x="2011680" y="3840480"/>
              <a:chExt cx="3273552" cy="804671"/>
            </a:xfrm>
          </p:grpSpPr>
          <p:sp>
            <p:nvSpPr>
              <p:cNvPr id="12" name="Rounded Rectangle 11"/>
              <p:cNvSpPr/>
              <p:nvPr/>
            </p:nvSpPr>
            <p:spPr>
              <a:xfrm>
                <a:off x="2011680" y="3840480"/>
                <a:ext cx="393192" cy="256031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2423160" y="3840480"/>
                <a:ext cx="393192" cy="256031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2834640" y="3840480"/>
                <a:ext cx="393192" cy="256031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3246120" y="3840480"/>
                <a:ext cx="393192" cy="256031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Rounded Rectangle 15"/>
              <p:cNvSpPr/>
              <p:nvPr/>
            </p:nvSpPr>
            <p:spPr>
              <a:xfrm>
                <a:off x="3657600" y="3840480"/>
                <a:ext cx="393192" cy="256031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Rounded Rectangle 16"/>
              <p:cNvSpPr/>
              <p:nvPr/>
            </p:nvSpPr>
            <p:spPr>
              <a:xfrm>
                <a:off x="4069080" y="3840480"/>
                <a:ext cx="393192" cy="256031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Rounded Rectangle 17"/>
              <p:cNvSpPr/>
              <p:nvPr/>
            </p:nvSpPr>
            <p:spPr>
              <a:xfrm>
                <a:off x="4480560" y="3840480"/>
                <a:ext cx="393192" cy="256031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4892040" y="3840480"/>
                <a:ext cx="393192" cy="256031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Rounded Rectangle 19"/>
              <p:cNvSpPr/>
              <p:nvPr/>
            </p:nvSpPr>
            <p:spPr>
              <a:xfrm>
                <a:off x="2011680" y="4114800"/>
                <a:ext cx="393192" cy="256031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Rounded Rectangle 20"/>
              <p:cNvSpPr/>
              <p:nvPr/>
            </p:nvSpPr>
            <p:spPr>
              <a:xfrm>
                <a:off x="2423160" y="4114800"/>
                <a:ext cx="393192" cy="256031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Rounded Rectangle 21"/>
              <p:cNvSpPr/>
              <p:nvPr/>
            </p:nvSpPr>
            <p:spPr>
              <a:xfrm>
                <a:off x="2834640" y="4114800"/>
                <a:ext cx="393192" cy="256031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Rounded Rectangle 22"/>
              <p:cNvSpPr/>
              <p:nvPr/>
            </p:nvSpPr>
            <p:spPr>
              <a:xfrm>
                <a:off x="3246120" y="4114800"/>
                <a:ext cx="393192" cy="256031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Rounded Rectangle 23"/>
              <p:cNvSpPr/>
              <p:nvPr/>
            </p:nvSpPr>
            <p:spPr>
              <a:xfrm>
                <a:off x="3657600" y="4114800"/>
                <a:ext cx="393192" cy="256031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Rounded Rectangle 24"/>
              <p:cNvSpPr/>
              <p:nvPr/>
            </p:nvSpPr>
            <p:spPr>
              <a:xfrm>
                <a:off x="4069080" y="4114800"/>
                <a:ext cx="393192" cy="256031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Rounded Rectangle 25"/>
              <p:cNvSpPr/>
              <p:nvPr/>
            </p:nvSpPr>
            <p:spPr>
              <a:xfrm>
                <a:off x="4480560" y="4114800"/>
                <a:ext cx="393192" cy="256031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Rounded Rectangle 26"/>
              <p:cNvSpPr/>
              <p:nvPr/>
            </p:nvSpPr>
            <p:spPr>
              <a:xfrm>
                <a:off x="4892040" y="4114800"/>
                <a:ext cx="393192" cy="256031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Rounded Rectangle 27"/>
              <p:cNvSpPr/>
              <p:nvPr/>
            </p:nvSpPr>
            <p:spPr>
              <a:xfrm>
                <a:off x="2011680" y="4389120"/>
                <a:ext cx="393192" cy="256031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Rounded Rectangle 28"/>
              <p:cNvSpPr/>
              <p:nvPr/>
            </p:nvSpPr>
            <p:spPr>
              <a:xfrm>
                <a:off x="2423160" y="4389120"/>
                <a:ext cx="393192" cy="256031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Rounded Rectangle 29"/>
              <p:cNvSpPr/>
              <p:nvPr/>
            </p:nvSpPr>
            <p:spPr>
              <a:xfrm>
                <a:off x="2834640" y="4389120"/>
                <a:ext cx="393192" cy="256031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Rounded Rectangle 30"/>
              <p:cNvSpPr/>
              <p:nvPr/>
            </p:nvSpPr>
            <p:spPr>
              <a:xfrm>
                <a:off x="3246120" y="4389120"/>
                <a:ext cx="393192" cy="256031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Rounded Rectangle 31"/>
              <p:cNvSpPr/>
              <p:nvPr/>
            </p:nvSpPr>
            <p:spPr>
              <a:xfrm>
                <a:off x="3657600" y="4389120"/>
                <a:ext cx="393192" cy="256031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Rounded Rectangle 32"/>
              <p:cNvSpPr/>
              <p:nvPr/>
            </p:nvSpPr>
            <p:spPr>
              <a:xfrm>
                <a:off x="4069080" y="4389120"/>
                <a:ext cx="393192" cy="256031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Rounded Rectangle 33"/>
              <p:cNvSpPr/>
              <p:nvPr/>
            </p:nvSpPr>
            <p:spPr>
              <a:xfrm>
                <a:off x="4480560" y="4389120"/>
                <a:ext cx="393192" cy="256031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35" name="Rounded Rectangle 34"/>
            <p:cNvSpPr/>
            <p:nvPr/>
          </p:nvSpPr>
          <p:spPr>
            <a:xfrm>
              <a:off x="4892040" y="4389120"/>
              <a:ext cx="393192" cy="256031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1EC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2011680" y="480060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E778F"/>
                </a:solidFill>
                <a:latin typeface="Aptos"/>
              </a:rPr>
              <a:t>features → model input; target → expected answer during training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LEARNING 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Supervised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Supervised learning uses examples with known targets.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model learns a mapping from inputs to outputs.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is the most common starting point for clinical prediction tasks.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Examples include diagnosis classification, risk prediction and outcome forecasting.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6596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5740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Input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31343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patient features, image, signal window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88036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297180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Target 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2783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diagnosis, outcome, future value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94760"/>
            <a:ext cx="3749039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388620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414223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learn f(X) ≈ 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TASK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Classification vs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206240" cy="102021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Predicts a category or class.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Examples: disease/no disease, normal/abnormal, risk group.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4023360" cy="102021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Predicts a continuous value.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Examples: future glucose, length of stay, biomarker value.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06240"/>
            <a:ext cx="7498079" cy="5486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297679"/>
            <a:ext cx="724204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Key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553712"/>
            <a:ext cx="724204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The target type determines the learning task and the evaluation metrics.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happens during training?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Training is the phase in which the algorithm learns from examples.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model receives inputs and known targets.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adjusts internal parameters to reduce prediction errors.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result is a trained model that can be used on new cases.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74519"/>
            <a:ext cx="3749039" cy="51206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196596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4" y="2148840"/>
            <a:ext cx="3493007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rPr dirty="0"/>
              <a:t>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542032"/>
            <a:ext cx="3749039" cy="51206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2633472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Known 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5" y="2802636"/>
            <a:ext cx="3493007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rPr dirty="0"/>
              <a:t>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209544"/>
            <a:ext cx="3749039" cy="51206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3300984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Learning algorithm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3470148"/>
            <a:ext cx="3493007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rPr dirty="0"/>
              <a:t>updates parameters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877056"/>
            <a:ext cx="3749039" cy="51206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28816" y="3968496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Trained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4151376"/>
            <a:ext cx="3493007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rPr dirty="0"/>
              <a:t>ready for inference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Prediction error and loss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66928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loss function measures how wrong the model prediction is during training.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learning algorithm tries to minimize this loss.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For classification, the loss compares predicted probabilities with true labels.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For regression, the loss compares predicted values with observed values.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model says: risk = 0.82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True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patient outcome = positive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31920"/>
            <a:ext cx="3749039" cy="74980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4023359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427939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numerical penalty for the error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is a machine-learning model?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98754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model is the learned mathematical object used to make predictions.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may be simple, such as a linear model, or complex, such as a neural network.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model stores patterns learned from training data.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model is not the same as the dataset: it is learned from the dataset.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Parameters and hyperparameters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206240" cy="137518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Values learned from the data.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Examples: weights of a linear model or neural network.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Changed during training.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Hyperparameters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4023360" cy="137518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Choices set before training.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Examples: number of trees, learning rate, model depth.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Chosen by design or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06240"/>
            <a:ext cx="7498079" cy="5486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297679"/>
            <a:ext cx="724204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Practical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553712"/>
            <a:ext cx="724204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Good machine learning requires both learning and careful design choices.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happens after training?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Inference is the phase in which a trained model is applied to new data.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target is unknown at the moment of prediction.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model outputs a predicted class, value or probability.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Clinical use should always consider uncertainty, validation and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57400"/>
            <a:ext cx="3749039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14884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New patient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404872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features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Trained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learned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94760"/>
            <a:ext cx="3749039" cy="65836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388620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4142232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risk / diagnosis / value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TRAINING VS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Two different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206240" cy="137518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Uses examples with known targets.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Learns model parameters.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Usually performed offline or periodically.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4023360" cy="1666034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Uses new examples without known targets.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Applies the trained model.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Produces predictions for decision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06240"/>
            <a:ext cx="7498079" cy="5486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297679"/>
            <a:ext cx="724204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Key distinction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553712"/>
            <a:ext cx="724204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During training the answer is known; during inference the answer is what we want to predict.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EVALUATION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we split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model must be evaluated on data not used for training.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Training performance alone can be overly optimistic.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test set simulates future unseen cases.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medicine, validation must reflect the intended clinical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65960"/>
            <a:ext cx="3749039" cy="6858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5740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Training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313432"/>
            <a:ext cx="3493007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used to learn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834640"/>
            <a:ext cx="3749039" cy="68580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292608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Validation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182112"/>
            <a:ext cx="3493007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used to tune choices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03320"/>
            <a:ext cx="3749039" cy="68580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3794759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Test 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4050791"/>
            <a:ext cx="3493007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used for final evaluation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CORE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Overfitting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57784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Overfitting occurs when a model learns the training data too specifically.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model may perform very well during training but poorly on new patients.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is especially dangerous in small biomedical datasets.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Evaluation on independent data is essential.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Training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Very high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New-patient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Low or unstable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3192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4023359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427939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Model memorized noise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CORE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Data 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59975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Data leakage occurs when information from the future or from the test set contaminates training.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can make model performance look unrealistically good.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clinical datasets, leakage can occur through duplicated patients, future lab values or preprocessing done before splitting.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Leakage prevention is part of correct algorithm design.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Diagnosis as a classification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298754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input is a set of patient features, image features or signal features.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target is a diagnostic category.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model learns patterns associated with each category.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output may be a predicted class and a probability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symptoms + labs + imaging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disease present / absent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31920"/>
            <a:ext cx="3749039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4023359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427939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predicted diagnosis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Prognosis and risk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59975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Prognostic models estimate what may happen in the future.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Examples include readmission risk, complication risk or disease progression.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time horizon must be defined clearly.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prediction is clinically meaningful only when the target is well defined.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Forecasting as a regression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2651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Forecasting predicts a future continuous value.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Example: use past CGM values to predict glucose 30 minutes ahead.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input is a temporal window.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target is a future measurement.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Input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glucose from the last hour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learns temporal pattern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31920"/>
            <a:ext cx="3749039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4023359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427939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glucose in 30 minutes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Medical-image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57784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medical image can be a sample in a machine-learning dataset.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Features may be manually extracted or learned automatically by deep-learning models.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target can be normal/abnormal, disease class or risk category.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connects image matrices and tensors to predictive algorithms.</a:t>
            </a:r>
          </a:p>
        </p:txBody>
      </p:sp>
      <p:pic>
        <p:nvPicPr>
          <p:cNvPr id="7" name="Picture 6" descr="wide_clean_vector_flat_infographic_scene_on_a_pale.png"/>
          <p:cNvPicPr>
            <a:picLocks noChangeAspect="1"/>
          </p:cNvPicPr>
          <p:nvPr/>
        </p:nvPicPr>
        <p:blipFill>
          <a:blip r:embed="rId2"/>
          <a:srcRect l="40541"/>
          <a:stretch>
            <a:fillRect/>
          </a:stretch>
        </p:blipFill>
        <p:spPr>
          <a:xfrm>
            <a:off x="6820930" y="1726238"/>
            <a:ext cx="4165878" cy="394311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CLINICAL ML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 complete supervised-learning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2024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Define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What should be predicted?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2024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Build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Samples, features, target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2024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Split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Train / validation / 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1868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Train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Learn from examples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1868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Measure generalization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1868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Deploy cautiously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Use with monitoring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EXAMPLES OF ML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Different algorithms, same supervised-learning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2024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k-Nearest Neighbors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predict from similar examples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2024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Decision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learn branching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2024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combine many trees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1868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Logistic 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predict probability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1868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Support Vector Machine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separate classes with a boundary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1868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Neural 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learn layered representations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INPUT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Machine learning depends on the data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2024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Tabular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patient × feature matrix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2024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height × width × channel tensors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2024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time × channel sequences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1868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token sequences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1868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Genomics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nucleotide strings or encoded matrices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1868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Graphs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nodes, edges and features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EVALUATION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How do we know whether the model works?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259975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Evaluation metrics depend on the task type.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Classification may use accuracy, sensitivity, specificity, precision, recall or AUC.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Regression may use MAE, RMSE or R².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healthcare, clinical meaning is as important as numerical performance.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CLINICAL CAUTION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 prediction is not automatically 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221195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Machine-learning models produce predictions, not clinical truth.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Predictions should be interpreted in context.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Clinical workflow, uncertainty, bias and safety must be considered.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useful model should support human decision-making rather than replace clinical reasoning.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can go wrong?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Poor target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76272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The model learns the wrong clinical question.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2024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Small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176272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High risk of unstable results.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614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2852928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Class imbalance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108960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Rare conditions may be poorly detected.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7614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2852928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Data leakage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108960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Unrealistically high performance.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694176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5" y="3785615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4041648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Model may work poorly for underrepresented groups.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IN-CLASS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Define an ML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266387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Choose one biomedical problem: diagnosis, risk prediction or forecasting.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Define the sample: what is one example?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Define the features: what information is used as input?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Define the target: what should the model predict?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State whether the task is classification or regression.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526280"/>
            <a:ext cx="402336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4617720"/>
            <a:ext cx="3767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Discussion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4795287"/>
            <a:ext cx="376732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sample, features, target, task 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4526280"/>
            <a:ext cx="402336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14416" y="4617720"/>
            <a:ext cx="3767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Expected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4416" y="4777740"/>
            <a:ext cx="376732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clear supervised-learning formulation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Self-check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What is a feature?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76272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An input variable used by the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2024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What is a target?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176272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The output the model should predict.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0896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20040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What is training?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456432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Learning from examples with known answers.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0896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20040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What is inference?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456432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Using the trained model on new data.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Take-home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8961120" cy="3053144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Machine learning is an algorithmic approach that learns patterns from data.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A supervised dataset contains samples, features and targets.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Training learns a model; inference applies the trained model to new data.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Diagnosis, prognosis and forecasting can be framed as machine-learning tasks.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Correct task definition, evaluation and data quality are essential in medical informatics.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2223</Words>
  <Application>Microsoft Macintosh PowerPoint</Application>
  <PresentationFormat>Widescreen</PresentationFormat>
  <Paragraphs>409</Paragraphs>
  <Slides>36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RANCATI SIMONE</cp:lastModifiedBy>
  <cp:revision>3</cp:revision>
  <dcterms:created xsi:type="dcterms:W3CDTF">2013-01-27T09:14:16Z</dcterms:created>
  <dcterms:modified xsi:type="dcterms:W3CDTF">2026-10-03T18:35:36Z</dcterms:modified>
  <cp:category/>
</cp:coreProperties>
</file>