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1"/>
  </p:normalViewPr>
  <p:slideViewPr>
    <p:cSldViewPr snapToGrid="0" snapToObjects="1">
      <p:cViewPr varScale="1">
        <p:scale>
          <a:sx n="104" d="100"/>
          <a:sy n="104" d="100"/>
        </p:scale>
        <p:origin x="8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6479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2400" b="1">
                <a:solidFill>
                  <a:srgbClr val="276FBF"/>
                </a:solidFill>
                <a:latin typeface="Aptos Display"/>
              </a:rPr>
              <a:t>Lesson 9 — Linked Lists and Dynamic Data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962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800" b="0" dirty="0">
                <a:solidFill>
                  <a:srgbClr val="5E778F"/>
                </a:solidFill>
                <a:latin typeface="Aptos"/>
              </a:rPr>
              <a:t>Arrays vs linked lists, memory organization and continuous wearable data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76517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18 September 2026 · 11:30–13:30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a_clean_modern_medical_tech_infographic_scene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60120"/>
            <a:ext cx="5715000" cy="3216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56232"/>
            <a:ext cx="297180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1947672"/>
            <a:ext cx="2715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1.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212848"/>
            <a:ext cx="271576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Why dynamic data appear in medical informatics.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856232"/>
            <a:ext cx="297180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34255" y="1947672"/>
            <a:ext cx="2715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2. Arrays revisited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4255" y="2212848"/>
            <a:ext cx="271576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Memory layout and fixed-position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856232"/>
            <a:ext cx="297180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63256" y="1947672"/>
            <a:ext cx="2715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3. Linked 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2212848"/>
            <a:ext cx="271576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Nodes, references, head, tail and null.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73552"/>
            <a:ext cx="297180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" y="3364992"/>
            <a:ext cx="2715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4.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630168"/>
            <a:ext cx="271576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Traversal, insertion and deletion.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273552"/>
            <a:ext cx="297180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34255" y="3364992"/>
            <a:ext cx="2715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5. Biomedical 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3630168"/>
            <a:ext cx="271576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Wearables and continuous acquisition.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273552"/>
            <a:ext cx="297180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63256" y="3364992"/>
            <a:ext cx="2715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6.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3630168"/>
            <a:ext cx="271576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Pseudocode, design choices and exercises.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56436"/>
            <a:ext cx="7680960" cy="40912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300">
                <a:solidFill>
                  <a:srgbClr val="233142"/>
                </a:solidFill>
                <a:latin typeface="Aptos"/>
              </a:defRPr>
            </a:pPr>
            <a:r>
              <a:rPr dirty="0"/>
              <a:t>Explain the difference between arrays and linked lists.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300">
                <a:solidFill>
                  <a:srgbClr val="233142"/>
                </a:solidFill>
                <a:latin typeface="Aptos"/>
              </a:defRPr>
            </a:pPr>
            <a:r>
              <a:rPr dirty="0"/>
              <a:t>Describe how linked lists organize memory using nodes and references.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300">
                <a:solidFill>
                  <a:srgbClr val="233142"/>
                </a:solidFill>
                <a:latin typeface="Aptos"/>
              </a:defRPr>
            </a:pPr>
            <a:r>
              <a:rPr dirty="0"/>
              <a:t>Identify the role of head, tail and null pointers.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300">
                <a:solidFill>
                  <a:srgbClr val="233142"/>
                </a:solidFill>
                <a:latin typeface="Aptos"/>
              </a:defRPr>
            </a:pPr>
            <a:r>
              <a:rPr dirty="0"/>
              <a:t>Write pseudocode for traversal, insertion and deletion.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300">
                <a:solidFill>
                  <a:srgbClr val="233142"/>
                </a:solidFill>
                <a:latin typeface="Aptos"/>
              </a:defRPr>
            </a:pPr>
            <a:r>
              <a:rPr dirty="0"/>
              <a:t>Analyze the trade-off between fast access and dynamic updates.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300">
                <a:solidFill>
                  <a:srgbClr val="233142"/>
                </a:solidFill>
                <a:latin typeface="Aptos"/>
              </a:defRPr>
            </a:pPr>
            <a:r>
              <a:rPr dirty="0"/>
              <a:t>Apply linked-list reasoning to continuous data from wearable devices.</a:t>
            </a:r>
          </a:p>
        </p:txBody>
      </p:sp>
      <p:pic>
        <p:nvPicPr>
          <p:cNvPr id="7" name="Picture 6" descr="a_clean_modern_medical_health_data_illustration_o.png"/>
          <p:cNvPicPr>
            <a:picLocks noChangeAspect="1"/>
          </p:cNvPicPr>
          <p:nvPr/>
        </p:nvPicPr>
        <p:blipFill>
          <a:blip r:embed="rId2"/>
          <a:srcRect l="41509"/>
          <a:stretch>
            <a:fillRect/>
          </a:stretch>
        </p:blipFill>
        <p:spPr>
          <a:xfrm>
            <a:off x="8110974" y="1456436"/>
            <a:ext cx="3854377" cy="3708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dynamic data management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303520" cy="375782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Biomedical systems rarely receive all data at once.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New measurements, events and reports are continuously added over time.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Wearables can generate hundreds or thousands of samples per day.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The data structure must support efficient updates without losing temporal order.</a:t>
            </a:r>
          </a:p>
        </p:txBody>
      </p:sp>
      <p:pic>
        <p:nvPicPr>
          <p:cNvPr id="7" name="Picture 6" descr="a_clean_modern_medical_tech_infographic_scene_on.png"/>
          <p:cNvPicPr>
            <a:picLocks noChangeAspect="1"/>
          </p:cNvPicPr>
          <p:nvPr/>
        </p:nvPicPr>
        <p:blipFill>
          <a:blip r:embed="rId2"/>
          <a:srcRect l="40357"/>
          <a:stretch>
            <a:fillRect/>
          </a:stretch>
        </p:blipFill>
        <p:spPr>
          <a:xfrm>
            <a:off x="6917558" y="1770966"/>
            <a:ext cx="4166943" cy="3931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Static collections vs dynamic collections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48056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83664"/>
            <a:ext cx="43342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Static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4206240" cy="156735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Size is known in advance.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Elements are accessed by position.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Memory can be allocated as one contiguous block.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050792"/>
            <a:ext cx="7315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2416" y="4197096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0D3161"/>
                </a:solidFill>
                <a:latin typeface="Aptos"/>
              </a:rPr>
              <a:t>x0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0512" y="4050792"/>
            <a:ext cx="7315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47088" y="4197096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0D3161"/>
                </a:solidFill>
                <a:latin typeface="Aptos"/>
              </a:rPr>
              <a:t>x1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15184" y="4050792"/>
            <a:ext cx="7315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4197096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0D3161"/>
                </a:solidFill>
                <a:latin typeface="Aptos"/>
              </a:rPr>
              <a:t>x2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9856" y="4050792"/>
            <a:ext cx="73152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6432" y="4197096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0D3161"/>
                </a:solidFill>
                <a:latin typeface="Aptos"/>
              </a:rPr>
              <a:t>x3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828800"/>
            <a:ext cx="448056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16752" y="1883664"/>
            <a:ext cx="43342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Dynamic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295144"/>
            <a:ext cx="4206240" cy="156735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Elements arrive over time.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Size can grow or shrink.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Memory can be connected through references.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00507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59" y="41422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x0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2846" y="4345053"/>
            <a:ext cx="582930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0" y="4325111"/>
            <a:ext cx="329183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635240" y="400507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0" y="41422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x1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336974"/>
            <a:ext cx="582930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86800" y="4325111"/>
            <a:ext cx="329184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06840" y="400507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52560" y="41422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x2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2736" y="4319921"/>
            <a:ext cx="540411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ARRAYS REVISITED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memory model of an 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107333"/>
            <a:ext cx="5303520" cy="224099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An array stores elements in consecutive memory positions.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Each element has an index.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The index allows direct access: array[</a:t>
            </a:r>
            <a:r>
              <a:rPr dirty="0" err="1"/>
              <a:t>i</a:t>
            </a:r>
            <a:r>
              <a:rPr dirty="0"/>
              <a:t>].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This is why access by position is O(1).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2496312"/>
            <a:ext cx="786384" cy="56692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34456" y="264261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92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57416" y="2496312"/>
            <a:ext cx="786384" cy="56692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3992" y="264261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135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6952" y="2496312"/>
            <a:ext cx="786384" cy="56692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53527" y="264261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181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76488" y="2496312"/>
            <a:ext cx="786384" cy="56692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13063" y="264261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68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6024" y="2496312"/>
            <a:ext cx="786384" cy="56692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2642616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110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15468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00" b="0">
                <a:solidFill>
                  <a:srgbClr val="5E778F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315468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00" b="0">
                <a:solidFill>
                  <a:srgbClr val="5E778F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315468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00" b="0">
                <a:solidFill>
                  <a:srgbClr val="5E778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315468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00" b="0">
                <a:solidFill>
                  <a:srgbClr val="5E778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4624" y="315468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00" b="0">
                <a:solidFill>
                  <a:srgbClr val="5E778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62102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0">
                <a:solidFill>
                  <a:srgbClr val="233142"/>
                </a:solidFill>
                <a:latin typeface="Aptos"/>
              </a:rPr>
              <a:t>Example: glucose_values[2] returns 181 without scanning the previous elements.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Strengths of array-based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47672"/>
            <a:ext cx="448056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2039112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Fast random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304288"/>
            <a:ext cx="422452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A measurement can be retrieved directly by index.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47672"/>
            <a:ext cx="448056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2039112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Compact memory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304288"/>
            <a:ext cx="422452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Elements are stored close together in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64992"/>
            <a:ext cx="448056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3456432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Efficient numerical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721608"/>
            <a:ext cx="422452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Arrays are ideal for vectors, matrices and image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364992"/>
            <a:ext cx="4480560" cy="10789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456432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Simple 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721608"/>
            <a:ext cx="422452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The algorithm can scan positions from 0 to n − 1.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Limitations when data change frequently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070222" cy="375782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Insertion in the middle may require shifting many elements.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Deletion may also require shifting to keep elements contiguous.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If the array has fixed capacity, growth can require allocation of a larger array.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These costs matter when updates are frequent and real-time responsiveness is important.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221991"/>
            <a:ext cx="713232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368296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624" y="2221991"/>
            <a:ext cx="713232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2368296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2221991"/>
            <a:ext cx="713232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01583" y="2368296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1392" y="2221991"/>
            <a:ext cx="713232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87967" y="2368296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83006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 dirty="0">
                <a:solidFill>
                  <a:srgbClr val="276FBF"/>
                </a:solidFill>
                <a:latin typeface="Aptos"/>
              </a:rPr>
              <a:t>Insert X between B and 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36992" y="3227832"/>
            <a:ext cx="0" cy="45720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3822192"/>
            <a:ext cx="713232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08776" y="3968496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58584" y="3822192"/>
            <a:ext cx="713232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5160" y="3968496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44968" y="3822192"/>
            <a:ext cx="713232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81544" y="3968496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31352" y="3822192"/>
            <a:ext cx="713232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67928" y="3968496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7736" y="3822192"/>
            <a:ext cx="713232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54311" y="3968496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241" y="4415364"/>
            <a:ext cx="3849623" cy="339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0" dirty="0">
                <a:solidFill>
                  <a:srgbClr val="233142"/>
                </a:solidFill>
                <a:latin typeface="Aptos"/>
              </a:rPr>
              <a:t>C and D must move one position to the 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LINKED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577840" cy="337861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A linked list is a linear data structure made of nodes.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Each node contains data and a reference to the next node.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The nodes do not need to be stored in consecutive memory positions.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The list is accessed starting from a reference called 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600" b="1">
                <a:solidFill>
                  <a:srgbClr val="276FBF"/>
                </a:solidFill>
                <a:latin typeface="Aptos"/>
              </a:rPr>
              <a:t>head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95160" y="2221991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0" y="190195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20" y="2039111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5666" y="2247447"/>
            <a:ext cx="540411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6760" y="2221991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0" y="190195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32520" y="2039111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135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1362" y="2247447"/>
            <a:ext cx="492220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38360" y="2221991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0" y="190195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04120" y="2039111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181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57612" y="2281199"/>
            <a:ext cx="502919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880037"/>
            <a:ext cx="4238368" cy="665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0" dirty="0">
                <a:solidFill>
                  <a:srgbClr val="233142"/>
                </a:solidFill>
                <a:latin typeface="Aptos"/>
              </a:rPr>
              <a:t>Each arrow is a reference: it tells the algorithm where the next node is located.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NODE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Data field and reference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47672"/>
            <a:ext cx="457200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2039112"/>
            <a:ext cx="4315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Data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304288"/>
            <a:ext cx="43159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Stores the actual information: for example a glucose value, timestamp or patient event.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27832"/>
            <a:ext cx="457200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319272"/>
            <a:ext cx="4315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Reference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584448"/>
            <a:ext cx="43159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Stores the address or link to the next node in the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359152"/>
            <a:ext cx="3200400" cy="1325880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26791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2000" b="1">
                <a:solidFill>
                  <a:srgbClr val="0D3161"/>
                </a:solidFill>
                <a:latin typeface="Aptos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7919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2000" b="1">
                <a:solidFill>
                  <a:srgbClr val="0D3161"/>
                </a:solidFill>
                <a:latin typeface="Aptos"/>
              </a:rPr>
              <a:t>next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0" y="2404872"/>
            <a:ext cx="0" cy="1234440"/>
          </a:xfrm>
          <a:prstGeom prst="line">
            <a:avLst/>
          </a:prstGeom>
          <a:ln w="2032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46520" y="395935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0" dirty="0">
                <a:solidFill>
                  <a:srgbClr val="233142"/>
                </a:solidFill>
                <a:latin typeface="Aptos"/>
              </a:rPr>
              <a:t>A node is the building block of a linked list.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Head, tail and null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120640" cy="262020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Head points to the first node.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Tail points to the last node when it is explicitly stored.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The final node points to null.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Null means there is no next node and the traversal must stop.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221991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276FBF"/>
                </a:solidFill>
                <a:latin typeface="Aptos"/>
              </a:rPr>
              <a:t>head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0" y="2423160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03720" y="208483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2221991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8306" y="2441371"/>
            <a:ext cx="452172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2404872"/>
            <a:ext cx="365761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75320" y="208483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221991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9906" y="2441371"/>
            <a:ext cx="452172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26880" y="2404872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46920" y="208483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2221991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1565" y="2454298"/>
            <a:ext cx="502919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2660" y="276905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 dirty="0">
                <a:solidFill>
                  <a:srgbClr val="276FBF"/>
                </a:solidFill>
                <a:latin typeface="Aptos"/>
              </a:rPr>
              <a:t>tail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98480" y="2404872"/>
            <a:ext cx="32004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991088" y="226771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0">
                <a:solidFill>
                  <a:srgbClr val="5E778F"/>
                </a:solidFill>
                <a:latin typeface="Aptos"/>
              </a:rPr>
              <a:t>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9380" y="3264407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0" dirty="0">
                <a:solidFill>
                  <a:srgbClr val="233142"/>
                </a:solidFill>
                <a:latin typeface="Aptos"/>
              </a:rPr>
              <a:t>The algorithm follows references until it reaches null.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SINGLY LINKED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One direction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669280" cy="2879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Each node stores exactly one reference: next.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Traversal moves from the head toward the end.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node does not know which node came before it.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This is simple and memory-efficient, but backward movement is not immediate.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63347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7706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x1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1106" y="2956230"/>
            <a:ext cx="452172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79" y="2953512"/>
            <a:ext cx="365761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818120" y="263347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7706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x2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0814" y="2980373"/>
            <a:ext cx="582930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69680" y="2953512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9720" y="263347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27706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x3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956229"/>
            <a:ext cx="609904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3016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 dirty="0">
                <a:solidFill>
                  <a:srgbClr val="276FBF"/>
                </a:solidFill>
                <a:latin typeface="Aptos"/>
              </a:rPr>
              <a:t>Direction: head → node → node → null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DOUBLY LINKED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Moving forward and backward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486400" cy="337861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Each node stores two references: previous and next.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The list can be traversed in both directions.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This is useful for navigation histories and timelines.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The cost is higher memory usage per node.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587752"/>
            <a:ext cx="1005840" cy="71323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0255" y="2679192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6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5" y="2944368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233142"/>
                </a:solidFill>
                <a:latin typeface="Aptos"/>
              </a:defRPr>
            </a:pPr>
            <a:r>
              <a:t>prev | next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79792" y="2798064"/>
            <a:ext cx="338328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479792" y="3090672"/>
            <a:ext cx="338328" cy="0"/>
          </a:xfrm>
          <a:prstGeom prst="line">
            <a:avLst/>
          </a:prstGeom>
          <a:ln w="2286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2587752"/>
            <a:ext cx="1005840" cy="71323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37576" y="2679192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60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6" y="2944368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233142"/>
                </a:solidFill>
                <a:latin typeface="Aptos"/>
              </a:defRPr>
            </a:pPr>
            <a:r>
              <a:t>prev | next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97112" y="2798064"/>
            <a:ext cx="338328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897112" y="3090672"/>
            <a:ext cx="338328" cy="0"/>
          </a:xfrm>
          <a:prstGeom prst="line">
            <a:avLst/>
          </a:prstGeom>
          <a:ln w="2286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0" y="2587752"/>
            <a:ext cx="1005840" cy="71323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54896" y="2679192"/>
            <a:ext cx="749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6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6" y="2944368"/>
            <a:ext cx="74980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233142"/>
                </a:solidFill>
                <a:latin typeface="Aptos"/>
              </a:defRPr>
            </a:pPr>
            <a:r>
              <a:t>prev |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3931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0" dirty="0">
                <a:solidFill>
                  <a:srgbClr val="233142"/>
                </a:solidFill>
                <a:latin typeface="Aptos"/>
              </a:rPr>
              <a:t>Two links per node allow bidirectional traversal.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CIRCULAR LINKED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When the last node points back to the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486400" cy="2879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In a circular linked list, the final node does not point to null.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Instead, it points back to the head.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This structure is useful for repeated cycles or round-robin scheduling.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Algorithms must avoid infinite traversal by defining a stopping condition.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40487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59" y="25420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6825" y="2752344"/>
            <a:ext cx="452172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43800" y="2724912"/>
            <a:ext cx="45720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01000" y="240487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25420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3072" y="2742953"/>
            <a:ext cx="457199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52560" y="2724912"/>
            <a:ext cx="45720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60" y="240487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55480" y="25420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5672" y="2742952"/>
            <a:ext cx="509519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12680" y="3090672"/>
            <a:ext cx="0" cy="594360"/>
          </a:xfrm>
          <a:prstGeom prst="line">
            <a:avLst/>
          </a:prstGeom>
          <a:ln w="2286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995160" y="3685032"/>
            <a:ext cx="3017520" cy="0"/>
          </a:xfrm>
          <a:prstGeom prst="line">
            <a:avLst/>
          </a:prstGeom>
          <a:ln w="2286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995160" y="3090672"/>
            <a:ext cx="0" cy="594360"/>
          </a:xfrm>
          <a:prstGeom prst="line">
            <a:avLst/>
          </a:prstGeom>
          <a:ln w="2286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OPERATION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Traversing a linked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212080" cy="270997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Traversal means visiting each node in sequence.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Start at the head.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Read the current node.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Move to </a:t>
            </a:r>
            <a:r>
              <a:rPr dirty="0" err="1"/>
              <a:t>current.next</a:t>
            </a:r>
            <a:r>
              <a:rPr dirty="0"/>
              <a:t>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Stop when current is null.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20240"/>
            <a:ext cx="4480560" cy="224028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3368" y="2103120"/>
            <a:ext cx="407822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current ← head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WHILE current ≠ null DO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    PROCESS current.data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    current ← current.next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0D3161"/>
                </a:solidFill>
                <a:latin typeface="Courier New"/>
              </a:defRPr>
            </a:pPr>
            <a:r>
              <a:t>END WHILE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50799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276FBF"/>
                </a:solidFill>
                <a:latin typeface="Aptos"/>
              </a:rPr>
              <a:t>Complexity: O(n), because every node may be visited once.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OPERATION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Insertion at the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120640" cy="262020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Create a new node.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Point the new node to the current head.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Update head so that it points to the new node.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No existing nodes need to be shifted.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920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600" b="1">
                <a:solidFill>
                  <a:srgbClr val="276FBF"/>
                </a:solidFill>
                <a:latin typeface="Aptos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26771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40487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2887" y="2643699"/>
            <a:ext cx="582930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35240" y="2587752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55279" y="226771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240487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087" y="2596896"/>
            <a:ext cx="609903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4107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600" b="1">
                <a:solidFill>
                  <a:srgbClr val="276FBF"/>
                </a:solidFill>
                <a:latin typeface="Aptos"/>
              </a:rP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776472"/>
            <a:ext cx="105156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9136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7006" y="4105656"/>
            <a:ext cx="494691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35240" y="4096511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55279" y="377647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01000" y="39136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3692" y="4096511"/>
            <a:ext cx="494691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06840" y="4096511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326880" y="377647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391363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1" y="4128981"/>
            <a:ext cx="609903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OPERATION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Insertion after a known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486400" cy="2879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If the insertion position is already known, linked insertion is efficient.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new node is connected to the next node.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Then the previous node is updated to point to the new node.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order changes without shifting an array.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5915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49631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0410" y="2696291"/>
            <a:ext cx="522123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2679192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0" y="235915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249631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82158"/>
            <a:ext cx="582930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23960" y="2679192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0" y="235915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249631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707119"/>
            <a:ext cx="609903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73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276FBF"/>
                </a:solidFill>
                <a:latin typeface="Aptos"/>
              </a:rPr>
              <a:t>Insert X after 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867912"/>
            <a:ext cx="105156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400507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224451"/>
            <a:ext cx="609904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275320" y="3044952"/>
            <a:ext cx="0" cy="82296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OPERATION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Deleting a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669280" cy="278967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To delete a node, update the previous node so that it skips the removed node.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removed node becomes unreachable from the head.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correct deletion algorithm must handle special cases: deleting the head, deleting the tail and deleting from an empty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45059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587751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5386" y="2822822"/>
            <a:ext cx="452172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2770632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0" y="2450592"/>
            <a:ext cx="1051560" cy="658368"/>
          </a:xfrm>
          <a:prstGeom prst="roundRect">
            <a:avLst/>
          </a:prstGeom>
          <a:solidFill>
            <a:srgbClr val="FCE8E8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2587751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812319"/>
            <a:ext cx="582930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23960" y="2770632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0" y="245059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2587751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562" y="2822821"/>
            <a:ext cx="492220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03720" y="3273552"/>
            <a:ext cx="2743200" cy="0"/>
          </a:xfrm>
          <a:prstGeom prst="line">
            <a:avLst/>
          </a:prstGeom>
          <a:ln w="3048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16344" y="36758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0" dirty="0">
                <a:solidFill>
                  <a:srgbClr val="233142"/>
                </a:solidFill>
                <a:latin typeface="Aptos"/>
              </a:rPr>
              <a:t>After deletion, A points directly to 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Appending a new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56232"/>
            <a:ext cx="4846320" cy="297180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39111"/>
            <a:ext cx="4443983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Algorithm AppendSample(head, value)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new_node ← Node(value)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IF head = null THEN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head ← new_node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ELSE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current ← head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WHILE current.next ≠ null DO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    current ← current.next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END WHILE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    current.next ← new_node</a:t>
            </a:r>
          </a:p>
          <a:p>
            <a:pPr>
              <a:spcAft>
                <a:spcPts val="100"/>
              </a:spcAft>
              <a:defRPr sz="1350">
                <a:solidFill>
                  <a:srgbClr val="0D3161"/>
                </a:solidFill>
                <a:latin typeface="Courier New"/>
              </a:defRPr>
            </a:pPr>
            <a:r>
              <a:t>END 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947672"/>
            <a:ext cx="4846320" cy="2743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If the list is empty, the new node becomes the head.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Otherwise, the algorithm walks to the last node.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The last node is linked to the new node.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With a stored tail pointer, append can be O(1).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Deleting the first node with a given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92224"/>
            <a:ext cx="5303520" cy="32461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975104"/>
            <a:ext cx="4901183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Algorithm DeleteFirst(head, target)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IF head = null THEN RETURN head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IF head.data = target THEN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    RETURN head.next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previous ← head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current ← head.next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WHILE current ≠ null DO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    IF current.data = target THEN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        previous.next ← current.next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        RETURN head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    previous ← current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    current ← current.next</a:t>
            </a:r>
          </a:p>
          <a:p>
            <a:pPr>
              <a:spcAft>
                <a:spcPts val="100"/>
              </a:spcAft>
              <a:defRPr sz="1220">
                <a:solidFill>
                  <a:srgbClr val="0D3161"/>
                </a:solidFill>
                <a:latin typeface="Courier New"/>
              </a:defRPr>
            </a:pPr>
            <a:r>
              <a:t>RETURN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47672"/>
            <a:ext cx="4297680" cy="275941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This algorithm must preserve the list connections.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The head case is handled separately.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If the target is not found, the original list is returned.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The worst-case complexity is O(n).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Array list vs linked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56232"/>
            <a:ext cx="20116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11096"/>
            <a:ext cx="1865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Criterion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56232"/>
            <a:ext cx="27432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1911096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Array-based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856232"/>
            <a:ext cx="27432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71032" y="1911096"/>
            <a:ext cx="2596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Linked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856232"/>
            <a:ext cx="219456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42832" y="1911096"/>
            <a:ext cx="20482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Biomedical interpretation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13432"/>
            <a:ext cx="20116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2423160"/>
            <a:ext cx="18836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Access by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313432"/>
            <a:ext cx="274320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90088" y="2423160"/>
            <a:ext cx="2615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Fast: 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2313432"/>
            <a:ext cx="274320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61888" y="2423160"/>
            <a:ext cx="2615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Slow: O(n)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313432"/>
            <a:ext cx="21945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33688" y="2423160"/>
            <a:ext cx="206654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Best for fixed signals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971800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081528"/>
            <a:ext cx="18836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Insertion at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2971800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90088" y="3081528"/>
            <a:ext cx="2615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May shift elements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2971800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61888" y="3081528"/>
            <a:ext cx="2615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Fast: O(1)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2971800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33688" y="3081528"/>
            <a:ext cx="206654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Best for dynamic events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630168"/>
            <a:ext cx="201168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3739896"/>
            <a:ext cx="18836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Memory locality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3630168"/>
            <a:ext cx="274320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90088" y="3739896"/>
            <a:ext cx="2615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Very good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97880" y="3630168"/>
            <a:ext cx="274320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61888" y="3739896"/>
            <a:ext cx="2615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Weaker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3630168"/>
            <a:ext cx="2194560" cy="5029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33688" y="3739896"/>
            <a:ext cx="206654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Important for large arrays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288536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5528" y="4398264"/>
            <a:ext cx="18836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Memory overhead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26080" y="4288536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90088" y="4398264"/>
            <a:ext cx="2615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Low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97880" y="4288536"/>
            <a:ext cx="2743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61888" y="4398264"/>
            <a:ext cx="26151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Higher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4288536"/>
            <a:ext cx="2194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33688" y="4398264"/>
            <a:ext cx="206654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20" b="0">
                <a:solidFill>
                  <a:srgbClr val="233142"/>
                </a:solidFill>
                <a:latin typeface="Aptos"/>
              </a:rPr>
              <a:t>References require space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changes in memory organization?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5623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1109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Array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404872"/>
            <a:ext cx="731520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2551176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0D3161"/>
                </a:solidFill>
                <a:latin typeface="Aptos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0512" y="2404872"/>
            <a:ext cx="731520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47088" y="2551176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0D3161"/>
                </a:solidFill>
                <a:latin typeface="Aptos"/>
              </a:rPr>
              <a:t>135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15184" y="2404872"/>
            <a:ext cx="731520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2551176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0D3161"/>
                </a:solidFill>
                <a:latin typeface="Aptos"/>
              </a:rPr>
              <a:t>181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404872"/>
            <a:ext cx="731520" cy="530352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6432" y="2551176"/>
            <a:ext cx="6583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0D3161"/>
                </a:solidFill>
                <a:latin typeface="Aptos"/>
              </a:rPr>
              <a:t>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36392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0">
                <a:solidFill>
                  <a:srgbClr val="233142"/>
                </a:solidFill>
                <a:latin typeface="Aptos"/>
              </a:rPr>
              <a:t>Contiguous positions make index-based access very efficient.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85623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191109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Linked 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377440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59" y="2514600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724524"/>
            <a:ext cx="609903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0" y="2697480"/>
            <a:ext cx="411479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80960" y="2889504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26680" y="3026663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135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2282" y="3268901"/>
            <a:ext cx="558699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32520" y="3200400"/>
            <a:ext cx="41148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98280" y="226771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0" y="240487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181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9845" y="2591859"/>
            <a:ext cx="439827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22192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0">
                <a:solidFill>
                  <a:srgbClr val="233142"/>
                </a:solidFill>
                <a:latin typeface="Aptos"/>
              </a:rPr>
              <a:t>Nodes can be stored in different memory locations and connected by references.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Linked lists require extra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577840" cy="337861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Each node stores data plus at least one reference.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The reference is necessary to connect the list.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This makes the structure flexible, but not free.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In large systems, memory overhead and allocation costs must be considered.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039112"/>
            <a:ext cx="329184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130552"/>
            <a:ext cx="3035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Array element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395728"/>
            <a:ext cx="303580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data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227832"/>
            <a:ext cx="329184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3319272"/>
            <a:ext cx="3035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Linked-list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584448"/>
            <a:ext cx="303580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600">
                <a:solidFill>
                  <a:srgbClr val="233142"/>
                </a:solidFill>
                <a:latin typeface="Aptos"/>
              </a:defRPr>
            </a:pPr>
            <a:r>
              <a:t>data + next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5079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276FBF"/>
                </a:solidFill>
                <a:latin typeface="Aptos"/>
              </a:rPr>
              <a:t>Flexibility is gained by storing links.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PERFORMANCE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Locality: why arrays can be faster in scans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577840" cy="2879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Computers are optimized for nearby memory access.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Arrays store elements next to each other.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Linked lists may jump from one memory location to another.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Even if both scans are O(n), arrays may be faster in practice for large numerical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39112"/>
            <a:ext cx="3931920" cy="9144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130552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Array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395728"/>
            <a:ext cx="36758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Sequential memory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27832"/>
            <a:ext cx="3931920" cy="91440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319272"/>
            <a:ext cx="36758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Linked-list 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584448"/>
            <a:ext cx="36758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Pointer chasing across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537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600" b="1">
                <a:solidFill>
                  <a:srgbClr val="276FBF"/>
                </a:solidFill>
                <a:latin typeface="Aptos"/>
              </a:rPr>
              <a:t>Complexity is essential, but not the whole story.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Continuous acquisition from wearable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212080" cy="3241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wearable device may send heart rate, activity, sleep or glucose-related events.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Each new sample has a timestamp.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system may append samples, remove old samples or process recent windows.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This is a dynamic data-management problem.</a:t>
            </a:r>
          </a:p>
        </p:txBody>
      </p:sp>
      <p:pic>
        <p:nvPicPr>
          <p:cNvPr id="7" name="Picture 6" descr="a_clean_modern_medical_tech_infographic_scene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81912"/>
            <a:ext cx="5029200" cy="283042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WEARABLE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sample as a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029200" cy="242771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node can store more than one field.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For wearable data, a node may include timestamp, signal type, value and quality flag.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next reference connects the sample to the following event.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39112"/>
            <a:ext cx="3840480" cy="1920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45936" y="2130552"/>
            <a:ext cx="3584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900" b="1">
                <a:solidFill>
                  <a:srgbClr val="0D3161"/>
                </a:solidFill>
                <a:latin typeface="Aptos"/>
              </a:rPr>
              <a:t>Sample 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5936" y="2395728"/>
            <a:ext cx="35844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timestamp: 10:35:00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sensor: heart_rate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value: 92 bpm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quality: valid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next: reference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0" y="2999232"/>
            <a:ext cx="73152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LINKED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Representing events in temporal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212080" cy="3241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New events can be appended as they arrive.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sequence can represent a patient timeline.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Each node is an event, measurement or clinical note.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links preserve the order of acquisition.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404872"/>
            <a:ext cx="105156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71616" y="2496312"/>
            <a:ext cx="79552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400" b="1">
                <a:solidFill>
                  <a:srgbClr val="0D3161"/>
                </a:solidFill>
                <a:latin typeface="Aptos"/>
              </a:rPr>
              <a:t>10:00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1616" y="2761488"/>
            <a:ext cx="7955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233142"/>
                </a:solidFill>
                <a:latin typeface="Aptos"/>
              </a:defRPr>
            </a:pPr>
            <a:r>
              <a:t>HR 78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67728" y="2788920"/>
            <a:ext cx="301752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69480" y="2404872"/>
            <a:ext cx="105156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97496" y="2496312"/>
            <a:ext cx="79552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400" b="1">
                <a:solidFill>
                  <a:srgbClr val="0D3161"/>
                </a:solidFill>
                <a:latin typeface="Aptos"/>
              </a:rPr>
              <a:t>10:05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7496" y="2761488"/>
            <a:ext cx="7955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233142"/>
                </a:solidFill>
                <a:latin typeface="Aptos"/>
              </a:defRPr>
            </a:pPr>
            <a:r>
              <a:t>HR 82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93608" y="2788920"/>
            <a:ext cx="301752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95360" y="2404872"/>
            <a:ext cx="105156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23376" y="2496312"/>
            <a:ext cx="79552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400" b="1">
                <a:solidFill>
                  <a:srgbClr val="0D3161"/>
                </a:solidFill>
                <a:latin typeface="Aptos"/>
              </a:rPr>
              <a:t>10:10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2761488"/>
            <a:ext cx="7955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233142"/>
                </a:solidFill>
                <a:latin typeface="Aptos"/>
              </a:defRPr>
            </a:pPr>
            <a:r>
              <a:t>HR 91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19488" y="2788920"/>
            <a:ext cx="301752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921240" y="2404872"/>
            <a:ext cx="105156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49256" y="2496312"/>
            <a:ext cx="79552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400" b="1">
                <a:solidFill>
                  <a:srgbClr val="0D3161"/>
                </a:solidFill>
                <a:latin typeface="Aptos"/>
              </a:rPr>
              <a:t>10:15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9256" y="2761488"/>
            <a:ext cx="79552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233142"/>
                </a:solidFill>
                <a:latin typeface="Aptos"/>
              </a:defRPr>
            </a:pPr>
            <a:r>
              <a:t>HR 88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IMPORTANT DESIGN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Sliding window: ring buffer or linked list?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56232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11096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Ring 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297680" cy="189481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Fixed capacity.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Very efficient for recent-window processing.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Oldest values are overwritten when the buffer is full.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56232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08192" y="1911096"/>
            <a:ext cx="45171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Linked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4297680" cy="189481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Dynamic size.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Easy insertion and deletion at known points.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dirty="0"/>
              <a:t>Useful for irregular events and audit trails.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079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0">
                <a:solidFill>
                  <a:srgbClr val="233142"/>
                </a:solidFill>
                <a:latin typeface="Aptos"/>
              </a:rPr>
              <a:t>For continuous sensors, the best structure depends on whether the system needs a fixed recent window or an expandable timeline.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CONNECTION TO PREVIOUS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Queues can be implemented with linked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486400" cy="28794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queue can use a linked list internally.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front pointer identifies the next element to remove.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rear pointer identifies where to append new elements.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With both pointers, enqueue and dequeue can be O(1).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305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276FBF"/>
                </a:solidFill>
                <a:latin typeface="Aptos"/>
              </a:rPr>
              <a:t>front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9631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63347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0410" y="2848279"/>
            <a:ext cx="522123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2816352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0" y="249631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263347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1607" y="2820847"/>
            <a:ext cx="582930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23960" y="2816352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0" y="249631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89720" y="263347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1" y="2825496"/>
            <a:ext cx="609903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2278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276FBF"/>
                </a:solidFill>
                <a:latin typeface="Aptos"/>
              </a:rPr>
              <a:t>rear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CONNECTION TO PREVIOUS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Stacks can also be implemented with linked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486400" cy="215552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stack can use a linked list where the head is the top.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Push inserts a new node at the head.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Pop removes the node at the head.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Both operations are O(1).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103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500" b="1">
                <a:solidFill>
                  <a:srgbClr val="276FBF"/>
                </a:solidFill>
                <a:latin typeface="Aptos"/>
              </a:rPr>
              <a:t>top/head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49631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263347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946" y="2801330"/>
            <a:ext cx="452172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8120" y="2816352"/>
            <a:ext cx="365759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60" y="249631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263347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30192"/>
            <a:ext cx="582930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89720" y="2816352"/>
            <a:ext cx="365760" cy="0"/>
          </a:xfrm>
          <a:prstGeom prst="line">
            <a:avLst/>
          </a:prstGeom>
          <a:ln w="2794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09760" y="2496312"/>
            <a:ext cx="10515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55480" y="2633472"/>
            <a:ext cx="6099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35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1851" y="2805478"/>
            <a:ext cx="497162" cy="2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050" b="0" dirty="0">
                <a:solidFill>
                  <a:srgbClr val="5E778F"/>
                </a:solidFill>
                <a:latin typeface="Aptos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68503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0" dirty="0">
                <a:solidFill>
                  <a:srgbClr val="233142"/>
                </a:solidFill>
                <a:latin typeface="Aptos"/>
              </a:rPr>
              <a:t>Most recent item is at the head.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Dynamic data also require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760720" cy="32414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wearable stream may contain missing values, duplicates or artifacts.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A linked list can store quality flags together with the measurement.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algorithm should decide whether to keep, reject, flag or smooth each sample.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The decision must be documented because it affects downstream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039112"/>
            <a:ext cx="3383280" cy="7772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03136" y="2130552"/>
            <a:ext cx="3127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Valid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3136" y="2395728"/>
            <a:ext cx="31272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value accepted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044952"/>
            <a:ext cx="3383280" cy="7772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03136" y="3136392"/>
            <a:ext cx="3127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Missing 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3401568"/>
            <a:ext cx="31272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flag and continue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050792"/>
            <a:ext cx="3383280" cy="77724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03136" y="4142231"/>
            <a:ext cx="3127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Artifact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4407407"/>
            <a:ext cx="312724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reject or mark for review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Building a dynamic wearable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2"/>
            <a:ext cx="5577840" cy="369312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Input: a stream of timestamped heart-rate measurements.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Goal: maintain an ordered timeline for one patient.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Operation A: append each new measurement.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Operation B: remove invalid measurements.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Operation C: traverse the timeline to compute summary statistics.</a:t>
            </a:r>
          </a:p>
        </p:txBody>
      </p:sp>
      <p:pic>
        <p:nvPicPr>
          <p:cNvPr id="7" name="Picture 6" descr="a_clean_modern_medical_health_data_illustration_o.png"/>
          <p:cNvPicPr>
            <a:picLocks noChangeAspect="1"/>
          </p:cNvPicPr>
          <p:nvPr/>
        </p:nvPicPr>
        <p:blipFill>
          <a:blip r:embed="rId2"/>
          <a:srcRect l="41075"/>
          <a:stretch>
            <a:fillRect/>
          </a:stretch>
        </p:blipFill>
        <p:spPr>
          <a:xfrm>
            <a:off x="6969210" y="1701859"/>
            <a:ext cx="4028303" cy="3847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DESIGN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Before choosing a linked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01952"/>
            <a:ext cx="4434840" cy="80467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99339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Is access by index required?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258567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If yes, arrays are often better.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901952"/>
            <a:ext cx="4434840" cy="80467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25896" y="1993392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Are insertions frequent?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5896" y="2258567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If yes, linked lists may help.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4434840" cy="80467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301752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Is the stream irregular?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282696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Linked nodes can represent event-based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926080"/>
            <a:ext cx="4434840" cy="80467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25896" y="3017520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Is memory overhead acceptable?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6" y="3282696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Each node stores at least one reference.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50208"/>
            <a:ext cx="4434840" cy="80467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4041648"/>
            <a:ext cx="417880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Is traversal frequent?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306824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Remember that list traversal is O(n).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Choose the right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9875520" cy="301752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For each scenario, choose array, linked list, queue or ring buffer.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1. Store a fixed-size ECG segment for numerical processing.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2. Append irregular wearable events during a day.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3. Maintain a waiting line for device synchronization.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4. Keep only the last 30 minutes of glucose values.</a:t>
            </a:r>
          </a:p>
          <a:p>
            <a:pPr>
              <a:lnSpc>
                <a:spcPct val="112000"/>
              </a:lnSpc>
              <a:spcAft>
                <a:spcPts val="700"/>
              </a:spcAft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Discuss your choice and the most important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960744"/>
            <a:ext cx="4114800" cy="5943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25295" y="5052184"/>
            <a:ext cx="3858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Suggested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5317360"/>
            <a:ext cx="3858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array · linked list · queue · ring buffer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4974460"/>
            <a:ext cx="4114800" cy="5943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05855" y="5065900"/>
            <a:ext cx="3858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Assessment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5855" y="5331076"/>
            <a:ext cx="3858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operation, complexity, memory and context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MINI-LAB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Design a linked timeline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6949440" cy="296921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Input: a list of new wearable samples arriving one by one.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Task: append valid samples and reject invalid ones.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Output: updated linked timeline and number of rejected samples.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Write pseudocode, not Python code.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Include at least one edge case: empty list, duplicate timestamp or missing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76272"/>
            <a:ext cx="237744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66176" y="2267712"/>
            <a:ext cx="2121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6176" y="2532888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Pseudocode + one test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410712"/>
            <a:ext cx="2377440" cy="9144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Aft>
                <a:spcPts val="700"/>
              </a:spcAft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66176" y="3502152"/>
            <a:ext cx="2121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/>
            </a:pPr>
            <a:r>
              <a:rPr sz="1700" b="1">
                <a:solidFill>
                  <a:srgbClr val="0D3161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6176" y="3767328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10 minutes + discussion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429768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144768"/>
            <a:ext cx="502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8686800" cy="422679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Arrays provide fast indexed access and compact memory representation.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Linked lists provide flexible dynamic updates through nodes and references.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The price of flexibility is additional memory and slower random access.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Continuous biomedical data acquisition requires careful decisions about memory, order and validation.</a:t>
            </a:r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2200">
                <a:solidFill>
                  <a:srgbClr val="233142"/>
                </a:solidFill>
                <a:latin typeface="Aptos"/>
              </a:defRPr>
            </a:pPr>
            <a:r>
              <a:rPr dirty="0"/>
              <a:t>Good data-structure choices make medical algorithms clearer, safer and more scalable.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2444</Words>
  <Application>Microsoft Macintosh PowerPoint</Application>
  <PresentationFormat>Widescreen</PresentationFormat>
  <Paragraphs>494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3</cp:revision>
  <dcterms:created xsi:type="dcterms:W3CDTF">2013-01-27T09:14:16Z</dcterms:created>
  <dcterms:modified xsi:type="dcterms:W3CDTF">2026-09-17T18:47:39Z</dcterms:modified>
  <cp:category/>
</cp:coreProperties>
</file>