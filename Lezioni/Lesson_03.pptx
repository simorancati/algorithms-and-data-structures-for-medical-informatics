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312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explaining that the previous lessons introduced algorithms as precise procedures. This lesson introduces a second question: not only does an algorithm work, but how well does it scale when healthcare data grow?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contract for the two-hour session. Emphasize that complexity is not an abstract mathematical topic: it is about making systems usable at clinical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objectives slowly. Ask students to keep the word “scale” in mind throughout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practical examples: opening a patient record, computing daily glucose metrics, sorting a waiting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CGM example because it is intuitive: measurements every few minutes produce large volumes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that efficiency is relative to input size and context. A slower but more clinically interpretable algorithm may still be preferred in some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n as a variable representing input size. Keep it concrete: number of CGM samples, patients,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memory is also related to hardware costs and deployment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chart to show that differences become dramatic at scale. Avoid too much mathematical detail in this introductory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confuse runtime and complexity. Give the example of a fast laptop versus an old workstation: exact time changes, growth pattern remains.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O(1) does not mean zero time. It means the time is bounded by a constant with respect to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algorithms are often acceptable if data are processed once. The problem appears when linear scans are repeated many times unnecessarily.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O(log n) usually requires structure: sorted arrays, trees or indexes. It is not automatic.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examples: comparing every patient to every other patient, computing all pairwise similarities.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key Big-O synthesis slide. Walk through the table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prepares students for the upcoming lessons on arrays, dictionaries, trees and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connect complexity to a familiar biomedical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students distinguish time complexity O(n) from additional memory complexity O(1).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connects directly to hash tables in later lessons.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going deep into priority queues here; use it as motivation for later data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important practical slides. Students will often write nested loops instinctively.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running out of memory is common in biomedical imaging and large tabular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states the course philosophy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many production systems rely on precomputed summaries and indexes rather than repeated raw scans.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reinforces lesson 1 and adds the new dimension of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students a practical heuristic. It is not a proof method, but it is useful at this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reason before showing answers. Ask them to justify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“n” is not always the number of patients: it may be values, pixels, timestamps or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can be used as a paper exercise or in Python if students are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discussion activity designed to connect complexity with data-structure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prevent over-simplified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translates the technical content into professional behavior for ITS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recap and to ask students for one example of each complexity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linking complexity to the next structural topic: arrays and matrices.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esson01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188720"/>
            <a:ext cx="4251960" cy="2395728"/>
          </a:xfrm>
          <a:prstGeom prst="rect">
            <a:avLst/>
          </a:prstGeom>
        </p:spPr>
      </p:pic>
      <p:pic>
        <p:nvPicPr>
          <p:cNvPr id="3" name="Image 1" descr="/mnt/data/lesson01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650992"/>
            <a:ext cx="2743200" cy="1124712"/>
          </a:xfrm>
          <a:prstGeom prst="rect">
            <a:avLst/>
          </a:prstGeom>
        </p:spPr>
      </p:pic>
      <p:pic>
        <p:nvPicPr>
          <p:cNvPr id="4" name="Image 2" descr="/mnt/data/lesson01_extract/ppt/media/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5486400"/>
            <a:ext cx="1005840" cy="13258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94944" y="1261872"/>
            <a:ext cx="69037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 and Data Structures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Medical Informatics</a:t>
            </a:r>
            <a:endParaRPr lang="en-US" sz="3400" dirty="0"/>
          </a:p>
        </p:txBody>
      </p:sp>
      <p:sp>
        <p:nvSpPr>
          <p:cNvPr id="6" name="Text 1"/>
          <p:cNvSpPr/>
          <p:nvPr/>
        </p:nvSpPr>
        <p:spPr>
          <a:xfrm>
            <a:off x="713232" y="2505456"/>
            <a:ext cx="6400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 — Algorithm efficiency, memory usage and computational complexity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713232" y="3218688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EAF6FD"/>
          </a:solidFill>
          <a:ln w="12700">
            <a:solidFill>
              <a:srgbClr val="EAF6F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3"/>
          <p:cNvSpPr/>
          <p:nvPr/>
        </p:nvSpPr>
        <p:spPr>
          <a:xfrm>
            <a:off x="822960" y="331012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· Medical Informatics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713232" y="3639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September 2026 · 09:30–11:30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68096" y="4498848"/>
            <a:ext cx="6400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Prof: Simone Rancati, PhD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Contact: simone.rancati01@universitadipavia.it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STRUCTURE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path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713232" y="1536192"/>
            <a:ext cx="256032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713232" y="1536192"/>
            <a:ext cx="73152" cy="1024128"/>
          </a:xfrm>
          <a:prstGeom prst="rect">
            <a:avLst/>
          </a:prstGeom>
          <a:solidFill>
            <a:srgbClr val="22B8C5"/>
          </a:solidFill>
          <a:ln w="1270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896112" y="1673352"/>
            <a:ext cx="2240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Efficiency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" y="1975104"/>
            <a:ext cx="22402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and memory as resources.</a:t>
            </a:r>
            <a:endParaRPr lang="en-US" sz="1230" dirty="0"/>
          </a:p>
        </p:txBody>
      </p:sp>
      <p:sp>
        <p:nvSpPr>
          <p:cNvPr id="11" name="Shape 8"/>
          <p:cNvSpPr/>
          <p:nvPr/>
        </p:nvSpPr>
        <p:spPr>
          <a:xfrm>
            <a:off x="3566160" y="1536192"/>
            <a:ext cx="256032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566160" y="1536192"/>
            <a:ext cx="73152" cy="1024128"/>
          </a:xfrm>
          <a:prstGeom prst="rect">
            <a:avLst/>
          </a:prstGeom>
          <a:solidFill>
            <a:srgbClr val="1F3B8F"/>
          </a:solidFill>
          <a:ln w="12700">
            <a:solidFill>
              <a:srgbClr val="1F3B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3749040" y="1673352"/>
            <a:ext cx="2240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Big-O notation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49040" y="1975104"/>
            <a:ext cx="22402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describe growth.</a:t>
            </a:r>
            <a:endParaRPr lang="en-US" sz="1230" dirty="0"/>
          </a:p>
        </p:txBody>
      </p:sp>
      <p:sp>
        <p:nvSpPr>
          <p:cNvPr id="15" name="Shape 12"/>
          <p:cNvSpPr/>
          <p:nvPr/>
        </p:nvSpPr>
        <p:spPr>
          <a:xfrm>
            <a:off x="6419088" y="1536192"/>
            <a:ext cx="256032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6419088" y="1536192"/>
            <a:ext cx="73152" cy="1024128"/>
          </a:xfrm>
          <a:prstGeom prst="rect">
            <a:avLst/>
          </a:prstGeom>
          <a:solidFill>
            <a:srgbClr val="6E67D8"/>
          </a:solidFill>
          <a:ln w="12700">
            <a:solidFill>
              <a:srgbClr val="6E6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6601968" y="1673352"/>
            <a:ext cx="2240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Main classes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01968" y="1975104"/>
            <a:ext cx="22402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O(1), O(log n), O(n), O(n²).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9272016" y="1536192"/>
            <a:ext cx="256032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7"/>
          <p:cNvSpPr/>
          <p:nvPr/>
        </p:nvSpPr>
        <p:spPr>
          <a:xfrm>
            <a:off x="9272016" y="1536192"/>
            <a:ext cx="73152" cy="1024128"/>
          </a:xfrm>
          <a:prstGeom prst="rect">
            <a:avLst/>
          </a:prstGeom>
          <a:solidFill>
            <a:srgbClr val="31B78F"/>
          </a:solidFill>
          <a:ln w="12700">
            <a:solidFill>
              <a:srgbClr val="31B7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9454896" y="1673352"/>
            <a:ext cx="2240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Biomedical scale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454896" y="1975104"/>
            <a:ext cx="22402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patients to CGM time series.</a:t>
            </a:r>
            <a:endParaRPr lang="en-US" sz="1230" dirty="0"/>
          </a:p>
        </p:txBody>
      </p:sp>
      <p:sp>
        <p:nvSpPr>
          <p:cNvPr id="23" name="Text 20"/>
          <p:cNvSpPr/>
          <p:nvPr/>
        </p:nvSpPr>
        <p:spPr>
          <a:xfrm>
            <a:off x="960120" y="3017520"/>
            <a:ext cx="102412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the lesson, students should be able to estimate how an algorithm behaves as input size grows and explain why complexity matters in real medical informatics systems.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1828800" y="4389120"/>
            <a:ext cx="8412480" cy="0"/>
          </a:xfrm>
          <a:prstGeom prst="line">
            <a:avLst/>
          </a:prstGeom>
          <a:noFill/>
          <a:ln w="12700">
            <a:solidFill>
              <a:srgbClr val="D7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1097280" y="4663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teaching question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97280" y="50292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does the same algorithm feel “instant” on 100 patients and unusable on millions of measurements?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END OF THE LESSON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562356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efficiency in terms of time and memory consumption.
• Distinguish exact running time from asymptotic growth.
• Interpret Big-O notation as a description of scalability.
• Recognize common complexity classes: O(1), O(log n), O(n) and O(n²).
• Estimate the complexity of simple biomedical algorithms.
• Connect algorithmic choices to clinical datasets such as patient registries and CGM signals.</a:t>
            </a:r>
            <a:endParaRPr lang="en-US" sz="2000" dirty="0"/>
          </a:p>
        </p:txBody>
      </p:sp>
      <p:pic>
        <p:nvPicPr>
          <p:cNvPr id="8" name="Image 1" descr="/mnt/data/lesson01_extract/ppt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55648"/>
            <a:ext cx="5111496" cy="2871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efficiency matters in medical informatics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751829"/>
            <a:ext cx="534924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Hospitals process data continuously: admissions, laboratory tests, prescriptions, medical images and device streams.
• A correct algorithm may still be unusable if it is too slow or consumes too much memory.
• A method that works for one patient may fail when applied to an entire hospital or regional database.
• Understanding complexity helps us choose appropriate data structures and algorithms before implementation.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5129783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1005840" y="5239511"/>
            <a:ext cx="5166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 is not only about speed. It affects usability, cost, energy consumption, latency and sometimes patient safety.</a:t>
            </a:r>
            <a:endParaRPr lang="en-US" sz="1500" dirty="0"/>
          </a:p>
        </p:txBody>
      </p:sp>
      <p:pic>
        <p:nvPicPr>
          <p:cNvPr id="10" name="Image 1" descr="/mnt/data/lesson01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73351"/>
            <a:ext cx="5111496" cy="28712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DATA AT SCALE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100 patients to millions of CGM values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6400800" cy="2560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Scenario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Approximate input size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the algorithm must do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Small classroom example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 patient records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Search, filter or compute a simple statistic.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Clinic registry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 patient records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Repeated queries and reporting.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CGM for one patient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 288 values/day at 5-minute sampling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Scan, summarize and detect events.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CGM for 1,000 patients/month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Millions of values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Efficient storage, processing and validation.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68680" y="4681728"/>
            <a:ext cx="5943600" cy="868680"/>
          </a:xfrm>
          <a:prstGeom prst="roundRect">
            <a:avLst>
              <a:gd name="adj" fmla="val 6316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1005840" y="4791456"/>
            <a:ext cx="566928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linear scan over 100 values is trivial. A repeated linear scan over millions of values may become a bottleneck.</a:t>
            </a:r>
            <a:endParaRPr lang="en-US" sz="1600" dirty="0"/>
          </a:p>
        </p:txBody>
      </p:sp>
      <p:pic>
        <p:nvPicPr>
          <p:cNvPr id="10" name="Image 1" descr="/mnt/data/lesson01_extract/ppt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417320"/>
            <a:ext cx="3886200" cy="2185416"/>
          </a:xfrm>
          <a:prstGeom prst="rect">
            <a:avLst/>
          </a:prstGeom>
        </p:spPr>
      </p:pic>
      <p:pic>
        <p:nvPicPr>
          <p:cNvPr id="20" name="Immagine 19" descr="Healthcare Data - an overview | ScienceDirect Topics">
            <a:extLst>
              <a:ext uri="{FF2B5EF4-FFF2-40B4-BE49-F238E27FC236}">
                <a16:creationId xmlns:a16="http://schemas.microsoft.com/office/drawing/2014/main" id="{CAB97554-8FE9-DE25-8679-88CB024A7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931920"/>
            <a:ext cx="3914211" cy="21201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CONCEPT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“efficient” mean?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is efficient when it solves the intended problem using a reasonable amount of computational resources.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2148840"/>
            <a:ext cx="32461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868680" y="2148840"/>
            <a:ext cx="73152" cy="1143000"/>
          </a:xfrm>
          <a:prstGeom prst="rect">
            <a:avLst/>
          </a:prstGeom>
          <a:solidFill>
            <a:srgbClr val="22B8C5"/>
          </a:solidFill>
          <a:ln w="1270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5156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efficiency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587752"/>
            <a:ext cx="292608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number of operations grows when the input becomes larger.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4434840" y="2148840"/>
            <a:ext cx="32461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434840" y="2148840"/>
            <a:ext cx="73152" cy="1143000"/>
          </a:xfrm>
          <a:prstGeom prst="rect">
            <a:avLst/>
          </a:prstGeom>
          <a:solidFill>
            <a:srgbClr val="1F3B8F"/>
          </a:solidFill>
          <a:ln w="12700">
            <a:solidFill>
              <a:srgbClr val="1F3B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61772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efficiency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17720" y="2587752"/>
            <a:ext cx="292608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 storage the algorithm needs during execution.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8001000" y="2148840"/>
            <a:ext cx="32461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8001000" y="2148840"/>
            <a:ext cx="73152" cy="1143000"/>
          </a:xfrm>
          <a:prstGeom prst="rect">
            <a:avLst/>
          </a:prstGeom>
          <a:solidFill>
            <a:srgbClr val="6E67D8"/>
          </a:solidFill>
          <a:ln w="12700">
            <a:solidFill>
              <a:srgbClr val="6E6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818388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83880" y="2587752"/>
            <a:ext cx="292608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Whether the algorithm remains usable when data volume increases.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9601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distinction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4370832"/>
            <a:ext cx="99669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not usually interested in the exact number of milliseconds on one computer. We are interested in how the required work grows as the input size n grows.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complexity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complexity describes how the number of elementary operations grows as a function of input size n.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2240280"/>
            <a:ext cx="32918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868680" y="2240280"/>
            <a:ext cx="73152" cy="1143000"/>
          </a:xfrm>
          <a:prstGeom prst="rect">
            <a:avLst/>
          </a:prstGeom>
          <a:solidFill>
            <a:srgbClr val="22B8C5"/>
          </a:solidFill>
          <a:ln w="1270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51560" y="2377440"/>
            <a:ext cx="2971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size 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679192"/>
            <a:ext cx="297180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values, records, pixels, samples or nodes processed by the algorithm.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34840" y="2240280"/>
            <a:ext cx="32918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434840" y="2240280"/>
            <a:ext cx="73152" cy="1143000"/>
          </a:xfrm>
          <a:prstGeom prst="rect">
            <a:avLst/>
          </a:prstGeom>
          <a:solidFill>
            <a:srgbClr val="1F3B8F"/>
          </a:solidFill>
          <a:ln w="12700">
            <a:solidFill>
              <a:srgbClr val="1F3B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617720" y="2377440"/>
            <a:ext cx="2971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Elementary operation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17720" y="2679192"/>
            <a:ext cx="297180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basic step such as comparison, assignment, arithmetic or lookup.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01000" y="2240280"/>
            <a:ext cx="32918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8001000" y="2240280"/>
            <a:ext cx="73152" cy="1143000"/>
          </a:xfrm>
          <a:prstGeom prst="rect">
            <a:avLst/>
          </a:prstGeom>
          <a:solidFill>
            <a:srgbClr val="6E67D8"/>
          </a:solidFill>
          <a:ln w="12700">
            <a:solidFill>
              <a:srgbClr val="6E6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8183880" y="2377440"/>
            <a:ext cx="2971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pattern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83880" y="2679192"/>
            <a:ext cx="297180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question is whether operations grow slowly or rapidly as n increases.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60120" y="3977640"/>
            <a:ext cx="5212080" cy="11430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0160">
            <a:solidFill>
              <a:srgbClr val="D7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1124712" y="4105656"/>
            <a:ext cx="48920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glucose value IN patient_cgm: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glucose &lt; 70: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 = count + 1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92240" y="4160520"/>
            <a:ext cx="4343400" cy="777240"/>
          </a:xfrm>
          <a:prstGeom prst="roundRect">
            <a:avLst>
              <a:gd name="adj" fmla="val 7059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6629400" y="4270248"/>
            <a:ext cx="406908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list has n glucose values, this algorithm checks each value once → O(n).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complexity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14400" y="1477392"/>
            <a:ext cx="548640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Memory complexity describes how much additional storage an algorithm needs as input size grows.
• Some algorithms process data in-place and require very little extra memory.
• Other algorithms create copies, temporary arrays, matrices or model representations.
• In medical informatics, memory becomes important for images, waveforms and longitudinal records.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417320"/>
          <a:ext cx="4754880" cy="28803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Typical representation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Memory concern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CGM signal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Array of timestamp-value pairs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Long duration and many patients.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ECG waveform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High-frequency time series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Many samples per second.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MRI/CT volume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3D tensor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Large multidimensional arrays.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Patient registry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Table or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Many rows and fields.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" y="4800600"/>
            <a:ext cx="10469880" cy="594360"/>
          </a:xfrm>
          <a:prstGeom prst="roundRect">
            <a:avLst>
              <a:gd name="adj" fmla="val 9231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1051560" y="4910328"/>
            <a:ext cx="96926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 algorithm can still fail if it does not fit in memory.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ASYMPTOTIC THINKING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Big-O notation: the main idea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Big-O notation describes an upper-bound growth trend: how the required work increases when the input becomes large.</a:t>
            </a:r>
            <a:endParaRPr lang="en-US" sz="1900" dirty="0"/>
          </a:p>
        </p:txBody>
      </p:sp>
      <p:sp>
        <p:nvSpPr>
          <p:cNvPr id="28" name="Shape 25"/>
          <p:cNvSpPr/>
          <p:nvPr/>
        </p:nvSpPr>
        <p:spPr>
          <a:xfrm>
            <a:off x="6995160" y="2011680"/>
            <a:ext cx="39319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6"/>
          <p:cNvSpPr/>
          <p:nvPr/>
        </p:nvSpPr>
        <p:spPr>
          <a:xfrm>
            <a:off x="6995160" y="2011680"/>
            <a:ext cx="73152" cy="841248"/>
          </a:xfrm>
          <a:prstGeom prst="rect">
            <a:avLst/>
          </a:prstGeom>
          <a:solidFill>
            <a:srgbClr val="22B8C5"/>
          </a:solidFill>
          <a:ln w="1270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7178040" y="2148840"/>
            <a:ext cx="36118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ignores constants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178040" y="2450592"/>
            <a:ext cx="36118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10n and 100n are both O(n): both grow linearly.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995160" y="3063240"/>
            <a:ext cx="39319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0"/>
          <p:cNvSpPr/>
          <p:nvPr/>
        </p:nvSpPr>
        <p:spPr>
          <a:xfrm>
            <a:off x="6995160" y="3063240"/>
            <a:ext cx="73152" cy="841248"/>
          </a:xfrm>
          <a:prstGeom prst="rect">
            <a:avLst/>
          </a:prstGeom>
          <a:solidFill>
            <a:srgbClr val="1F3B8F"/>
          </a:solidFill>
          <a:ln w="12700">
            <a:solidFill>
              <a:srgbClr val="1F3B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1"/>
          <p:cNvSpPr/>
          <p:nvPr/>
        </p:nvSpPr>
        <p:spPr>
          <a:xfrm>
            <a:off x="7178040" y="3200400"/>
            <a:ext cx="36118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focuses on large n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178040" y="3502152"/>
            <a:ext cx="36118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Big-O is mainly about what happens when data volume becomes large.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995160" y="4114800"/>
            <a:ext cx="39319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4"/>
          <p:cNvSpPr/>
          <p:nvPr/>
        </p:nvSpPr>
        <p:spPr>
          <a:xfrm>
            <a:off x="6995160" y="4114800"/>
            <a:ext cx="73152" cy="841248"/>
          </a:xfrm>
          <a:prstGeom prst="rect">
            <a:avLst/>
          </a:prstGeom>
          <a:solidFill>
            <a:srgbClr val="6E67D8"/>
          </a:solidFill>
          <a:ln w="12700">
            <a:solidFill>
              <a:srgbClr val="6E6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5"/>
          <p:cNvSpPr/>
          <p:nvPr/>
        </p:nvSpPr>
        <p:spPr>
          <a:xfrm>
            <a:off x="7178040" y="4251960"/>
            <a:ext cx="36118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supports comparison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178040" y="4553712"/>
            <a:ext cx="36118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helps us compare algorithm families independently of a specific machine.</a:t>
            </a:r>
            <a:endParaRPr lang="en-US" sz="1250" dirty="0"/>
          </a:p>
        </p:txBody>
      </p:sp>
      <p:pic>
        <p:nvPicPr>
          <p:cNvPr id="40" name="Immagine 39" descr="How to calculate Big O notation time complexity | Stackademic">
            <a:extLst>
              <a:ext uri="{FF2B5EF4-FFF2-40B4-BE49-F238E27FC236}">
                <a16:creationId xmlns:a16="http://schemas.microsoft.com/office/drawing/2014/main" id="{1B67E41F-EB01-B87F-7AE2-1BBF15005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69" y="2148840"/>
            <a:ext cx="5657909" cy="31825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BIG-O INTERPRETATION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Exact runtime is not the same as complexity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417320"/>
          <a:ext cx="6949440" cy="31089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Exact runtime answer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Complexity answer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long did it take today?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 seconds on this laptop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enough information about scalability.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does it grow with more data?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 multiple measurements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O(1), O(log n), O(n), O(n²), ...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if hardware changes?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 may change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Growth class usually remains informative.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if data grow 100x?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Runtime may become too high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Complexity predicts risk.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229600" y="1874520"/>
            <a:ext cx="2743200" cy="1645920"/>
          </a:xfrm>
          <a:prstGeom prst="roundRect">
            <a:avLst>
              <a:gd name="adj" fmla="val 3333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8366760" y="1984248"/>
            <a:ext cx="2468880" cy="1463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Big-O does not predict the exact clock time. It predicts how the work scales.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229600" y="388620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8FBFE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7"/>
          <p:cNvSpPr/>
          <p:nvPr/>
        </p:nvSpPr>
        <p:spPr>
          <a:xfrm>
            <a:off x="8366760" y="3995928"/>
            <a:ext cx="246888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healthcare systems, the scaling trend often matters more than a single benchmark.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 CLASS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O(1): constant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operation is O(1) when its running time does not depend on the number of items in the input.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214884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868680" y="2148840"/>
            <a:ext cx="73152" cy="1234440"/>
          </a:xfrm>
          <a:prstGeom prst="rect">
            <a:avLst/>
          </a:prstGeom>
          <a:solidFill>
            <a:srgbClr val="22B8C5"/>
          </a:solidFill>
          <a:ln w="1270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51560" y="2286000"/>
            <a:ext cx="2880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587752"/>
            <a:ext cx="288036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latest heart rate value from a variable.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4434840" y="214884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434840" y="2148840"/>
            <a:ext cx="73152" cy="1234440"/>
          </a:xfrm>
          <a:prstGeom prst="rect">
            <a:avLst/>
          </a:prstGeom>
          <a:solidFill>
            <a:srgbClr val="1F3B8F"/>
          </a:solidFill>
          <a:ln w="12700">
            <a:solidFill>
              <a:srgbClr val="1F3B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617720" y="2286000"/>
            <a:ext cx="2880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example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17720" y="2587752"/>
            <a:ext cx="288036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the value stored in latest_glucose.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8001000" y="214884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8001000" y="2148840"/>
            <a:ext cx="73152" cy="1234440"/>
          </a:xfrm>
          <a:prstGeom prst="rect">
            <a:avLst/>
          </a:prstGeom>
          <a:solidFill>
            <a:srgbClr val="31B78F"/>
          </a:solidFill>
          <a:ln w="12700">
            <a:solidFill>
              <a:srgbClr val="31B7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8183880" y="2286000"/>
            <a:ext cx="2880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useful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83880" y="2587752"/>
            <a:ext cx="288036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Constant-time access is essential for real-time alerts.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960120" y="3931920"/>
            <a:ext cx="4846320" cy="960120"/>
          </a:xfrm>
          <a:prstGeom prst="roundRect">
            <a:avLst>
              <a:gd name="adj" fmla="val 4762"/>
            </a:avLst>
          </a:prstGeom>
          <a:solidFill>
            <a:srgbClr val="F7FAFC"/>
          </a:solidFill>
          <a:ln w="10160">
            <a:solidFill>
              <a:srgbClr val="D7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1124712" y="4059936"/>
            <a:ext cx="4526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latest_glucose &lt; 70: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 = true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55080" y="3931920"/>
            <a:ext cx="4709160" cy="960120"/>
          </a:xfrm>
          <a:prstGeom prst="roundRect">
            <a:avLst>
              <a:gd name="adj" fmla="val 5714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6492240" y="4041648"/>
            <a:ext cx="443484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algorithm performs a fixed number of operations whether the hospital has 100 or 1,000,000 other records.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 CLASS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O(n): linear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is O(n) when the required work grows proportionally to the number of input items.</a:t>
            </a:r>
            <a:endParaRPr lang="en-US" sz="1900" dirty="0"/>
          </a:p>
        </p:txBody>
      </p:sp>
      <p:pic>
        <p:nvPicPr>
          <p:cNvPr id="8" name="Image 1" descr="/mnt/data/lesson01_extract/ppt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691640"/>
            <a:ext cx="4663440" cy="262432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8680" y="2240280"/>
            <a:ext cx="5257800" cy="1828800"/>
          </a:xfrm>
          <a:prstGeom prst="roundRect">
            <a:avLst>
              <a:gd name="adj" fmla="val 2500"/>
            </a:avLst>
          </a:prstGeom>
          <a:solidFill>
            <a:srgbClr val="F7FAFC"/>
          </a:solidFill>
          <a:ln w="10160">
            <a:solidFill>
              <a:srgbClr val="D7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1033272" y="2368296"/>
            <a:ext cx="49377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count_low = 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value IN glucose_values: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value &lt; 70: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count_low = count_low + 1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count_low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14400" y="443484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1051560" y="4544568"/>
            <a:ext cx="502920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list has n measurements, the loop visits n measurements → O(n).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Biomedical examples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629400" y="4892040"/>
            <a:ext cx="4206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Scan all CGM values for hypoglycemia.
• Compute mean heart rate.
• Filter all patients older than 65.</a:t>
            </a:r>
            <a:endParaRPr lang="en-US" sz="12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 CLASS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O(log n): logarithmic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is O(log n) when each step reduces the remaining search space by a constant fraction, often by half.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2148840"/>
            <a:ext cx="3108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868680" y="2148840"/>
            <a:ext cx="73152" cy="1234440"/>
          </a:xfrm>
          <a:prstGeom prst="rect">
            <a:avLst/>
          </a:prstGeom>
          <a:solidFill>
            <a:srgbClr val="22B8C5"/>
          </a:solidFill>
          <a:ln w="1270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51560" y="2286000"/>
            <a:ext cx="2788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example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587752"/>
            <a:ext cx="278892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search in a sorted list.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43400" y="2148840"/>
            <a:ext cx="3108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343400" y="2148840"/>
            <a:ext cx="73152" cy="1234440"/>
          </a:xfrm>
          <a:prstGeom prst="rect">
            <a:avLst/>
          </a:prstGeom>
          <a:solidFill>
            <a:srgbClr val="1F3B8F"/>
          </a:solidFill>
          <a:ln w="12700">
            <a:solidFill>
              <a:srgbClr val="1F3B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526280" y="2286000"/>
            <a:ext cx="2788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example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26280" y="2587752"/>
            <a:ext cx="278892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time interval in a sorted list of timestamped measurements.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818120" y="2148840"/>
            <a:ext cx="3108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7818120" y="2148840"/>
            <a:ext cx="73152" cy="1234440"/>
          </a:xfrm>
          <a:prstGeom prst="rect">
            <a:avLst/>
          </a:prstGeom>
          <a:solidFill>
            <a:srgbClr val="6E67D8"/>
          </a:solidFill>
          <a:ln w="12700">
            <a:solidFill>
              <a:srgbClr val="6E6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8001000" y="2286000"/>
            <a:ext cx="2788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001000" y="2587752"/>
            <a:ext cx="278892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inspect every item; discard many candidates at once.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3977640"/>
          <a:ext cx="4434840" cy="135331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Number of items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Approximate binary-search steps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 10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 20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 30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6263640" y="4069080"/>
            <a:ext cx="4434840" cy="868680"/>
          </a:xfrm>
          <a:prstGeom prst="roundRect">
            <a:avLst>
              <a:gd name="adj" fmla="val 6316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8"/>
          <p:cNvSpPr/>
          <p:nvPr/>
        </p:nvSpPr>
        <p:spPr>
          <a:xfrm>
            <a:off x="6400800" y="4178808"/>
            <a:ext cx="416052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Logarithmic growth is very slow. This is why sorted data and indexes are powerful.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 CLASS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O(n²): quadratic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is O(n²) when the amount of work grows roughly with the square of the input size.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2148840"/>
            <a:ext cx="5257800" cy="1463040"/>
          </a:xfrm>
          <a:prstGeom prst="roundRect">
            <a:avLst>
              <a:gd name="adj" fmla="val 3125"/>
            </a:avLst>
          </a:prstGeom>
          <a:solidFill>
            <a:srgbClr val="F7FAFC"/>
          </a:solidFill>
          <a:ln w="10160">
            <a:solidFill>
              <a:srgbClr val="D7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1033272" y="2276856"/>
            <a:ext cx="49377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patient_a IN patients: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patient_b IN patients: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compare(patient_a, patient_b)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886200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1005840" y="3995928"/>
            <a:ext cx="49834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nested loop over the same dataset often produces quadratic behavior.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057400"/>
          <a:ext cx="4206240" cy="15087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 patients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Pairwise comparisons n²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100,000,000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629400" y="402336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6F8"/>
          </a:solidFill>
          <a:ln w="10160">
            <a:solidFill>
              <a:srgbClr val="F3C9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6766560" y="4133088"/>
            <a:ext cx="393192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E65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Quadratic algorithms can become impractical very quickly in cohort analysis and similarity search.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RATES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Comparing the main complexity classes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463040"/>
          <a:ext cx="448056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Input size 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O(1)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O(log n)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O(n²)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≈10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≈20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10¹²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6629400" y="3886200"/>
            <a:ext cx="4480560" cy="777240"/>
          </a:xfrm>
          <a:prstGeom prst="roundRect">
            <a:avLst>
              <a:gd name="adj" fmla="val 7059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5"/>
          <p:cNvSpPr/>
          <p:nvPr/>
        </p:nvSpPr>
        <p:spPr>
          <a:xfrm>
            <a:off x="6766560" y="3995928"/>
            <a:ext cx="420624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 classes are about growth, not about clinical importance or model quality.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1417320" y="4841517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of thumb: when n becomes large, the growth class dominates constant details.</a:t>
            </a:r>
            <a:endParaRPr lang="en-US" sz="1800" dirty="0"/>
          </a:p>
        </p:txBody>
      </p:sp>
      <p:pic>
        <p:nvPicPr>
          <p:cNvPr id="31" name="Immagine 30" descr="How to calculate Big O notation time complexity | Stackademic">
            <a:extLst>
              <a:ext uri="{FF2B5EF4-FFF2-40B4-BE49-F238E27FC236}">
                <a16:creationId xmlns:a16="http://schemas.microsoft.com/office/drawing/2014/main" id="{92E8F195-BB59-5090-B8C7-7FAA3D95C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75941"/>
            <a:ext cx="5657909" cy="31825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STRUCTURES CONNECTION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operations and their cost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276898"/>
              </p:ext>
            </p:extLst>
          </p:nvPr>
        </p:nvGraphicFramePr>
        <p:xfrm>
          <a:off x="1417320" y="1412748"/>
          <a:ext cx="8778240" cy="2971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Naive structure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Improved structure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Typical complexity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 latest measurement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Variable/list 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Variable/list 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O(1)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Find patient by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Unsorted list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Dictionary/hash table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O(n) → O(1) average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Find value in sorted sequence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Linear scan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Binary search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O(n) → O(log n)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Compare all patient pairs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Nested loops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Indexing/approximate methods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O(n²) may be reduced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Process all signal samples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List/array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Streaming/windowed processing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O(n), with lower memory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60120" y="4709160"/>
            <a:ext cx="9692640" cy="685800"/>
          </a:xfrm>
          <a:prstGeom prst="roundRect">
            <a:avLst>
              <a:gd name="adj" fmla="val 8000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1097280" y="4818888"/>
            <a:ext cx="94183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problem can have very different complexity depending on how the data are stored.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BIOMEDICAL CASE STUDY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Glucose Monitoring data scale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CGM sensor often generates one measurement every few minutes. Over weeks or months, a single patient becomes a non-trivial time series.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240280"/>
          <a:ext cx="5943600" cy="209702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 horizon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5-minute samples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Algorithmic implication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day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≈288 values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Easy to scan once.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 days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≈4,032 values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Windowing and summaries become useful.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 days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≈25,920 values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Memory and preprocessing matter.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 patients × 90 days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≈25.9 million values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Scalable pipelines are required.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Image 1" descr="/mnt/data/lesson01_extract/ppt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74520"/>
            <a:ext cx="4023360" cy="225856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60120" y="4800600"/>
            <a:ext cx="9601200" cy="685800"/>
          </a:xfrm>
          <a:prstGeom prst="roundRect">
            <a:avLst>
              <a:gd name="adj" fmla="val 8000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6"/>
          <p:cNvSpPr/>
          <p:nvPr/>
        </p:nvSpPr>
        <p:spPr>
          <a:xfrm>
            <a:off x="1097280" y="4910328"/>
            <a:ext cx="93268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algorithmic question changes from “can I compute it?” to “can I compute it repeatedly, reliably and at scale?”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Counting hypoglycemic measurements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5440680" cy="2834640"/>
          </a:xfrm>
          <a:prstGeom prst="roundRect">
            <a:avLst>
              <a:gd name="adj" fmla="val 1613"/>
            </a:avLst>
          </a:prstGeom>
          <a:solidFill>
            <a:srgbClr val="F7FAFC"/>
          </a:solidFill>
          <a:ln w="10160">
            <a:solidFill>
              <a:srgbClr val="D7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1033272" y="1545336"/>
            <a:ext cx="512064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CountLowGlucose(values)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list of glucose values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number of values below 70 mg/dL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value IN values: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value &lt; 70: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 = count + 1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count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29400" y="1417320"/>
            <a:ext cx="43434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6629400" y="1417320"/>
            <a:ext cx="73152" cy="868680"/>
          </a:xfrm>
          <a:prstGeom prst="rect">
            <a:avLst/>
          </a:prstGeom>
          <a:solidFill>
            <a:srgbClr val="31B78F"/>
          </a:solidFill>
          <a:ln w="12700">
            <a:solidFill>
              <a:srgbClr val="31B7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6812280" y="1554480"/>
            <a:ext cx="4023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12280" y="1856232"/>
            <a:ext cx="402336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the number of values satisfying the low-glucose condition.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29400" y="2514600"/>
            <a:ext cx="43434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6629400" y="2514600"/>
            <a:ext cx="73152" cy="868680"/>
          </a:xfrm>
          <a:prstGeom prst="rect">
            <a:avLst/>
          </a:prstGeom>
          <a:solidFill>
            <a:srgbClr val="22B8C5"/>
          </a:solidFill>
          <a:ln w="1270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6812280" y="2651760"/>
            <a:ext cx="4023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complexity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12280" y="2953512"/>
            <a:ext cx="402336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value is inspected exactly once → O(n).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629400" y="3611880"/>
            <a:ext cx="43434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6629400" y="3611880"/>
            <a:ext cx="73152" cy="868680"/>
          </a:xfrm>
          <a:prstGeom prst="rect">
            <a:avLst/>
          </a:prstGeom>
          <a:solidFill>
            <a:srgbClr val="1F3B8F"/>
          </a:solidFill>
          <a:ln w="12700">
            <a:solidFill>
              <a:srgbClr val="1F3B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681228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complexity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12280" y="4050792"/>
            <a:ext cx="402336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one counter is stored → O(1) additional memory.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60120" y="4892040"/>
            <a:ext cx="9875520" cy="594360"/>
          </a:xfrm>
          <a:prstGeom prst="roundRect">
            <a:avLst>
              <a:gd name="adj" fmla="val 9231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1097280" y="5001768"/>
            <a:ext cx="96012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good algorithm: simple, transparent, linear and memory-light.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STRUCTURE CHOICE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lookup: list vs dictionary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Task: retrieve a patient record from a patient identifier.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2057400"/>
            <a:ext cx="4572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868680" y="2057400"/>
            <a:ext cx="73152" cy="1417320"/>
          </a:xfrm>
          <a:prstGeom prst="rect">
            <a:avLst/>
          </a:prstGeom>
          <a:solidFill>
            <a:srgbClr val="E65F73"/>
          </a:solidFill>
          <a:ln w="12700">
            <a:solidFill>
              <a:srgbClr val="E65F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51560" y="2194560"/>
            <a:ext cx="42519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Unsorted list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496312"/>
            <a:ext cx="4251960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patient IDs one by one until the correct record is found. Worst case: inspect all records → O(n).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80760" y="2057400"/>
            <a:ext cx="4572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6080760" y="2057400"/>
            <a:ext cx="73152" cy="1417320"/>
          </a:xfrm>
          <a:prstGeom prst="rect">
            <a:avLst/>
          </a:prstGeom>
          <a:solidFill>
            <a:srgbClr val="31B78F"/>
          </a:solidFill>
          <a:ln w="12700">
            <a:solidFill>
              <a:srgbClr val="31B7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263640" y="2194560"/>
            <a:ext cx="42519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 / hash table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63640" y="2496312"/>
            <a:ext cx="4251960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patient_id as a key and directly retrieve the associated record. Average case: O(1).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60120" y="4023360"/>
            <a:ext cx="4434840" cy="68580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0160">
            <a:solidFill>
              <a:srgbClr val="D7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1124712" y="4151376"/>
            <a:ext cx="4114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patients_list = [record1, record2, record3, ...]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linear search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6172200" y="4023360"/>
            <a:ext cx="4434840" cy="68580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0160">
            <a:solidFill>
              <a:srgbClr val="D7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6336792" y="4151376"/>
            <a:ext cx="4114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patients_by_id = {"P001": record1, "P002": record2}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direct lookup by key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960120" y="5074920"/>
            <a:ext cx="9692640" cy="502920"/>
          </a:xfrm>
          <a:prstGeom prst="roundRect">
            <a:avLst>
              <a:gd name="adj" fmla="val 10909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1097280" y="5184648"/>
            <a:ext cx="94183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medical systems, fast lookup is essential because patient records are accessed repeatedly.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CONTEXT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Sorting and prioritization in healthcare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64508" y="1627632"/>
            <a:ext cx="557784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Sorting organizes data according to a rule: time, severity, risk score, admission date or laboratory value.
• Naive sorting algorithms may be simple to understand but inefficient for large datasets.
• Priority queues can support triage-like workflows where the next item is selected by urgency, not arrival order.
• Algorithmic efficiency matters when the queue is updated continuously.</a:t>
            </a:r>
            <a:endParaRPr lang="en-US" sz="2000" dirty="0"/>
          </a:p>
        </p:txBody>
      </p:sp>
      <p:pic>
        <p:nvPicPr>
          <p:cNvPr id="8" name="Image 1" descr="/mnt/data/lesson01_extract/ppt/media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1627632"/>
            <a:ext cx="5111496" cy="287121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264920" y="4818888"/>
            <a:ext cx="9875520" cy="594360"/>
          </a:xfrm>
          <a:prstGeom prst="roundRect">
            <a:avLst>
              <a:gd name="adj" fmla="val 9231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1402080" y="4896612"/>
            <a:ext cx="96012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triage system should not repeatedly re-sort everything if only one new patient arrives.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PITFALL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Nested loops and pairwise comparisons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8680" y="1417319"/>
            <a:ext cx="5715000" cy="2011671"/>
          </a:xfrm>
          <a:prstGeom prst="roundRect">
            <a:avLst>
              <a:gd name="adj" fmla="val 3226"/>
            </a:avLst>
          </a:prstGeom>
          <a:solidFill>
            <a:srgbClr val="F7FAFC"/>
          </a:solidFill>
          <a:ln w="10160">
            <a:solidFill>
              <a:srgbClr val="D7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1033272" y="1769364"/>
            <a:ext cx="53949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patient_a IN patients: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patient_b IN patients: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similarity = compare(patient_a, patient_b)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store(similarity)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30752"/>
            <a:ext cx="555955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pattern is common in biomedical analytics: clustering, similarity search, duplicate detection or cohort matching.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417320"/>
          <a:ext cx="4251960" cy="20116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n² comparisons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Interpretation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Usually manageable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5,000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25,000,000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May require optimization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100,000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10,000,000,000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Often infeasible without a new strategy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949440" y="4290157"/>
            <a:ext cx="4251960" cy="685800"/>
          </a:xfrm>
          <a:prstGeom prst="roundRect">
            <a:avLst>
              <a:gd name="adj" fmla="val 8000"/>
            </a:avLst>
          </a:prstGeom>
          <a:solidFill>
            <a:srgbClr val="FFF6F8"/>
          </a:solidFill>
          <a:ln w="10160">
            <a:solidFill>
              <a:srgbClr val="F3C9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7086600" y="4399885"/>
            <a:ext cx="397764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E65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coding nested loops, ask: do we really need every pair?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AT SCALE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Large biomedical objects require different thinking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417320"/>
          <a:ext cx="6629400" cy="24231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Object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memory grows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Typical strategy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Longitudinal records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Many repeated measurements per patient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Process by windows or streams.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Medical images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Millions of pixels or voxels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batches, compression or tiling.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Pairwise matrix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 × n similarities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Avoid materializing full matrix when possible.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Deep learning tensors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Large intermediate activations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 batch size and precision.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Image 1" descr="/mnt/data/lesson01_extract/ppt/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673" y="1417320"/>
            <a:ext cx="4237859" cy="238658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60120" y="4343400"/>
            <a:ext cx="9784080" cy="685800"/>
          </a:xfrm>
          <a:prstGeom prst="roundRect">
            <a:avLst>
              <a:gd name="adj" fmla="val 8000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/>
          <p:nvPr/>
        </p:nvSpPr>
        <p:spPr>
          <a:xfrm>
            <a:off x="1097280" y="4453128"/>
            <a:ext cx="950976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complexity becomes visible when the algorithm creates new data structures proportional to n or n².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960120" y="52120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habit: estimate memory before running large biomedical pipelines.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 and data structures work together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complexity of a solution depends on both the procedure and the representation of data.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14400" y="2148840"/>
            <a:ext cx="30175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914400" y="2148840"/>
            <a:ext cx="73152" cy="1143000"/>
          </a:xfrm>
          <a:prstGeom prst="rect">
            <a:avLst/>
          </a:prstGeom>
          <a:solidFill>
            <a:srgbClr val="22B8C5"/>
          </a:solidFill>
          <a:ln w="1270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97280" y="2286000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2587752"/>
            <a:ext cx="269748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patient record quickly.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2148840"/>
            <a:ext cx="30175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663440" y="2148840"/>
            <a:ext cx="73152" cy="1143000"/>
          </a:xfrm>
          <a:prstGeom prst="rect">
            <a:avLst/>
          </a:prstGeom>
          <a:solidFill>
            <a:srgbClr val="1F3B8F"/>
          </a:solidFill>
          <a:ln w="12700">
            <a:solidFill>
              <a:srgbClr val="1F3B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846320" y="2286000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structure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46320" y="2587752"/>
            <a:ext cx="269748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 keyed by patient ID.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0" y="2148840"/>
            <a:ext cx="30175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8412480" y="2148840"/>
            <a:ext cx="73152" cy="1143000"/>
          </a:xfrm>
          <a:prstGeom prst="rect">
            <a:avLst/>
          </a:prstGeom>
          <a:solidFill>
            <a:srgbClr val="31B78F"/>
          </a:solidFill>
          <a:ln w="12700">
            <a:solidFill>
              <a:srgbClr val="31B7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8595360" y="2286000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595360" y="2587752"/>
            <a:ext cx="269748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Lookup by key and return record.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069080" y="2715768"/>
            <a:ext cx="475488" cy="0"/>
          </a:xfrm>
          <a:prstGeom prst="line">
            <a:avLst/>
          </a:prstGeom>
          <a:noFill/>
          <a:ln w="19050">
            <a:solidFill>
              <a:srgbClr val="6D83A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7818120" y="2715768"/>
            <a:ext cx="475488" cy="0"/>
          </a:xfrm>
          <a:prstGeom prst="line">
            <a:avLst/>
          </a:prstGeom>
          <a:noFill/>
          <a:ln w="19050">
            <a:solidFill>
              <a:srgbClr val="6D83A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1005840" y="3977640"/>
            <a:ext cx="9601200" cy="731520"/>
          </a:xfrm>
          <a:prstGeom prst="roundRect">
            <a:avLst>
              <a:gd name="adj" fmla="val 7500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1143000" y="4087368"/>
            <a:ext cx="93268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the data structure can change the complexity without changing the clinical task.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1005840" y="4892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the course studies algorithms and data structures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Daily report over a hospital registry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Task: every morning, compute how many patients had at least one abnormal glucose value during the previous day.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214884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868680" y="2148840"/>
            <a:ext cx="73152" cy="1234440"/>
          </a:xfrm>
          <a:prstGeom prst="rect">
            <a:avLst/>
          </a:prstGeom>
          <a:solidFill>
            <a:srgbClr val="E65F73"/>
          </a:solidFill>
          <a:ln w="12700">
            <a:solidFill>
              <a:srgbClr val="E65F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51560" y="2286000"/>
            <a:ext cx="31089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strategy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587752"/>
            <a:ext cx="310896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report request, scan all historical values for every patient.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26280" y="214884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526280" y="2148840"/>
            <a:ext cx="73152" cy="1234440"/>
          </a:xfrm>
          <a:prstGeom prst="rect">
            <a:avLst/>
          </a:prstGeom>
          <a:solidFill>
            <a:srgbClr val="22B8C5"/>
          </a:solidFill>
          <a:ln w="1270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709160" y="2286000"/>
            <a:ext cx="31089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strategy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709160" y="2587752"/>
            <a:ext cx="310896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only yesterday’s data and update a summary table.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83880" y="214884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8183880" y="2148840"/>
            <a:ext cx="73152" cy="1234440"/>
          </a:xfrm>
          <a:prstGeom prst="rect">
            <a:avLst/>
          </a:prstGeom>
          <a:solidFill>
            <a:srgbClr val="31B78F"/>
          </a:solidFill>
          <a:ln w="12700">
            <a:solidFill>
              <a:srgbClr val="31B7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8366760" y="2286000"/>
            <a:ext cx="31089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strategy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66760" y="2587752"/>
            <a:ext cx="310896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Precompute daily features during data ingestion.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4160520"/>
          <a:ext cx="8412480" cy="1170432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Design choice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Likely effect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Repeated full scan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Slow as history grows.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Daily summaries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Faster reports and lower memory load.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Incremental update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Suitable for routine operations.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DIFFERENT QUESTIONS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Correctness and efficiency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68680" y="1600200"/>
            <a:ext cx="47548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868680" y="1600200"/>
            <a:ext cx="73152" cy="1554480"/>
          </a:xfrm>
          <a:prstGeom prst="rect">
            <a:avLst/>
          </a:prstGeom>
          <a:solidFill>
            <a:srgbClr val="31B78F"/>
          </a:solidFill>
          <a:ln w="12700">
            <a:solidFill>
              <a:srgbClr val="31B7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1051560" y="1737360"/>
            <a:ext cx="4434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2039112"/>
            <a:ext cx="4434840" cy="10241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algorithm return the expected output for every valid input?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are glucose values classified according to the stated thresholds?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400800" y="1600200"/>
            <a:ext cx="475488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6400800" y="1600200"/>
            <a:ext cx="73152" cy="1554480"/>
          </a:xfrm>
          <a:prstGeom prst="rect">
            <a:avLst/>
          </a:prstGeom>
          <a:solidFill>
            <a:srgbClr val="22B8C5"/>
          </a:solidFill>
          <a:ln w="1270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583680" y="1737360"/>
            <a:ext cx="4434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0" y="2039112"/>
            <a:ext cx="4434840" cy="10241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resources does it use as input size grows?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can it process millions of CGM values in a reasonable time?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1005840" y="3931920"/>
            <a:ext cx="9692640" cy="777240"/>
          </a:xfrm>
          <a:prstGeom prst="roundRect">
            <a:avLst>
              <a:gd name="adj" fmla="val 7059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1143000" y="4041648"/>
            <a:ext cx="94183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correct algorithm can be inefficient. An efficient algorithm can be clinically wrong if the specification is wrong.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05840" y="493776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professional medical informatics, we need both.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estimate complexity from pseudocode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52760" cy="30632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Pattern in pseudocode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Typical complexity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Explanation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Fixed number of operations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O(1)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Does not depend on input size.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loop over n items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O(n)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Each item is visited once.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Binary search or repeated halving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O(log n)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Remaining search space shrinks rapidly.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Nested loop over same n items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O(n²)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 each item, many other items are processed.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Creating a list of n results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O(n) memory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Additional storage grows with input size.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60120" y="4800600"/>
            <a:ext cx="9692640" cy="640080"/>
          </a:xfrm>
          <a:prstGeom prst="roundRect">
            <a:avLst>
              <a:gd name="adj" fmla="val 8571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1097280" y="4910328"/>
            <a:ext cx="941832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identify input size n. Step 2: count how many times the main work is repeated.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EXERCISE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Identify the complexity class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task, estimate the time complexity and explain your reasoning.</a:t>
            </a:r>
            <a:endParaRPr lang="en-US" sz="17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011680"/>
          <a:ext cx="7543800" cy="237744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Task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Input size n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Likely complexity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 latest glucose value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Number of stored values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?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Scan all CGM values to compute maximum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Number of values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?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Binary search a sorted timestamp list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Number of timestamps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?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Compare every patient with every other patient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Number of patients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?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Find patient by ID in a dictionary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Number of patients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?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732520" y="22402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8869680" y="2350008"/>
            <a:ext cx="187452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minutes individual work + 5 minutes discussion in pairs.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732520" y="3657600"/>
            <a:ext cx="2148840" cy="822960"/>
          </a:xfrm>
          <a:prstGeom prst="roundRect">
            <a:avLst>
              <a:gd name="adj" fmla="val 6667"/>
            </a:avLst>
          </a:prstGeom>
          <a:solidFill>
            <a:srgbClr val="F8FBFE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8869680" y="3767328"/>
            <a:ext cx="18745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write the answer. Write the reason.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EXERCISE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answers and reasoning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52760" cy="27432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Task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Complexity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Reason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 latest glucose value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O(1)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Fixed direct access to one stored value.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Scan all CGM values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O(n)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Each value must be inspected once.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Binary search timestamps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O(log n)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Each step halves the search range.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Compare all patient pairs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O(n²)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Nested comparisons among patients.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Lookup by dictionary key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O(1) average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Hash table maps key directly to record.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60120" y="4617720"/>
            <a:ext cx="9692640" cy="658368"/>
          </a:xfrm>
          <a:prstGeom prst="roundRect">
            <a:avLst>
              <a:gd name="adj" fmla="val 8333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1097280" y="4727448"/>
            <a:ext cx="941832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giving complexity, always define what n represents.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MINI-LAB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 abnormal CGM readings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pseudocode for the following task: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187452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8FBFE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1005840" y="1984248"/>
            <a:ext cx="512064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Input: a list of glucose values for one patient.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count_low, count_high and total_abnormal.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3017520"/>
            <a:ext cx="539496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Low: value &lt; 70 mg/dL.
• High: value &gt; 180 mg/dL.
• Use one loop if possible.
• State the time complexity and memory complexity.
• Add one sentence about missing values.</a:t>
            </a:r>
            <a:endParaRPr lang="en-US" sz="2000" dirty="0"/>
          </a:p>
        </p:txBody>
      </p:sp>
      <p:pic>
        <p:nvPicPr>
          <p:cNvPr id="11" name="Image 1" descr="/mnt/data/lesson01_extract/ppt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554480"/>
            <a:ext cx="4526280" cy="2542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4434840"/>
            <a:ext cx="4343400" cy="731520"/>
          </a:xfrm>
          <a:prstGeom prst="roundRect">
            <a:avLst>
              <a:gd name="adj" fmla="val 7500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6766560" y="4544568"/>
            <a:ext cx="40690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design: one pass over the list → O(n) time, O(1) additional memory.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MINI-LAB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Optimize patient lookup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hospital stores patient records. The system must frequently retrieve records by patient ID.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057400"/>
            <a:ext cx="4663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868680" y="2057400"/>
            <a:ext cx="73152" cy="1234440"/>
          </a:xfrm>
          <a:prstGeom prst="rect">
            <a:avLst/>
          </a:prstGeom>
          <a:solidFill>
            <a:srgbClr val="E65F73"/>
          </a:solidFill>
          <a:ln w="12700">
            <a:solidFill>
              <a:srgbClr val="E65F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51560" y="2194560"/>
            <a:ext cx="43434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496312"/>
            <a:ext cx="434340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all records in a list and scan the list every time an ID is requested.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2200" y="2057400"/>
            <a:ext cx="4663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6172200" y="2057400"/>
            <a:ext cx="73152" cy="1234440"/>
          </a:xfrm>
          <a:prstGeom prst="rect">
            <a:avLst/>
          </a:prstGeom>
          <a:solidFill>
            <a:srgbClr val="31B78F"/>
          </a:solidFill>
          <a:ln w="12700">
            <a:solidFill>
              <a:srgbClr val="31B7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355080" y="2194560"/>
            <a:ext cx="43434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55080" y="2496312"/>
            <a:ext cx="434340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records in a dictionary using patient ID as key.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4400" y="3886200"/>
            <a:ext cx="969264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version scales better?
• What is the expected time complexity of each lookup?
• What extra structure must be maintained?
• Why can this matter in a hospital information system?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MISCONCEPTIONS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Big-O does and does not say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10652760" cy="315468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Misconception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Correction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O(1) means instant.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 means constant with respect to n, not zero time.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O(n) is always bad.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Linear scans are often acceptable and sometimes necessary.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Big-O gives exact runtime.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 describes growth, not clock time.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Only programmers need complexity.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Anyone designing data pipelines or clinical algorithms needs scalability reasoning.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More complex algorithms are always better.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10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Simplicity, transparency and context also matter.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60120" y="4800600"/>
            <a:ext cx="9646920" cy="640080"/>
          </a:xfrm>
          <a:prstGeom prst="roundRect">
            <a:avLst>
              <a:gd name="adj" fmla="val 8571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1097280" y="4910328"/>
            <a:ext cx="937260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 is a decision-support tool for engineering, not a replacement for domain reasoning.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PRACTICE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Algorithmic habits for healthcare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5669280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input size n before estimating complexity.
• Separate correctness testing from efficiency evaluation.
• Test algorithms on small examples, boundary cases and realistic dataset sizes.
• Prefer transparent solutions unless there is a clear reason for more complex designs.
• Choose data structures that match the most frequent operations.
• Document assumptions, units and missing-data handling.</a:t>
            </a:r>
            <a:endParaRPr lang="en-US" sz="2000" dirty="0"/>
          </a:p>
        </p:txBody>
      </p:sp>
      <p:pic>
        <p:nvPicPr>
          <p:cNvPr id="8" name="Image 1" descr="/mnt/data/lesson01_extract/ppt/media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085" y="1589782"/>
            <a:ext cx="4760235" cy="26812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325880" y="5375841"/>
            <a:ext cx="9875520" cy="540327"/>
          </a:xfrm>
          <a:prstGeom prst="roundRect">
            <a:avLst>
              <a:gd name="adj" fmla="val 9231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1463040" y="5477256"/>
            <a:ext cx="9601200" cy="37407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medical informatics, scalability and reliability are part of responsible system design.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SYNTHESIS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79" y="1417320"/>
            <a:ext cx="8367917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Efficiency concerns the resources required by an algorithm, mainly time and memory.
• Big-O notation describes how resource usage grows as input size n becomes large.
• O(1), O(log n), O(n) and O(n²) represent very different scalability profiles.
• The same biomedical task can have different complexity depending on the chosen data structure.
• CGM, ECG, imaging and hospital records make scalability a practical concern, not a theoretical detail.
• A useful medical informatics algorithm should be correct, transparent and scalable enough for its intended context.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705088" y="1645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60120" y="4846320"/>
            <a:ext cx="9601200" cy="685800"/>
          </a:xfrm>
          <a:prstGeom prst="roundRect">
            <a:avLst>
              <a:gd name="adj" fmla="val 8000"/>
            </a:avLst>
          </a:prstGeom>
          <a:solidFill>
            <a:srgbClr val="EAF6FD"/>
          </a:solidFill>
          <a:ln w="10160">
            <a:solidFill>
              <a:srgbClr val="D4E8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1097280" y="4956048"/>
            <a:ext cx="93268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central lesson: always ask how the algorithm behaves when the data grow.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9692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612648"/>
            <a:ext cx="10835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D2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Preparation for the next lesson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960120" cy="0"/>
          </a:xfrm>
          <a:prstGeom prst="line">
            <a:avLst/>
          </a:prstGeom>
          <a:noFill/>
          <a:ln w="2159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data/lesson01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016752"/>
            <a:ext cx="1600200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F3B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" y="141732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next lesson, we will study arrays, vectors, matrices and strings: the data structures used to represent signals, tables, images and biological sequences.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2514600"/>
            <a:ext cx="3063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868680" y="2514600"/>
            <a:ext cx="73152" cy="1234440"/>
          </a:xfrm>
          <a:prstGeom prst="rect">
            <a:avLst/>
          </a:prstGeom>
          <a:solidFill>
            <a:srgbClr val="22B8C5"/>
          </a:solidFill>
          <a:ln w="12700">
            <a:solidFill>
              <a:srgbClr val="22B8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05156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next class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953512"/>
            <a:ext cx="274320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meaning of input size n and Big-O notation.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4480560" y="2514600"/>
            <a:ext cx="3063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480560" y="2514600"/>
            <a:ext cx="73152" cy="1234440"/>
          </a:xfrm>
          <a:prstGeom prst="rect">
            <a:avLst/>
          </a:prstGeom>
          <a:solidFill>
            <a:srgbClr val="1F3B8F"/>
          </a:solidFill>
          <a:ln w="12700">
            <a:solidFill>
              <a:srgbClr val="1F3B8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66344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exercise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63440" y="2953512"/>
            <a:ext cx="274320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one healthcare example of O(1), O(n) and O(n²).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8092440" y="2514600"/>
            <a:ext cx="3063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8890">
            <a:solidFill>
              <a:srgbClr val="D9E9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8092440" y="2514600"/>
            <a:ext cx="73152" cy="1234440"/>
          </a:xfrm>
          <a:prstGeom prst="rect">
            <a:avLst/>
          </a:prstGeom>
          <a:solidFill>
            <a:srgbClr val="6E67D8"/>
          </a:solidFill>
          <a:ln w="12700">
            <a:solidFill>
              <a:srgbClr val="6E67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827532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 question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75320" y="2953512"/>
            <a:ext cx="2743200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data structure would you use for repeated CGM measurements?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1828800" y="4800600"/>
            <a:ext cx="8412480" cy="0"/>
          </a:xfrm>
          <a:prstGeom prst="line">
            <a:avLst/>
          </a:prstGeom>
          <a:noFill/>
          <a:ln w="12700">
            <a:solidFill>
              <a:srgbClr val="D7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1097280" y="5074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2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of Lesson 3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4063</Words>
  <Application>Microsoft Macintosh PowerPoint</Application>
  <PresentationFormat>Widescreen</PresentationFormat>
  <Paragraphs>568</Paragraphs>
  <Slides>34</Slides>
  <Notes>34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Università di Pavia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 — Algorithm Efficiency and Computational Complexity</dc:title>
  <dc:subject>Algorithms and Data Structures for Medical Informatics - Lesson 3</dc:subject>
  <dc:creator>Simone Rancati</dc:creator>
  <cp:lastModifiedBy>RANCATI SIMONE</cp:lastModifiedBy>
  <cp:revision>3</cp:revision>
  <dcterms:created xsi:type="dcterms:W3CDTF">2026-08-18T16:17:37Z</dcterms:created>
  <dcterms:modified xsi:type="dcterms:W3CDTF">2026-09-03T12:55:51Z</dcterms:modified>
</cp:coreProperties>
</file>