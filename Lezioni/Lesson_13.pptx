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8"/>
  </p:normalViewPr>
  <p:slideViewPr>
    <p:cSldViewPr snapToGrid="0" snapToObjects="1">
      <p:cViewPr varScale="1">
        <p:scale>
          <a:sx n="103" d="100"/>
          <a:sy n="103" d="100"/>
        </p:scale>
        <p:origin x="80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5212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Algorithms and Data Structures
for Medical Informatics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7764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dirty="0">
                <a:solidFill>
                  <a:srgbClr val="276FBF"/>
                </a:solidFill>
                <a:latin typeface="Aptos Display"/>
              </a:rPr>
              <a:t>Lesson 13 — Greedy Algorithms and Dynamic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16525"/>
            <a:ext cx="54376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>
                <a:solidFill>
                  <a:srgbClr val="5E778F"/>
                </a:solidFill>
                <a:latin typeface="Aptos"/>
              </a:rPr>
              <a:t>Healthcare resource scheduling and biological sequence 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056632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dirty="0">
                <a:solidFill>
                  <a:srgbClr val="233142"/>
                </a:solidFill>
                <a:latin typeface="Aptos"/>
              </a:rPr>
              <a:t>ITS · Medical Informatics
23 September 2026 · 11:30–13:30
Prof. Simone </a:t>
            </a:r>
            <a:r>
              <a:rPr sz="1600" b="0" dirty="0" err="1">
                <a:solidFill>
                  <a:srgbClr val="233142"/>
                </a:solidFill>
                <a:latin typeface="Aptos"/>
              </a:rPr>
              <a:t>Rancati</a:t>
            </a:r>
            <a:r>
              <a:rPr sz="1600" b="0" dirty="0">
                <a:solidFill>
                  <a:srgbClr val="233142"/>
                </a:solidFill>
                <a:latin typeface="Aptos"/>
              </a:rPr>
              <a:t>, PhD</a:t>
            </a:r>
          </a:p>
        </p:txBody>
      </p:sp>
      <p:pic>
        <p:nvPicPr>
          <p:cNvPr id="7" name="Picture 6" descr="wide_clean_vector_illustration_scene_with_lots_of.png"/>
          <p:cNvPicPr>
            <a:picLocks noChangeAspect="1"/>
          </p:cNvPicPr>
          <p:nvPr/>
        </p:nvPicPr>
        <p:blipFill>
          <a:blip r:embed="rId2"/>
          <a:srcRect l="30455"/>
          <a:stretch>
            <a:fillRect/>
          </a:stretch>
        </p:blipFill>
        <p:spPr>
          <a:xfrm>
            <a:off x="6073379" y="1266530"/>
            <a:ext cx="5228605" cy="42313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LESSON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Lesson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196596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1. Paradigms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221991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Why algorithmic strategies matter.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2816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0832" y="196596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2. Greedy algorithms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2221991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Local choices and scheduling examples.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4384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196596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3. Dynamic programming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221991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Subproblems, memory and optimal solutions.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2918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4. Healthcare scheduling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547872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Resources, rooms, staff and patients.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2" y="32918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5. Sequence 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547872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Biological sequences and DP matrices.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44384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32918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6. Practice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547872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Pseudocode, exercises and recap.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AT THE END OF THE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847088"/>
            <a:ext cx="7315200" cy="4666983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Explain what an algorithmic paradigm is.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Describe the logic of greedy algorithms and their limitations.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Apply greedy reasoning to simple healthcare scheduling problems.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Explain optimal substructure and overlapping subproblems.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Describe dynamic programming using </a:t>
            </a:r>
            <a:r>
              <a:rPr sz="2400" dirty="0" err="1"/>
              <a:t>memoization</a:t>
            </a:r>
            <a:r>
              <a:rPr sz="2400" dirty="0"/>
              <a:t> and tabulation.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Understand why sequence alignment is naturally solved with dynamic programming.</a:t>
            </a:r>
          </a:p>
        </p:txBody>
      </p:sp>
      <p:pic>
        <p:nvPicPr>
          <p:cNvPr id="7" name="Picture 6" descr="wide_clean_medical_biotech_concept_illustration_on.png"/>
          <p:cNvPicPr>
            <a:picLocks noChangeAspect="1"/>
          </p:cNvPicPr>
          <p:nvPr/>
        </p:nvPicPr>
        <p:blipFill>
          <a:blip r:embed="rId2"/>
          <a:srcRect l="45630"/>
          <a:stretch>
            <a:fillRect/>
          </a:stretch>
        </p:blipFill>
        <p:spPr>
          <a:xfrm>
            <a:off x="8128027" y="1847088"/>
            <a:ext cx="3382138" cy="35009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What is an algorithmic paradigm?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418320" cy="298754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An algorithmic paradigm is a general strategy for designing algorithms.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does not solve one specific problem only; it provides a way of thinking.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Different paradigms fit different problem structures.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Today we compare two important paradigms: greedy algorithms and dynamic programming.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TWO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Greedy vs dynamic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46634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4517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Greedy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67712"/>
            <a:ext cx="4206240" cy="1666034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Builds a solution step by step.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At each step, makes the locally best choice.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Does not usually reconsider past choices.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10512"/>
            <a:ext cx="42062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2" y="1865376"/>
            <a:ext cx="40599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Dynamic programming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67712"/>
            <a:ext cx="4023360" cy="1666034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Breaks the problem into subproblems.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Stores intermediate results.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Combines subproblem answers into a global solution.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206240"/>
            <a:ext cx="7498079" cy="104538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56816" y="4297679"/>
            <a:ext cx="724204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Key distinction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4553712"/>
            <a:ext cx="724204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Greedy is fast and simple when valid; dynamic programming is more systematic when choices interact.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GREEDY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Core intuition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669280" cy="415094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greedy algorithm repeatedly chooses the option that looks best at the current moment.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choice is local: it uses the information available at that step.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hope is that a sequence of locally good choices produces a globally good solution.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is correct only for specific classes of problems.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874519"/>
            <a:ext cx="347472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11696" y="1965960"/>
            <a:ext cx="32186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1696" y="2221991"/>
            <a:ext cx="32186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choose best current option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321040" y="2532888"/>
            <a:ext cx="0" cy="18288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583680" y="2715768"/>
            <a:ext cx="347472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11696" y="2807208"/>
            <a:ext cx="32186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1696" y="3063239"/>
            <a:ext cx="32186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update remaining problem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321040" y="3374136"/>
            <a:ext cx="0" cy="18288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583680" y="3557015"/>
            <a:ext cx="347472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11696" y="3648456"/>
            <a:ext cx="32186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1696" y="3904487"/>
            <a:ext cx="32186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repeat until complete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GREEDY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Local optimum vs global optimum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669280" cy="415094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local optimum is the best choice within the current step.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global optimum is the best solution for the whole problem.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Greedy algorithms assume that local choices can safely lead to a global optimum.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When this assumption fails, greedy reasoning can produce a suboptimal solution.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874519"/>
            <a:ext cx="3566160" cy="77724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65976" y="1965960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Local choice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5976" y="2221991"/>
            <a:ext cx="331012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best now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834640"/>
            <a:ext cx="3566160" cy="77724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65976" y="2926080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Global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5976" y="3182112"/>
            <a:ext cx="331012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best overall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3794760"/>
            <a:ext cx="3566160" cy="685800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65976" y="3886200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5976" y="4142232"/>
            <a:ext cx="331012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best now ≠ best overall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GREEDY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Generic greedy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47088"/>
            <a:ext cx="4937760" cy="25603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1993392"/>
            <a:ext cx="4608576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Greedy(problem):</a:t>
            </a:r>
          </a:p>
          <a:p>
            <a:pPr>
              <a:spcAft>
                <a:spcPts val="10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    solution ← empty</a:t>
            </a:r>
          </a:p>
          <a:p>
            <a:pPr>
              <a:spcAft>
                <a:spcPts val="10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    WHILE problem is not complete:</a:t>
            </a:r>
          </a:p>
          <a:p>
            <a:pPr>
              <a:spcAft>
                <a:spcPts val="10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        candidate ← best local choice</a:t>
            </a:r>
          </a:p>
          <a:p>
            <a:pPr>
              <a:spcAft>
                <a:spcPts val="10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        add candidate to solution</a:t>
            </a:r>
          </a:p>
          <a:p>
            <a:pPr>
              <a:spcAft>
                <a:spcPts val="10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        update remaining problem</a:t>
            </a:r>
          </a:p>
          <a:p>
            <a:pPr>
              <a:spcAft>
                <a:spcPts val="10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    RETURN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938528"/>
            <a:ext cx="4480560" cy="369902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key design question is: what does “best local choice” mean?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second question is: can this local choice be proven safe?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Without a safe-choice property, greedy is only a heuristic.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HEALTHCARE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Motivating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669280" cy="376314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hospital has one diagnostic room available during the morning.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Several patient exams have start and end times.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goal is to schedule the largest possible number of non-overlapping exams.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is a simplified resource-scheduling problem.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920240"/>
            <a:ext cx="3566160" cy="694944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65976" y="2011680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Exam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5976" y="2267712"/>
            <a:ext cx="3310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08:00–09:30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743200"/>
            <a:ext cx="3566160" cy="694944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65976" y="2834640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Exam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5976" y="3090672"/>
            <a:ext cx="3310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09:00–10:00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3566160"/>
            <a:ext cx="3566160" cy="694944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65976" y="3657600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Exam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5976" y="3913632"/>
            <a:ext cx="3310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10:00–11:00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GREEDY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Interval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669280" cy="376314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classic greedy strategy is to always select the compatible exam that finishes earliest.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After selecting an exam, remove all exams that overlap with it.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Repeat the procedure on the remaining exams.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For the basic interval-scheduling problem, this greedy rule is optimal.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47088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76FBF"/>
                </a:solidFill>
                <a:latin typeface="Aptos"/>
              </a:rPr>
              <a:t>Diagnostic room 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31720"/>
            <a:ext cx="228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E778F"/>
                </a:solidFill>
                <a:latin typeface="Aptos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2331720"/>
            <a:ext cx="228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E778F"/>
                </a:solidFill>
                <a:latin typeface="Aptos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331720"/>
            <a:ext cx="3805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>
                <a:solidFill>
                  <a:srgbClr val="5E778F"/>
                </a:solidFill>
                <a:latin typeface="Aptos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331719"/>
            <a:ext cx="3805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E778F"/>
                </a:solidFill>
                <a:latin typeface="Aptos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2331720"/>
            <a:ext cx="3805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>
                <a:solidFill>
                  <a:srgbClr val="5E778F"/>
                </a:solidFill>
                <a:latin typeface="Aptos"/>
              </a:rPr>
              <a:t>12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92240" y="2560320"/>
            <a:ext cx="3474720" cy="0"/>
          </a:xfrm>
          <a:prstGeom prst="line">
            <a:avLst/>
          </a:prstGeom>
          <a:ln w="16510">
            <a:solidFill>
              <a:srgbClr val="5E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92240" y="2834640"/>
            <a:ext cx="1188720" cy="41148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0255" y="2926080"/>
            <a:ext cx="9326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3161"/>
                </a:solidFill>
                <a:latin typeface="Aptos"/>
              </a:rPr>
              <a:t>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3383280"/>
            <a:ext cx="914400" cy="411480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97496" y="3474720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3161"/>
                </a:solidFill>
                <a:latin typeface="Aptos"/>
              </a:rPr>
              <a:t>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931920"/>
            <a:ext cx="914400" cy="41148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66176" y="4023359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3161"/>
                </a:solidFill>
                <a:latin typeface="Aptos"/>
              </a:rPr>
              <a:t>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2834640"/>
            <a:ext cx="914400" cy="41148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89136" y="2926080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3161"/>
                </a:solidFill>
                <a:latin typeface="Aptos"/>
              </a:rPr>
              <a:t>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GREEDY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Interval scheduling pseudocode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47088"/>
            <a:ext cx="5120640" cy="274320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1993392"/>
            <a:ext cx="4791455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20">
                <a:solidFill>
                  <a:srgbClr val="0D3161"/>
                </a:solidFill>
                <a:latin typeface="Courier New"/>
              </a:defRPr>
            </a:pPr>
            <a:r>
              <a:t>Schedule(exams):</a:t>
            </a:r>
          </a:p>
          <a:p>
            <a:pPr>
              <a:spcAft>
                <a:spcPts val="100"/>
              </a:spcAft>
              <a:defRPr sz="1320">
                <a:solidFill>
                  <a:srgbClr val="0D3161"/>
                </a:solidFill>
                <a:latin typeface="Courier New"/>
              </a:defRPr>
            </a:pPr>
            <a:r>
              <a:t>    sort exams by end time</a:t>
            </a:r>
          </a:p>
          <a:p>
            <a:pPr>
              <a:spcAft>
                <a:spcPts val="100"/>
              </a:spcAft>
              <a:defRPr sz="1320">
                <a:solidFill>
                  <a:srgbClr val="0D3161"/>
                </a:solidFill>
                <a:latin typeface="Courier New"/>
              </a:defRPr>
            </a:pPr>
            <a:r>
              <a:t>    selected ← empty</a:t>
            </a:r>
          </a:p>
          <a:p>
            <a:pPr>
              <a:spcAft>
                <a:spcPts val="100"/>
              </a:spcAft>
              <a:defRPr sz="1320">
                <a:solidFill>
                  <a:srgbClr val="0D3161"/>
                </a:solidFill>
                <a:latin typeface="Courier New"/>
              </a:defRPr>
            </a:pPr>
            <a:r>
              <a:t>    last_end ← -∞</a:t>
            </a:r>
          </a:p>
          <a:p>
            <a:pPr>
              <a:spcAft>
                <a:spcPts val="100"/>
              </a:spcAft>
              <a:defRPr sz="1320">
                <a:solidFill>
                  <a:srgbClr val="0D3161"/>
                </a:solidFill>
                <a:latin typeface="Courier New"/>
              </a:defRPr>
            </a:pPr>
            <a:r>
              <a:t>    FOR each exam in sorted exams:</a:t>
            </a:r>
          </a:p>
          <a:p>
            <a:pPr>
              <a:spcAft>
                <a:spcPts val="100"/>
              </a:spcAft>
              <a:defRPr sz="1320">
                <a:solidFill>
                  <a:srgbClr val="0D3161"/>
                </a:solidFill>
                <a:latin typeface="Courier New"/>
              </a:defRPr>
            </a:pPr>
            <a:r>
              <a:t>        IF exam.start ≥ last_end:</a:t>
            </a:r>
          </a:p>
          <a:p>
            <a:pPr>
              <a:spcAft>
                <a:spcPts val="100"/>
              </a:spcAft>
              <a:defRPr sz="1320">
                <a:solidFill>
                  <a:srgbClr val="0D3161"/>
                </a:solidFill>
                <a:latin typeface="Courier New"/>
              </a:defRPr>
            </a:pPr>
            <a:r>
              <a:t>            add exam to selected</a:t>
            </a:r>
          </a:p>
          <a:p>
            <a:pPr>
              <a:spcAft>
                <a:spcPts val="100"/>
              </a:spcAft>
              <a:defRPr sz="1320">
                <a:solidFill>
                  <a:srgbClr val="0D3161"/>
                </a:solidFill>
                <a:latin typeface="Courier New"/>
              </a:defRPr>
            </a:pPr>
            <a:r>
              <a:t>            last_end ← exam.end</a:t>
            </a:r>
          </a:p>
          <a:p>
            <a:pPr>
              <a:spcAft>
                <a:spcPts val="100"/>
              </a:spcAft>
              <a:defRPr sz="1320">
                <a:solidFill>
                  <a:srgbClr val="0D3161"/>
                </a:solidFill>
                <a:latin typeface="Courier New"/>
              </a:defRPr>
            </a:pPr>
            <a:r>
              <a:t>    RETURN selected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920240"/>
            <a:ext cx="4297680" cy="3311227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Sorting by finishing time is the key greedy choice.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algorithm accepts an exam only if it does not overlap with the last selected exam.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is simple, fast and interpretable.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HEALTHCARE RESOURCE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the simplified problem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669280" cy="415094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Hospitals schedule patients, rooms, devices, professionals and time slots.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simple greedy rule can be useful when the objective is clear and constraints are limited.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Real systems often include priorities, emergencies, staff availability and preparation time.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These additional constraints can make the problem much harder.</a:t>
            </a:r>
          </a:p>
        </p:txBody>
      </p:sp>
      <p:pic>
        <p:nvPicPr>
          <p:cNvPr id="7" name="Picture 6" descr="wide_clean_vector_illustration_style_infographic.png"/>
          <p:cNvPicPr>
            <a:picLocks noChangeAspect="1"/>
          </p:cNvPicPr>
          <p:nvPr/>
        </p:nvPicPr>
        <p:blipFill>
          <a:blip r:embed="rId2"/>
          <a:srcRect l="36222"/>
          <a:stretch>
            <a:fillRect/>
          </a:stretch>
        </p:blipFill>
        <p:spPr>
          <a:xfrm>
            <a:off x="6771502" y="1887480"/>
            <a:ext cx="4232426" cy="37348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GREEDY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When can greedy work well?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6596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Greedy-choice property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221991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 local choice can be part of an optimal global solution.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74519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6596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Optimal substructure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221991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An optimal solution contains optimal solutions to smaller subproblems.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72968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326440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Clear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520439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The algorithm knows exactly what it is optimizing.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172968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326440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Limited constraints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520439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Interactions between future choices are manageable.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GREEDY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When greedy can 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Greedy can fail when an early local decision blocks a better future solution.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Healthcare scheduling often contains dependencies: staff shifts, device cleaning, urgent cases and patient constraints.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these settings, greedy may be useful as a heuristic but not guaranteed optimal.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We then need more systematic methods, such as dynamic programming or optimization models.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DYNAMIC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Core intuition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669280" cy="415094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Dynamic programming solves a problem by breaking it into smaller subproblems.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stores the answers to subproblems so they are not recomputed repeatedly.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stored answers are combined to solve the original problem.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is especially useful when choices interact across time or sequence positions.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874519"/>
            <a:ext cx="338328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57416" y="1965960"/>
            <a:ext cx="3127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Break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57416" y="2221991"/>
            <a:ext cx="3127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define subproblems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2715768"/>
            <a:ext cx="338328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57416" y="2807208"/>
            <a:ext cx="3127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57416" y="3063239"/>
            <a:ext cx="3127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save intermediate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3557015"/>
            <a:ext cx="338328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57416" y="3648456"/>
            <a:ext cx="3127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Combine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7416" y="3904487"/>
            <a:ext cx="3127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build final answer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DYNAMIC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Two necessary ideas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46634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4517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Optimal substructure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297680" cy="1561774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50">
                <a:solidFill>
                  <a:srgbClr val="233142"/>
                </a:solidFill>
                <a:latin typeface="Aptos"/>
              </a:defRPr>
            </a:pPr>
            <a:r>
              <a:rPr dirty="0"/>
              <a:t>The optimal solution can be built from optimal solutions to smaller subproblems.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50">
                <a:solidFill>
                  <a:srgbClr val="233142"/>
                </a:solidFill>
                <a:latin typeface="Aptos"/>
              </a:defRPr>
            </a:pPr>
            <a:r>
              <a:rPr dirty="0"/>
              <a:t>Example: best alignment up to position </a:t>
            </a:r>
            <a:r>
              <a:rPr dirty="0" err="1"/>
              <a:t>i</a:t>
            </a:r>
            <a:r>
              <a:rPr dirty="0"/>
              <a:t> depends on best alignments before </a:t>
            </a:r>
            <a:r>
              <a:rPr dirty="0" err="1"/>
              <a:t>i</a:t>
            </a:r>
            <a:r>
              <a:rPr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10512"/>
            <a:ext cx="42062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2" y="1865376"/>
            <a:ext cx="40599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Overlapping subproblems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40280"/>
            <a:ext cx="4023360" cy="1279004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50">
                <a:solidFill>
                  <a:srgbClr val="233142"/>
                </a:solidFill>
                <a:latin typeface="Aptos"/>
              </a:defRPr>
            </a:pPr>
            <a:r>
              <a:rPr dirty="0"/>
              <a:t>The same subproblems appear many times.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50">
                <a:solidFill>
                  <a:srgbClr val="233142"/>
                </a:solidFill>
                <a:latin typeface="Aptos"/>
              </a:defRPr>
            </a:pPr>
            <a:r>
              <a:rPr dirty="0"/>
              <a:t>Storing answers avoids repeated computation.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DYNAMIC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Memoization vs tabulation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4434840" cy="12344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6596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Memoization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221991"/>
            <a:ext cx="4178807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Top-down approach.</a:t>
            </a:r>
          </a:p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Use recursion and cache results.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74519"/>
            <a:ext cx="4434840" cy="12344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6596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Tabulation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221991"/>
            <a:ext cx="4178807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Bottom-up approach.</a:t>
            </a:r>
          </a:p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Fill a table from small cases to larger cases.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5920" y="3657600"/>
            <a:ext cx="8229600" cy="73152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73936" y="3749039"/>
            <a:ext cx="7973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Common principle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3936" y="4005072"/>
            <a:ext cx="7973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Both approaches avoid solving the same subproblem many times.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DYNAMIC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 simple intuition: repeated subproblems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669280" cy="376314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Recursive Fibonacci is a classic example of repeated work.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same values are computed again and again.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Dynamic programming stores each value once.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lesson is not Fibonacci itself; the lesson is avoiding repeated subproblem computation.</a:t>
            </a:r>
          </a:p>
        </p:txBody>
      </p:sp>
      <p:sp>
        <p:nvSpPr>
          <p:cNvPr id="7" name="Oval 6"/>
          <p:cNvSpPr/>
          <p:nvPr/>
        </p:nvSpPr>
        <p:spPr>
          <a:xfrm>
            <a:off x="7772400" y="1828800"/>
            <a:ext cx="566928" cy="566928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45552" y="1965960"/>
            <a:ext cx="4206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F5</a:t>
            </a:r>
          </a:p>
        </p:txBody>
      </p:sp>
      <p:sp>
        <p:nvSpPr>
          <p:cNvPr id="9" name="Oval 8"/>
          <p:cNvSpPr/>
          <p:nvPr/>
        </p:nvSpPr>
        <p:spPr>
          <a:xfrm>
            <a:off x="6858000" y="2743200"/>
            <a:ext cx="566928" cy="566928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31152" y="2880360"/>
            <a:ext cx="4206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F4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0" y="2743200"/>
            <a:ext cx="566928" cy="566928"/>
          </a:xfrm>
          <a:prstGeom prst="ellipse">
            <a:avLst/>
          </a:prstGeom>
          <a:solidFill>
            <a:srgbClr val="FFF5E1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59952" y="2880360"/>
            <a:ext cx="4206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F3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0" y="3657600"/>
            <a:ext cx="566928" cy="566928"/>
          </a:xfrm>
          <a:prstGeom prst="ellipse">
            <a:avLst/>
          </a:prstGeom>
          <a:solidFill>
            <a:srgbClr val="FFF5E1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91072" y="3794760"/>
            <a:ext cx="4206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F3</a:t>
            </a:r>
          </a:p>
        </p:txBody>
      </p:sp>
      <p:sp>
        <p:nvSpPr>
          <p:cNvPr id="15" name="Oval 14"/>
          <p:cNvSpPr/>
          <p:nvPr/>
        </p:nvSpPr>
        <p:spPr>
          <a:xfrm>
            <a:off x="7406640" y="3657600"/>
            <a:ext cx="566928" cy="566928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79792" y="3794760"/>
            <a:ext cx="4206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F2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7114032" y="2103120"/>
            <a:ext cx="914399" cy="91440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28431" y="2103120"/>
            <a:ext cx="914401" cy="91440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473952" y="3017520"/>
            <a:ext cx="640080" cy="91440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114032" y="3017520"/>
            <a:ext cx="548640" cy="91440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0" y="443484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E778F"/>
                </a:solidFill>
                <a:latin typeface="Aptos"/>
              </a:rPr>
              <a:t>F3 appears more than once → store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DYNAMIC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The DP table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66928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DP table stores the solution of many smaller subproblems.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Each cell represents a state of the problem.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value in a cell is computed from previously solved cells.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final answer is found in one specific cell or reconstructed from the 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920240"/>
            <a:ext cx="402336" cy="310896"/>
          </a:xfrm>
          <a:prstGeom prst="roundRect">
            <a:avLst/>
          </a:prstGeom>
          <a:solidFill>
            <a:srgbClr val="ECF8E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1968" y="1993392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059168" y="1920240"/>
            <a:ext cx="402336" cy="310896"/>
          </a:xfrm>
          <a:prstGeom prst="roundRect">
            <a:avLst/>
          </a:prstGeom>
          <a:solidFill>
            <a:srgbClr val="ECF8E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77456" y="1993392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534656" y="1920240"/>
            <a:ext cx="402336" cy="310896"/>
          </a:xfrm>
          <a:prstGeom prst="roundRect">
            <a:avLst/>
          </a:prstGeom>
          <a:solidFill>
            <a:srgbClr val="ECF8E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52944" y="1993392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10144" y="1920240"/>
            <a:ext cx="402336" cy="310896"/>
          </a:xfrm>
          <a:prstGeom prst="roundRect">
            <a:avLst/>
          </a:prstGeom>
          <a:solidFill>
            <a:srgbClr val="ECF8E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28431" y="1993392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485632" y="1920240"/>
            <a:ext cx="402336" cy="310896"/>
          </a:xfrm>
          <a:prstGeom prst="roundRect">
            <a:avLst/>
          </a:prstGeom>
          <a:solidFill>
            <a:srgbClr val="ECF8E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0" y="1993392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83680" y="2304288"/>
            <a:ext cx="402336" cy="310896"/>
          </a:xfrm>
          <a:prstGeom prst="roundRect">
            <a:avLst/>
          </a:prstGeom>
          <a:solidFill>
            <a:srgbClr val="ECF8E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01968" y="2377440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059168" y="2304288"/>
            <a:ext cx="402336" cy="310896"/>
          </a:xfrm>
          <a:prstGeom prst="roundRect">
            <a:avLst/>
          </a:prstGeom>
          <a:solidFill>
            <a:srgbClr val="FFF5E1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77456" y="2377440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534656" y="2304288"/>
            <a:ext cx="402336" cy="310896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010144" y="2304288"/>
            <a:ext cx="402336" cy="310896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28431" y="2377440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485632" y="2304288"/>
            <a:ext cx="402336" cy="310896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03920" y="2377440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583680" y="2688336"/>
            <a:ext cx="402336" cy="310896"/>
          </a:xfrm>
          <a:prstGeom prst="roundRect">
            <a:avLst/>
          </a:prstGeom>
          <a:solidFill>
            <a:srgbClr val="ECF8E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01968" y="2761488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059168" y="2688336"/>
            <a:ext cx="402336" cy="310896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77456" y="2761488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534656" y="2688336"/>
            <a:ext cx="402336" cy="310896"/>
          </a:xfrm>
          <a:prstGeom prst="roundRect">
            <a:avLst/>
          </a:prstGeom>
          <a:solidFill>
            <a:srgbClr val="FFF5E1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52944" y="2761488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010144" y="2688336"/>
            <a:ext cx="402336" cy="310896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28431" y="2761488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485632" y="2688336"/>
            <a:ext cx="402336" cy="310896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03920" y="2761488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583680" y="3072384"/>
            <a:ext cx="402336" cy="310896"/>
          </a:xfrm>
          <a:prstGeom prst="roundRect">
            <a:avLst/>
          </a:prstGeom>
          <a:solidFill>
            <a:srgbClr val="ECF8E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01968" y="3145536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059168" y="3072384"/>
            <a:ext cx="402336" cy="310896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077456" y="3145536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7534656" y="3072384"/>
            <a:ext cx="402336" cy="310896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552944" y="3145536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010144" y="3072384"/>
            <a:ext cx="402336" cy="310896"/>
          </a:xfrm>
          <a:prstGeom prst="roundRect">
            <a:avLst/>
          </a:prstGeom>
          <a:solidFill>
            <a:srgbClr val="FFF5E1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28431" y="3145536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485632" y="3072384"/>
            <a:ext cx="402336" cy="310896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503920" y="3145536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583680" y="3456432"/>
            <a:ext cx="402336" cy="310896"/>
          </a:xfrm>
          <a:prstGeom prst="roundRect">
            <a:avLst/>
          </a:prstGeom>
          <a:solidFill>
            <a:srgbClr val="ECF8E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01968" y="3529584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7059168" y="3456432"/>
            <a:ext cx="402336" cy="310896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077456" y="3529584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7534656" y="3456432"/>
            <a:ext cx="402336" cy="310896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552944" y="3529584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8010144" y="3456432"/>
            <a:ext cx="402336" cy="310896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028431" y="3529584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8485632" y="3456432"/>
            <a:ext cx="402336" cy="310896"/>
          </a:xfrm>
          <a:prstGeom prst="roundRect">
            <a:avLst/>
          </a:prstGeom>
          <a:solidFill>
            <a:srgbClr val="FFF5E1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503920" y="3529584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583680" y="416052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76FBF"/>
                </a:solidFill>
                <a:latin typeface="Aptos"/>
              </a:rPr>
              <a:t>Each cell = one subproblem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sequence alignment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760720" cy="376314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Biological sequences such as DNA, RNA and proteins can be compared as strings.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Alignment identifies positions that match, mismatch or require gaps.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helps compare genes, variants and evolutionary relationships.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Sequence alignment is a classical dynamic-programming application.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920240"/>
            <a:ext cx="3657600" cy="6858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11696" y="2011680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Sequence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1696" y="2267712"/>
            <a:ext cx="34015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A C G T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788920"/>
            <a:ext cx="3657600" cy="6858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11696" y="2880360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Sequence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1696" y="3136391"/>
            <a:ext cx="34015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A G T 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3657600"/>
            <a:ext cx="3657600" cy="68580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11696" y="3749039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Goal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1696" y="4005072"/>
            <a:ext cx="34015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align symbols and gaps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SEQUENCE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Match, mismatch and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2971800" cy="132588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65960"/>
            <a:ext cx="2715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221991"/>
            <a:ext cx="2715768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Same character aligned with same character.</a:t>
            </a:r>
          </a:p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Example: A aligned with 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74519"/>
            <a:ext cx="2971800" cy="132588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25696" y="1965960"/>
            <a:ext cx="2715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Mismatch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5696" y="2221991"/>
            <a:ext cx="2715768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Different characters aligned.</a:t>
            </a:r>
          </a:p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Example: C aligned with 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874519"/>
            <a:ext cx="2971800" cy="1325880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54696" y="1965960"/>
            <a:ext cx="2715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4696" y="2221991"/>
            <a:ext cx="2715768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One sequence has an inserted missing position.</a:t>
            </a:r>
          </a:p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Example: A aligned with –.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45920" y="3749039"/>
            <a:ext cx="8229600" cy="6858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73936" y="3840479"/>
            <a:ext cx="7973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Scoring idea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73936" y="4096511"/>
            <a:ext cx="79735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A scoring system rewards matches and penalizes mismatches or gaps.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SEQUENCE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dynamic programming 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599751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best alignment of two prefixes depends on smaller prefix alignments.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At each position, we choose among match/mismatch, gap in sequence 1, or gap in sequence 2.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same prefix comparisons appear repeatedly.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DP matrix stores the best score for each pair of prefixes.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SEQUENCE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DP matrix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30352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Rows represent prefixes of one sequence.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Columns represent prefixes of the other sequence.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Each cell stores the best alignment score up to that pair of prefixes.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final score is usually located in the bottom-right cell.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59" y="1554480"/>
            <a:ext cx="274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70648" y="1554480"/>
            <a:ext cx="274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46136" y="1554480"/>
            <a:ext cx="274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1624" y="1554480"/>
            <a:ext cx="274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57984"/>
            <a:ext cx="274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542032"/>
            <a:ext cx="274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926079"/>
            <a:ext cx="274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310128"/>
            <a:ext cx="274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694176"/>
            <a:ext cx="274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3161"/>
                </a:solidFill>
                <a:latin typeface="Aptos"/>
              </a:rPr>
              <a:t>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2057400"/>
            <a:ext cx="393192" cy="292608"/>
          </a:xfrm>
          <a:prstGeom prst="roundRect">
            <a:avLst/>
          </a:prstGeom>
          <a:solidFill>
            <a:srgbClr val="ECF8E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22007" y="2130552"/>
            <a:ext cx="3566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79208" y="2057400"/>
            <a:ext cx="393192" cy="292608"/>
          </a:xfrm>
          <a:prstGeom prst="roundRect">
            <a:avLst/>
          </a:prstGeom>
          <a:solidFill>
            <a:srgbClr val="ECF8E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97496" y="2130552"/>
            <a:ext cx="3566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854696" y="2057400"/>
            <a:ext cx="393192" cy="292608"/>
          </a:xfrm>
          <a:prstGeom prst="roundRect">
            <a:avLst/>
          </a:prstGeom>
          <a:solidFill>
            <a:srgbClr val="ECF8E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72983" y="2130552"/>
            <a:ext cx="3566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30183" y="2057400"/>
            <a:ext cx="393192" cy="292608"/>
          </a:xfrm>
          <a:prstGeom prst="roundRect">
            <a:avLst/>
          </a:prstGeom>
          <a:solidFill>
            <a:srgbClr val="ECF8E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48471" y="2130552"/>
            <a:ext cx="3566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03720" y="2441448"/>
            <a:ext cx="393192" cy="292608"/>
          </a:xfrm>
          <a:prstGeom prst="roundRect">
            <a:avLst/>
          </a:prstGeom>
          <a:solidFill>
            <a:srgbClr val="ECF8E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22007" y="2514600"/>
            <a:ext cx="3566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379208" y="2441448"/>
            <a:ext cx="393192" cy="292608"/>
          </a:xfrm>
          <a:prstGeom prst="roundRect">
            <a:avLst/>
          </a:prstGeom>
          <a:solidFill>
            <a:srgbClr val="FFF5E1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97496" y="2514600"/>
            <a:ext cx="3566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854696" y="2441448"/>
            <a:ext cx="393192" cy="292608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72983" y="2514600"/>
            <a:ext cx="3566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30183" y="2441448"/>
            <a:ext cx="393192" cy="292608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48471" y="2514600"/>
            <a:ext cx="3566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903720" y="2825496"/>
            <a:ext cx="393192" cy="292608"/>
          </a:xfrm>
          <a:prstGeom prst="roundRect">
            <a:avLst/>
          </a:prstGeom>
          <a:solidFill>
            <a:srgbClr val="ECF8E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22007" y="2898648"/>
            <a:ext cx="3566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379208" y="2825496"/>
            <a:ext cx="393192" cy="292608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97496" y="2898648"/>
            <a:ext cx="3566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854696" y="2825496"/>
            <a:ext cx="393192" cy="292608"/>
          </a:xfrm>
          <a:prstGeom prst="roundRect">
            <a:avLst/>
          </a:prstGeom>
          <a:solidFill>
            <a:srgbClr val="FFF5E1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72983" y="2898648"/>
            <a:ext cx="3566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30183" y="2825496"/>
            <a:ext cx="393192" cy="292608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48471" y="2898648"/>
            <a:ext cx="3566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903720" y="3209544"/>
            <a:ext cx="393192" cy="292608"/>
          </a:xfrm>
          <a:prstGeom prst="roundRect">
            <a:avLst/>
          </a:prstGeom>
          <a:solidFill>
            <a:srgbClr val="ECF8E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922007" y="3282696"/>
            <a:ext cx="3566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379208" y="3209544"/>
            <a:ext cx="393192" cy="292608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97496" y="3282696"/>
            <a:ext cx="3566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7854696" y="3209544"/>
            <a:ext cx="393192" cy="292608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872983" y="3282696"/>
            <a:ext cx="3566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330183" y="3209544"/>
            <a:ext cx="393192" cy="292608"/>
          </a:xfrm>
          <a:prstGeom prst="roundRect">
            <a:avLst/>
          </a:prstGeom>
          <a:solidFill>
            <a:srgbClr val="FFF5E1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48471" y="3282696"/>
            <a:ext cx="3566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6903720" y="3593591"/>
            <a:ext cx="393192" cy="292608"/>
          </a:xfrm>
          <a:prstGeom prst="roundRect">
            <a:avLst/>
          </a:prstGeom>
          <a:solidFill>
            <a:srgbClr val="ECF8E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922007" y="3666744"/>
            <a:ext cx="3566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7379208" y="3593591"/>
            <a:ext cx="393192" cy="292608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397496" y="3666744"/>
            <a:ext cx="3566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7854696" y="3593591"/>
            <a:ext cx="393192" cy="292608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872983" y="3666744"/>
            <a:ext cx="3566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8330183" y="3593591"/>
            <a:ext cx="393192" cy="292608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348471" y="3666744"/>
            <a:ext cx="3566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SEQUENCE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The recurrence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4480560" cy="86868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20240"/>
            <a:ext cx="4224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Diagonal move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176272"/>
            <a:ext cx="4224528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Align two characters: match or mismatch.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880360"/>
            <a:ext cx="4480560" cy="86868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96695" y="2971800"/>
            <a:ext cx="4224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Up move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5" y="3227832"/>
            <a:ext cx="4224528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Introduce a gap in one sequence.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931920"/>
            <a:ext cx="4480560" cy="86868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4023359"/>
            <a:ext cx="4224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Left move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4279392"/>
            <a:ext cx="4224528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Introduce a gap in the other sequence.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148840"/>
            <a:ext cx="475488" cy="384048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67727" y="2221992"/>
            <a:ext cx="43891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516367" y="2148840"/>
            <a:ext cx="475488" cy="384048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34655" y="2221992"/>
            <a:ext cx="43891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083296" y="2148840"/>
            <a:ext cx="475488" cy="384048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01583" y="2221992"/>
            <a:ext cx="43891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949440" y="2624328"/>
            <a:ext cx="475488" cy="384048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67727" y="2697480"/>
            <a:ext cx="43891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516367" y="2624328"/>
            <a:ext cx="475488" cy="384048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34655" y="2697480"/>
            <a:ext cx="43891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083296" y="2624328"/>
            <a:ext cx="475488" cy="384048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01583" y="2697480"/>
            <a:ext cx="43891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949440" y="3099816"/>
            <a:ext cx="475488" cy="384048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67727" y="3172968"/>
            <a:ext cx="43891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516367" y="3099816"/>
            <a:ext cx="475488" cy="384048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34655" y="3172968"/>
            <a:ext cx="43891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083296" y="3099816"/>
            <a:ext cx="475488" cy="384048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01583" y="3172968"/>
            <a:ext cx="43891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cxnSp>
        <p:nvCxnSpPr>
          <p:cNvPr id="33" name="Connector 32"/>
          <p:cNvCxnSpPr/>
          <p:nvPr/>
        </p:nvCxnSpPr>
        <p:spPr>
          <a:xfrm>
            <a:off x="7434072" y="2542032"/>
            <a:ext cx="566928" cy="475488"/>
          </a:xfrm>
          <a:prstGeom prst="line">
            <a:avLst/>
          </a:prstGeom>
          <a:ln w="25400">
            <a:solidFill>
              <a:srgbClr val="ECF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001000" y="2542032"/>
            <a:ext cx="0" cy="475488"/>
          </a:xfrm>
          <a:prstGeom prst="line">
            <a:avLst/>
          </a:prstGeom>
          <a:ln w="2540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434072" y="3017520"/>
            <a:ext cx="566928" cy="0"/>
          </a:xfrm>
          <a:prstGeom prst="line">
            <a:avLst/>
          </a:prstGeom>
          <a:ln w="2540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537960" y="3977639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76FBF"/>
                </a:solidFill>
                <a:latin typeface="Aptos"/>
              </a:rPr>
              <a:t>Current cell = best of diagonal, up and left options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SEQUENCE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High-level DP pseudocode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5303520" cy="283464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1975104"/>
            <a:ext cx="4974336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50">
                <a:solidFill>
                  <a:srgbClr val="0D3161"/>
                </a:solidFill>
                <a:latin typeface="Courier New"/>
              </a:defRPr>
            </a:pPr>
            <a:r>
              <a:t>Align(seq1, seq2):</a:t>
            </a:r>
          </a:p>
          <a:p>
            <a:pPr>
              <a:spcAft>
                <a:spcPts val="100"/>
              </a:spcAft>
              <a:defRPr sz="1250">
                <a:solidFill>
                  <a:srgbClr val="0D3161"/>
                </a:solidFill>
                <a:latin typeface="Courier New"/>
              </a:defRPr>
            </a:pPr>
            <a:r>
              <a:t>    create DP matrix</a:t>
            </a:r>
          </a:p>
          <a:p>
            <a:pPr>
              <a:spcAft>
                <a:spcPts val="100"/>
              </a:spcAft>
              <a:defRPr sz="1250">
                <a:solidFill>
                  <a:srgbClr val="0D3161"/>
                </a:solidFill>
                <a:latin typeface="Courier New"/>
              </a:defRPr>
            </a:pPr>
            <a:r>
              <a:t>    initialize first row and column</a:t>
            </a:r>
          </a:p>
          <a:p>
            <a:pPr>
              <a:spcAft>
                <a:spcPts val="100"/>
              </a:spcAft>
              <a:defRPr sz="1250">
                <a:solidFill>
                  <a:srgbClr val="0D3161"/>
                </a:solidFill>
                <a:latin typeface="Courier New"/>
              </a:defRPr>
            </a:pPr>
            <a:r>
              <a:t>    FOR i from 1 to len(seq1):</a:t>
            </a:r>
          </a:p>
          <a:p>
            <a:pPr>
              <a:spcAft>
                <a:spcPts val="100"/>
              </a:spcAft>
              <a:defRPr sz="1250">
                <a:solidFill>
                  <a:srgbClr val="0D3161"/>
                </a:solidFill>
                <a:latin typeface="Courier New"/>
              </a:defRPr>
            </a:pPr>
            <a:r>
              <a:t>        FOR j from 1 to len(seq2):</a:t>
            </a:r>
          </a:p>
          <a:p>
            <a:pPr>
              <a:spcAft>
                <a:spcPts val="100"/>
              </a:spcAft>
              <a:defRPr sz="1250">
                <a:solidFill>
                  <a:srgbClr val="0D3161"/>
                </a:solidFill>
                <a:latin typeface="Courier New"/>
              </a:defRPr>
            </a:pPr>
            <a:r>
              <a:t>            DP[i,j] ← best of:</a:t>
            </a:r>
          </a:p>
          <a:p>
            <a:pPr>
              <a:spcAft>
                <a:spcPts val="100"/>
              </a:spcAft>
              <a:defRPr sz="1250">
                <a:solidFill>
                  <a:srgbClr val="0D3161"/>
                </a:solidFill>
                <a:latin typeface="Courier New"/>
              </a:defRPr>
            </a:pPr>
            <a:r>
              <a:t>                diagonal, up, left</a:t>
            </a:r>
          </a:p>
          <a:p>
            <a:pPr>
              <a:spcAft>
                <a:spcPts val="100"/>
              </a:spcAft>
              <a:defRPr sz="1250">
                <a:solidFill>
                  <a:srgbClr val="0D3161"/>
                </a:solidFill>
                <a:latin typeface="Courier New"/>
              </a:defRPr>
            </a:pPr>
            <a:r>
              <a:t>    RETURN DP[last cell]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965960"/>
            <a:ext cx="4114800" cy="292342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algorithm fills the matrix systematically.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Each new cell depends only on already computed neighboring cells.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is the core dynamic-programming pattern.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HEALTHCARE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When dynamic programming can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760720" cy="376314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Some scheduling problems include choices that interact over time.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decision now may affect which patients can be scheduled later.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Dynamic programming can be useful when the problem can be described as states and transitions.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Example state: time slot, available resources, and remaining requests.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965960"/>
            <a:ext cx="3566160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11696" y="2057400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1696" y="2313432"/>
            <a:ext cx="331012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time + room + remaining exams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880360"/>
            <a:ext cx="3566160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11696" y="2971800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Transition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1696" y="3227832"/>
            <a:ext cx="331012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schedule one exam or skip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3794760"/>
            <a:ext cx="3566160" cy="74980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11696" y="3886200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1696" y="4142232"/>
            <a:ext cx="331012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maximize completed exams or utility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Weighted interval scheduling: why greedy may not be enough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76072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the basic version, all exams count equally.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a weighted version, some exams have higher value or urgency.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earliest-finish greedy rule may no longer maximize total value.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Dynamic programming can compare taking or skipping each exam.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920240"/>
            <a:ext cx="3566160" cy="68580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11696" y="2011680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Exam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1696" y="2267712"/>
            <a:ext cx="331012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08:00–10:00 · value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788920"/>
            <a:ext cx="3566160" cy="6858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11696" y="2880360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Exam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1696" y="3136391"/>
            <a:ext cx="331012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08:00–09:00 · value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3657600"/>
            <a:ext cx="3566160" cy="6858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11696" y="3749039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Exam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1696" y="4005072"/>
            <a:ext cx="331012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09:00–10:00 · value 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Take or skip recurrence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4389120" cy="10058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65960"/>
            <a:ext cx="41330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Option 1: skip exam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221991"/>
            <a:ext cx="4133087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Use the best solution before considering exam 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154680"/>
            <a:ext cx="4389120" cy="100584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96695" y="3246120"/>
            <a:ext cx="41330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Option 2: take exam 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5" y="3502152"/>
            <a:ext cx="4133087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Add its value to the best compatible previous solution.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377440"/>
            <a:ext cx="4389120" cy="109728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54496" y="2468880"/>
            <a:ext cx="41330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D3161"/>
                </a:solidFill>
                <a:latin typeface="Aptos"/>
              </a:rPr>
              <a:t>DP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2724912"/>
            <a:ext cx="4133087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DP[i] = max(skip i, take 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97763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33142"/>
                </a:solidFill>
                <a:latin typeface="Aptos"/>
              </a:rPr>
              <a:t>This is the same logic as many dynamic-programming problems: compare alternatives using stored subproblem answers.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CHOOSING THE PARADIGM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When should we think greedy, and when DP?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6596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Use greedy when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221991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 local safe choice is known and can be justified.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74519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6596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Use DP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221991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The problem has interacting choices and overlapping subproblems.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72968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326440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Use greedy as heuristic when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520439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 fast approximate answer is acceptable.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172968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326440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Use optimization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520439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Constraints become complex and operationally realistic.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Where these paradigms appear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47088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3852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Greedy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194560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Select compatible appointments or tasks quickly.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47088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3852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Greedy 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194560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Choose immediate lowest-cost option in simple workflows.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779776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2871216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DP sequence 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127248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Compare DNA, RNA or protein sequences.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779776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2871216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DP time-series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127248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Optimize decisions over time windows.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712464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6695" y="3803904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DP resource allocation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5" y="4059936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Model state transitions under constraints.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Scheduling diagnostic exams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418320" cy="2599751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Goal: schedule as many non-overlapping exams as possible in one diagnostic room.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If all exams have equal value, earliest-finish greedy is appropriate.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If exams have different clinical priorities, the problem becomes weighted.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Weighted scheduling naturally motivates dynamic programming.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Aligning two biological sequences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669280" cy="376314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Goal: compare two sequences and identify matches, mismatches and gaps.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alignment score up to one position depends on smaller prefix alignments.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same subproblem structure repeats across the matrix.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is why dynamic programming is a natural solution.</a:t>
            </a:r>
          </a:p>
        </p:txBody>
      </p:sp>
      <p:pic>
        <p:nvPicPr>
          <p:cNvPr id="7" name="Picture 6" descr="wide_clean_medical_biotech_concept_illustration_on.png"/>
          <p:cNvPicPr>
            <a:picLocks noChangeAspect="1"/>
          </p:cNvPicPr>
          <p:nvPr/>
        </p:nvPicPr>
        <p:blipFill>
          <a:blip r:embed="rId2"/>
          <a:srcRect l="47386"/>
          <a:stretch>
            <a:fillRect/>
          </a:stretch>
        </p:blipFill>
        <p:spPr>
          <a:xfrm>
            <a:off x="6820929" y="1828800"/>
            <a:ext cx="3518064" cy="376314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COMMON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Important cautions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509760" cy="298754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greedy algorithm is not automatically optimal just because it is simple.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Dynamic programming is not magic: the subproblems must be defined correctly.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DP matrix may become large and memory-intensive.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Biomedical interpretation depends on the scoring system and the assumptions behind the model.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IN-CLASS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Choose greedy or dynamic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601200" cy="2743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1. Schedule the maximum number of non-overlapping appointments with equal value.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2. Schedule appointments with different clinical priorities.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3. Compare two DNA sequences using matches, mismatches and gaps.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4. Choose the next patient using a simple urgency score.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For each case, decide whether greedy or DP is more appropriate, and justify your answer.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4526279"/>
            <a:ext cx="4023360" cy="750055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3856" y="4617720"/>
            <a:ext cx="3767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Discussion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4873752"/>
            <a:ext cx="376732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Does the local choice remain safe?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4526280"/>
            <a:ext cx="4023360" cy="750054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14416" y="4617720"/>
            <a:ext cx="3767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Key distinction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14416" y="4873752"/>
            <a:ext cx="376732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simple local rule vs stored subproblems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MINI-LAB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Design the algorithmic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7132320" cy="298754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Choose one of the two mini-problems: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A. Hospital scheduling: select compatible exams from a list of intervals.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B. Sequence alignment: fill a small DP matrix for two short sequences.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Write the input, output, main rule and one limitation of your approach.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965960"/>
            <a:ext cx="2103120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57616" y="2057400"/>
            <a:ext cx="18470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Deliverable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57616" y="2313432"/>
            <a:ext cx="184708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strategy + pseudocode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017520"/>
            <a:ext cx="2103120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57616" y="3108960"/>
            <a:ext cx="18470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6" y="3364991"/>
            <a:ext cx="184708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10 minutes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069080"/>
            <a:ext cx="210312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57616" y="4160520"/>
            <a:ext cx="18470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4416552"/>
            <a:ext cx="18470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reasoning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Take-home messages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8961120" cy="421506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Greedy algorithms make locally optimal choices and are powerful when those choices are safe.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Dynamic programming solves problems by storing and combining subproblem solutions.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Healthcare scheduling can be simple enough for greedy rules or complex enough to require DP/optimization.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Biological sequence alignment is a classic example of dynamic programming.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paradigm should be selected based on the structure of the problem, not on habit.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2318</Words>
  <Application>Microsoft Macintosh PowerPoint</Application>
  <PresentationFormat>Widescreen</PresentationFormat>
  <Paragraphs>400</Paragraphs>
  <Slides>36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RANCATI SIMONE</cp:lastModifiedBy>
  <cp:revision>3</cp:revision>
  <dcterms:created xsi:type="dcterms:W3CDTF">2013-01-27T09:14:16Z</dcterms:created>
  <dcterms:modified xsi:type="dcterms:W3CDTF">2026-09-22T06:12:59Z</dcterms:modified>
  <cp:category/>
</cp:coreProperties>
</file>