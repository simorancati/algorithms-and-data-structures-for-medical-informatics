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8"/>
  </p:normalViewPr>
  <p:slideViewPr>
    <p:cSldViewPr snapToGrid="0" snapToObjects="1">
      <p:cViewPr varScale="1">
        <p:scale>
          <a:sx n="103" d="100"/>
          <a:sy n="103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303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0815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76FBF"/>
                </a:solidFill>
                <a:latin typeface="Aptos Display"/>
              </a:rPr>
              <a:t>Lesson 15 — Temporal Biomedical Data and Physiological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6593"/>
            <a:ext cx="5852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ECG, EEG, CGM, blood pressure, wearables, timestamps and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6579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05 October 2026 · 09:30–11:30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a_clean_modern_medical_health_data_illustration_o.png"/>
          <p:cNvPicPr>
            <a:picLocks noChangeAspect="1"/>
          </p:cNvPicPr>
          <p:nvPr/>
        </p:nvPicPr>
        <p:blipFill>
          <a:blip r:embed="rId2"/>
          <a:srcRect l="39527"/>
          <a:stretch>
            <a:fillRect/>
          </a:stretch>
        </p:blipFill>
        <p:spPr>
          <a:xfrm>
            <a:off x="7163351" y="1099504"/>
            <a:ext cx="4595833" cy="4277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Why temporal data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2773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Static vs time-dependent biomedical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Main physiological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43539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ECG, EEG, CGM, blood pressure and wearables.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Time representation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Timestamps, sampling rate and sequences.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Common data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Missing data, noise, irregular sampling.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Preprocessing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Resampling, normalization and sliding windows.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Examples, mini-lab and recap.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315200" cy="413523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Explain what temporal biomedical data are and why they differ from static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Recognize common physiological signals and their main use cases.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Interpret timestamps, sampling frequency and ordered observations.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Describe major issues such as missing data, noise and irregular measurement intervals.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Explain resampling and sliding-window segmentation.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Connect these concepts to biomedical data analysis and machine learning.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rcRect l="46532"/>
          <a:stretch>
            <a:fillRect/>
          </a:stretch>
        </p:blipFill>
        <p:spPr>
          <a:xfrm>
            <a:off x="8119872" y="1754659"/>
            <a:ext cx="3650980" cy="38429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temporal data are central in digital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Many biomedical variables evolve over time rather than remaining fixed.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Clinical interpretation often depends not only on value, but also on trend, rhythm and variability.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glucose value of 100 mg/dL means something different if it is stable, rising or falling rapidly.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Algorithms for time-dependent data must respect temporal 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STATIC VS TEMPORAL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changes when time is involved?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Static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206240" cy="131106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One value or one feature vector per patient.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sex, genotype, blood type, baseline 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Temporal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67712"/>
            <a:ext cx="4023360" cy="131106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A sequence of ordered observations.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ECG waveform, CGM trace, hourly blood pressure, step 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160520"/>
            <a:ext cx="7498079" cy="56692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5195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Key difference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07992"/>
            <a:ext cx="724204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Order matters in temporal data: rearranging the values changes the meaning.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time series is an ordered sequence of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time series is a collection of measurements indexed by time.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observation usually has a timestamp and a value.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Additional channels or variables may be recorded simultaneously.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Time series can be univariate or multivariate.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110476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CGM = [08:00 → 112,</a:t>
            </a:r>
          </a:p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08:05 → 116,</a:t>
            </a:r>
          </a:p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08:10 → 118, ...]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29000"/>
            <a:ext cx="3749039" cy="90822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52044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Multivariate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776472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Wearable = heart rate + steps + sleep + skin temperature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TYPES OF BIOMEDICAL TEMPORAL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Common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Physiological waveforms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21991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ECG, EEG, PPG and respiratory traces.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Monitoring streams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21991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CGM, blood pressure and oxygen saturation.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Event sequences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21991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Medication administration, alarms and admissions.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7296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644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Wearable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2043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Steps, activity, heart rate and sleep.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7296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644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Laboratory follow-up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52043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Repeated lab measurements over days or months.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7296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644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Clinical trajectories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2043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Disease course and longitudinal EHR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SIGNAL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Electrocardiogram (ECG)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ECG records the electrical activity of the heart over time.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typically sampled at high frequency and may contain multiple leads.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Temporal morphology is essential: P wave, QRS complex and T wave.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ECG analysis supports arrhythmia detection, heart-rate estimation and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874519"/>
            <a:ext cx="3566160" cy="5029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929384"/>
            <a:ext cx="3383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P wave → QRS → T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606040"/>
            <a:ext cx="35661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660904"/>
            <a:ext cx="3383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High-frequency waveform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337560"/>
            <a:ext cx="35661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392424"/>
            <a:ext cx="3383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Often multichannel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069080"/>
            <a:ext cx="35661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4123944"/>
            <a:ext cx="3383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Clinical rhythm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SIGNAL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Electroencephalogram (EEG)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EEG records electrical activity of the brain from scalp electrodes.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highly temporal and often multichannel.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Important applications include seizure detection, sleep analysis and brain-state monitoring.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EEG signals are often noisy and require careful preprocessing.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874519"/>
            <a:ext cx="3566160" cy="50292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929384"/>
            <a:ext cx="3383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Many channels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606040"/>
            <a:ext cx="35661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660904"/>
            <a:ext cx="3383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Non-stationary signal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337560"/>
            <a:ext cx="35661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392424"/>
            <a:ext cx="3383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Clinical neuro-monitoring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SIGNAL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Continuous Glucose Monitoring (CGM)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CGM provides repeated glucose measurements, typically every few minutes.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signal is lower-frequency than ECG or EEG, but still temporal and clinically rich.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Trend, variability and time in range are central concepts.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CGM supports diabetes monitoring, forecasting and decision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874519"/>
            <a:ext cx="3566160" cy="50292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929384"/>
            <a:ext cx="3383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Typical interval: 5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606040"/>
            <a:ext cx="35661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660904"/>
            <a:ext cx="3383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Trend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337560"/>
            <a:ext cx="35661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392424"/>
            <a:ext cx="3383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Variability matters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069080"/>
            <a:ext cx="35661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4123944"/>
            <a:ext cx="3383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Forecasting is common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SIGNAL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Blood pressure and vital-sign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Blood pressure can be recorded intermittently or continuously.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Vital-sign monitoring may include heart rate, respiratory rate, oxygen saturation and temperature.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critical care, multiple signals may be acquired simultaneously.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Temporal alignment between channels becomes important.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20240"/>
            <a:ext cx="3657600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79" y="197510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Intermittent or continuous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697480"/>
            <a:ext cx="3657600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79" y="275234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Often multivariate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474720"/>
            <a:ext cx="3657600" cy="530352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79" y="352958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Important in ICU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SIGNAL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Wearable-device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4538743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Wearables generate longitudinal streams such as step count, heart rate, sleep and activity.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These signals are often lower-frequency and more irregular than bedside monitoring.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Wearable data may contain long-term trends, daily cycles and user-behavior effects.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Mobile health and remote monitoring rely heavily on these data.</a:t>
            </a:r>
          </a:p>
        </p:txBody>
      </p:sp>
      <p:pic>
        <p:nvPicPr>
          <p:cNvPr id="7" name="Picture 6" descr="a_clean_modern_vector_style_medical_healthcare_in.png"/>
          <p:cNvPicPr>
            <a:picLocks noChangeAspect="1"/>
          </p:cNvPicPr>
          <p:nvPr/>
        </p:nvPicPr>
        <p:blipFill>
          <a:blip r:embed="rId2"/>
          <a:srcRect l="47004"/>
          <a:stretch>
            <a:fillRect/>
          </a:stretch>
        </p:blipFill>
        <p:spPr>
          <a:xfrm>
            <a:off x="7438766" y="1749191"/>
            <a:ext cx="3633272" cy="38583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TIME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timestamp?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timestamp indicates when a measurement was acquired.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may include date, time and sometimes time zone.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Temporal order must be preserved during analysis.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Timestamps allow us to compute intervals, delays and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2026-10-05 09:30:00 → HR = 74 bpm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Why important?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Without time information, the sequence loses meaning.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TIME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Sampling rate and sampling interval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sampling rate is how often the signal is acquired.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Equivalent concept: sampling interval = time between consecutive samples.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High-frequency signals such as ECG have short sampling intervals.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Lower-frequency signals such as CGM have longer intervals.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38528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29968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ECG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86000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250 Hz means 250 samples per second.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07792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999232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CGM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55264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1 sample every 5 minutes.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TIME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Regular vs irregular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Regularly sampled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206240" cy="102021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Measurements are collected at fixed intervals.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Example: CGM every 5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Irregularly sampled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67712"/>
            <a:ext cx="4023360" cy="102021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Intervals change over time.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Example: lab values or wearable data with gaps.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16052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5195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0799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Irregular sampling complicates direct comparison and model input design.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 STRUCTURE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temporal biomedical data are commonly stored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Table with timestamps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timestamp, value, patient_id, device_id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Multivariate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timestamp plus several 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Sequence per patient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ordered list or array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Windowed tensor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samples × time × 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Event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one row per clinical 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Hierarchical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patient → visit → sequence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Missing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Biomedical temporal data often contain missing values.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Causes include sensor dropout, transmission failure, motion artifacts and irregular patient behavior.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Missingness may be isolated, frequent or occur in long gaps.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How we handle missing data can strongly affect downstream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20240"/>
            <a:ext cx="3657600" cy="530352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59" y="197510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Sensor dropout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697480"/>
            <a:ext cx="3657600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275234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Communication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474720"/>
            <a:ext cx="3657600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352958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Patient removed device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Noise and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Signals are often contaminated by noise.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Examples include motion artifacts, electrode displacement and environmental interference.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Noise can distort waveform morphology or create false patterns.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Preprocessing is often required before feature extraction or model training.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20240"/>
            <a:ext cx="3657600" cy="530352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59" y="197510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Motion artifact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697480"/>
            <a:ext cx="3657600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275234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Sensor noise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474720"/>
            <a:ext cx="3657600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352958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Baseline drift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Outliers, drift and non-stationarity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221195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Outliers may reflect true acute events or measurement errors.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Signal drift means the baseline changes over time.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Non-stationarity means statistical properties change over time.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Biomedical signals often require local rather than global interpretation.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typical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Sort by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Ensure temporal order is correct.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Quality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Inspect gaps, noise and impossible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Resample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Map to a common time grid if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Handle missingness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Impute, flag or remove problematic segments.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Normalize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Scale values when appropriate.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Create windows for analysis or learning.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resampling?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Resampling means transforming the sequence onto a different time grid.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often used to regularize irregular data or harmonize multiple devices.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 err="1"/>
              <a:t>Downsampling</a:t>
            </a:r>
            <a:r>
              <a:rPr sz="2400" dirty="0"/>
              <a:t> reduces temporal resolution.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 err="1"/>
              <a:t>Upsampling</a:t>
            </a:r>
            <a:r>
              <a:rPr sz="2400" dirty="0"/>
              <a:t> creates a denser grid and often requires interpolation.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Downsampling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Example: 1 Hz → 1 sample every 10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Upsampling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Example: irregular measurements → regular 5-minute grid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resampling may be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1824154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Some algorithms expect equally spaced time points.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Multiple channels may have different original sampling rates.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Common time grids simplify comparison and integration.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Resampling must be done carefully to avoid distortion.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Handling missing data in time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78638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41788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Remove segments or records with too much missingness.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78638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Forward 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Propagate the last observed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98064"/>
            <a:ext cx="4434840" cy="78638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89504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Interpolation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45536"/>
            <a:ext cx="41788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Estimate missing values between observations.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98064"/>
            <a:ext cx="4434840" cy="78638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89504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Masking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45536"/>
            <a:ext cx="41788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Keep an explicit indicator of missingness.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67328"/>
            <a:ext cx="4434840" cy="78638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85876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Model-based imputation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114800"/>
            <a:ext cx="41788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Use a more advanced predictive strategy.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Normalization and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Temporal biomedical variables may have very different numeric ranges.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Scaling can make optimization more stable for machine-learning models.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Common strategies include z-score normalization and min-max scaling.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medical data, interpretability and unit awareness should not be lost.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sliding window?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sliding window extracts short consecutive segments from a longer time series.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window contains a fixed number of time points.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Windows can overlap or not overlap.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Sliding windows are common for feature extraction and supervised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Window 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How much history is included?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How far the window moves each time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sliding windows are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Feature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Mean, variability, peaks and derived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Use past samples to predict future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Detect events such as arrhythmias or seizures.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Standardization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Convert long variable-length streams into uniform samples.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WINDOW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Important choices in temporal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Window length: short windows capture local detail; long windows capture broader context.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Stride: smaller stride creates more overlap and more training samples.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Prediction horizon: how far into the future the target refers to.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Labeling strategy: how each window is assigned a class or target.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ECG windows for arrhythmia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long ECG signal is split into shorter windows.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window may be labeled as normal rhythm or abnormal rhythm.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Features or deep-learning models can then analyze each segment.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Window size influences how much rhythm context is visible.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01952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1993392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49424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Continuous ECG waveform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52928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944368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00400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Segment into fixed windows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03904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3895344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151376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Window-level rhythm label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CGM windows for glucose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Past CGM values can be used as model input windows.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target may be the glucose value 15, 30 or 60 minutes ahead.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Additional channels such as insulin or meals may be included.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Temporal preprocessing is essential for reliable forecasting.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History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e.g., past 60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Prediction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e.g., glucose in 30 minutes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Wearable data for activity and health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Windows of wearable data may support activity recognition, sleep staging or anomaly detection.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Signals may include accelerometry, heart rate and temperature.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Daily cycles and user-specific patterns are often important.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Temporal context improves interpretation compared with isolated measurements.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MACHINE-LEARNING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temporal data differ from tabular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Tabular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206240" cy="102021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Rows are often independent samples.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Column order usually does not imply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Temporal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67712"/>
            <a:ext cx="4023360" cy="102021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Observations are ordered and often dependent.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Patterns over time are fundamental.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160520"/>
            <a:ext cx="7498079" cy="56692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5195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07992"/>
            <a:ext cx="724204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Temporal models must respect sequence structure and often leverage history.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PRACTICAL CAUTIONS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Important challenges in temporal biomedical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Label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Future information must not enter the input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Patient variability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Signals differ across individuals and contexts.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529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089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Multiple channels may not be perfectly synchronized.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529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Data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089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Artifacts and missingness can bias analysis.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941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785615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Interpretability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41648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Clinical meaning should remain central.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Identify the right temporal-data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601200" cy="2181623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1. An ECG sampled 250 times per second: what does the sampling rate mean?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2. A CGM device misses data for 30 minutes: what issue is this?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3. A model uses the past 12 glucose measurements to predict the next one: what is the window concept?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4. A wearable records at irregular intervals: what challenge does this introduce?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For each case, name the correct temporal-data concept.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MINI-LAB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Design a preprocessing workflow for CGM or ECG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223760" cy="22780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Choose one signal: CGM or ECG.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Describe the likely sampling pattern and common data problems.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Propose preprocessing steps in the correct order.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Explain whether resampling and sliding windows are needed.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State one potential modeling task for the processed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65960"/>
            <a:ext cx="210312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57616" y="205740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2313432"/>
            <a:ext cx="18470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workflow +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17520"/>
            <a:ext cx="210312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7616" y="310896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3364991"/>
            <a:ext cx="18470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10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069080"/>
            <a:ext cx="21031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7616" y="416052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4416552"/>
            <a:ext cx="18470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clear sequence of steps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Self-check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a timestamp?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marker indicating when a measurement was recorded.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resampling?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Mapping a signal onto a new time grid.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004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a sliding window?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45643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fixed-length segment extracted from a longer sequence.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004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Why is missing data important in biomedical time series?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45643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Because it can distort interpretation and model performance.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8961120" cy="3392467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Temporal biomedical data are sequences in which order, timing and dynamics matter.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Common examples include ECG, EEG, CGM, blood-pressure monitoring and wearable signals.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Timestamps, sampling rate and regularity are foundational concepts.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Missingness, noise and irregular sampling are common practical challenges.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Resampling and sliding windows are key preprocessing tools for analysis and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2227</Words>
  <Application>Microsoft Macintosh PowerPoint</Application>
  <PresentationFormat>Widescreen</PresentationFormat>
  <Paragraphs>377</Paragraphs>
  <Slides>36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3</cp:revision>
  <dcterms:created xsi:type="dcterms:W3CDTF">2013-01-27T09:14:16Z</dcterms:created>
  <dcterms:modified xsi:type="dcterms:W3CDTF">2026-09-24T19:53:49Z</dcterms:modified>
  <cp:category/>
</cp:coreProperties>
</file>