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76FBF"/>
                </a:solidFill>
                <a:latin typeface="Aptos Display"/>
              </a:rPr>
              <a:t>Lesson 10 — Trees, Binary Search Trees, Heaps and Priority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586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Clinical decision trees and patient-priority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51376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21 September 2026 · 09:30–11:30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wide_clean_vector_illustration_scene_of_a_hos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40" y="1303611"/>
            <a:ext cx="5669280" cy="31906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560320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Tree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79776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Why hierarchical structures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468880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9976" y="2560320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General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837942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Nodes, edges, root, parent and child.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468880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08976" y="2560320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Binary trees and BSTs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2811780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Ordered search structures.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85032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77647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Heaps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041648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Structure for efficient priority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85032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9976" y="377647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Priority queues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4041648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Patient urgency and service 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685032"/>
            <a:ext cx="2944368" cy="10241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08976" y="377647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6" y="4041648"/>
            <a:ext cx="26883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Pseudocode, examples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680960" cy="39570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what a tree data structure is and why it is useful.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Distinguish general trees, binary trees, binary search trees and heaps.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Interpret patient-priority management as a priority queue problem.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insertion, search and traversal in a binary search tree.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heap property and its role in efficient priority handling.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Connect trees to clinical decision support and triage logic.</a:t>
            </a:r>
          </a:p>
        </p:txBody>
      </p:sp>
      <p:pic>
        <p:nvPicPr>
          <p:cNvPr id="7" name="Picture 6" descr="a_clean_modern_vector_illustration_scene_of_a_hea.png"/>
          <p:cNvPicPr>
            <a:picLocks noChangeAspect="1"/>
          </p:cNvPicPr>
          <p:nvPr/>
        </p:nvPicPr>
        <p:blipFill>
          <a:blip r:embed="rId2"/>
          <a:srcRect l="28709"/>
          <a:stretch>
            <a:fillRect/>
          </a:stretch>
        </p:blipFill>
        <p:spPr>
          <a:xfrm>
            <a:off x="8349730" y="2411008"/>
            <a:ext cx="3537470" cy="2792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hierarchical data structures matter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" y="1856232"/>
            <a:ext cx="539496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healthcare problems are hierarchical rather than purely linear.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diagnosis workflow often branches according to findings and thresholds.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Patient service order may depend on severity, not only on arrival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Tree-based structures support decisions, search and prioritization.</a:t>
            </a:r>
          </a:p>
        </p:txBody>
      </p:sp>
      <p:pic>
        <p:nvPicPr>
          <p:cNvPr id="7" name="Picture 6" descr="wide_clean_vector_flat_infographic_scene_on_a_pale.png"/>
          <p:cNvPicPr>
            <a:picLocks noChangeAspect="1"/>
          </p:cNvPicPr>
          <p:nvPr/>
        </p:nvPicPr>
        <p:blipFill>
          <a:blip r:embed="rId2"/>
          <a:srcRect l="39171"/>
          <a:stretch>
            <a:fillRect/>
          </a:stretch>
        </p:blipFill>
        <p:spPr>
          <a:xfrm>
            <a:off x="7122599" y="1572437"/>
            <a:ext cx="4261681" cy="3942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TREE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linear order to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1388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6252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Linear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770632"/>
            <a:ext cx="46634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862072"/>
            <a:ext cx="438561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27248"/>
            <a:ext cx="438561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Queue of patients waiting for a standard non-urgent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95910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201396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Hierarchical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70632"/>
            <a:ext cx="452628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5" y="2862072"/>
            <a:ext cx="425662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5" y="3127248"/>
            <a:ext cx="425662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Clinical decision branches based on symptoms, test results and severity.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823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233142"/>
                </a:solidFill>
                <a:latin typeface="Aptos"/>
              </a:rPr>
              <a:t>A tree is appropriate when one element leads to multiple possible next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GENERAL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Core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5805134" cy="389138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tree is a connected structure made of nodes and edges.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One special node is the root.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node may have children.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node without children is called a leaf.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link above a node comes from its parent.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Subtrees represent smaller trees inside a larger tree.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4017F0EF-7923-7599-EC3C-A1972E32B52F}"/>
              </a:ext>
            </a:extLst>
          </p:cNvPr>
          <p:cNvGrpSpPr/>
          <p:nvPr/>
        </p:nvGrpSpPr>
        <p:grpSpPr>
          <a:xfrm>
            <a:off x="7295606" y="1869948"/>
            <a:ext cx="3127248" cy="2679192"/>
            <a:chOff x="5943600" y="2212848"/>
            <a:chExt cx="3127248" cy="2679192"/>
          </a:xfrm>
        </p:grpSpPr>
        <p:sp>
          <p:nvSpPr>
            <p:cNvPr id="17" name="Oval 16"/>
            <p:cNvSpPr/>
            <p:nvPr/>
          </p:nvSpPr>
          <p:spPr>
            <a:xfrm>
              <a:off x="8412480" y="4233672"/>
              <a:ext cx="658368" cy="658368"/>
            </a:xfrm>
            <a:prstGeom prst="ellipse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uppo 26">
              <a:extLst>
                <a:ext uri="{FF2B5EF4-FFF2-40B4-BE49-F238E27FC236}">
                  <a16:creationId xmlns:a16="http://schemas.microsoft.com/office/drawing/2014/main" id="{7DFD542C-7F69-F46B-FE0D-8AE3AFE1BCDB}"/>
                </a:ext>
              </a:extLst>
            </p:cNvPr>
            <p:cNvGrpSpPr/>
            <p:nvPr/>
          </p:nvGrpSpPr>
          <p:grpSpPr>
            <a:xfrm>
              <a:off x="5943600" y="2212848"/>
              <a:ext cx="3127248" cy="2679192"/>
              <a:chOff x="5943600" y="2212848"/>
              <a:chExt cx="3127248" cy="2679192"/>
            </a:xfrm>
          </p:grpSpPr>
          <p:cxnSp>
            <p:nvCxnSpPr>
              <p:cNvPr id="23" name="Connector 22"/>
              <p:cNvCxnSpPr/>
              <p:nvPr/>
            </p:nvCxnSpPr>
            <p:spPr>
              <a:xfrm>
                <a:off x="8732520" y="3977640"/>
                <a:ext cx="0" cy="347472"/>
              </a:xfrm>
              <a:prstGeom prst="line">
                <a:avLst/>
              </a:prstGeom>
              <a:ln w="2540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uppo 25">
                <a:extLst>
                  <a:ext uri="{FF2B5EF4-FFF2-40B4-BE49-F238E27FC236}">
                    <a16:creationId xmlns:a16="http://schemas.microsoft.com/office/drawing/2014/main" id="{FEFA87E5-CA36-050C-6089-3B296E177D57}"/>
                  </a:ext>
                </a:extLst>
              </p:cNvPr>
              <p:cNvGrpSpPr/>
              <p:nvPr/>
            </p:nvGrpSpPr>
            <p:grpSpPr>
              <a:xfrm>
                <a:off x="5943600" y="2212848"/>
                <a:ext cx="3127248" cy="2679192"/>
                <a:chOff x="5943600" y="2212848"/>
                <a:chExt cx="3127248" cy="2679192"/>
              </a:xfrm>
            </p:grpSpPr>
            <p:sp>
              <p:nvSpPr>
                <p:cNvPr id="7" name="Oval 6"/>
                <p:cNvSpPr/>
                <p:nvPr/>
              </p:nvSpPr>
              <p:spPr>
                <a:xfrm>
                  <a:off x="7498079" y="2514600"/>
                  <a:ext cx="658368" cy="658368"/>
                </a:xfrm>
                <a:prstGeom prst="ellipse">
                  <a:avLst/>
                </a:prstGeom>
                <a:solidFill>
                  <a:srgbClr val="F6F9FD"/>
                </a:solidFill>
                <a:ln>
                  <a:solidFill>
                    <a:srgbClr val="276FB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598663" y="2679192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 dirty="0">
                      <a:solidFill>
                        <a:srgbClr val="0D3161"/>
                      </a:solidFill>
                      <a:latin typeface="Aptos"/>
                    </a:rPr>
                    <a:t>A</a:t>
                  </a:r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6583680" y="3319272"/>
                  <a:ext cx="658368" cy="658368"/>
                </a:xfrm>
                <a:prstGeom prst="ellipse">
                  <a:avLst/>
                </a:prstGeom>
                <a:solidFill>
                  <a:srgbClr val="F6F9FD"/>
                </a:solidFill>
                <a:ln>
                  <a:solidFill>
                    <a:srgbClr val="276FB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6684264" y="3483864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>
                      <a:solidFill>
                        <a:srgbClr val="0D3161"/>
                      </a:solidFill>
                      <a:latin typeface="Aptos"/>
                    </a:rPr>
                    <a:t>B</a:t>
                  </a:r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8412480" y="3319272"/>
                  <a:ext cx="658368" cy="658368"/>
                </a:xfrm>
                <a:prstGeom prst="ellipse">
                  <a:avLst/>
                </a:prstGeom>
                <a:solidFill>
                  <a:srgbClr val="F6F9FD"/>
                </a:solidFill>
                <a:ln>
                  <a:solidFill>
                    <a:srgbClr val="276FB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8513063" y="3483864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>
                      <a:solidFill>
                        <a:srgbClr val="0D3161"/>
                      </a:solidFill>
                      <a:latin typeface="Aptos"/>
                    </a:rPr>
                    <a:t>C</a:t>
                  </a:r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5943600" y="4233672"/>
                  <a:ext cx="658368" cy="658368"/>
                </a:xfrm>
                <a:prstGeom prst="ellipse">
                  <a:avLst/>
                </a:prstGeom>
                <a:solidFill>
                  <a:srgbClr val="F6F9FD"/>
                </a:solidFill>
                <a:ln>
                  <a:solidFill>
                    <a:srgbClr val="276FB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6044184" y="4398264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>
                      <a:solidFill>
                        <a:srgbClr val="0D3161"/>
                      </a:solidFill>
                      <a:latin typeface="Aptos"/>
                    </a:rPr>
                    <a:t>D</a:t>
                  </a:r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7223760" y="4233672"/>
                  <a:ext cx="658368" cy="658368"/>
                </a:xfrm>
                <a:prstGeom prst="ellipse">
                  <a:avLst/>
                </a:prstGeom>
                <a:solidFill>
                  <a:srgbClr val="F6F9FD"/>
                </a:solidFill>
                <a:ln>
                  <a:solidFill>
                    <a:srgbClr val="276FB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7324344" y="4398264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>
                      <a:solidFill>
                        <a:srgbClr val="0D3161"/>
                      </a:solidFill>
                      <a:latin typeface="Aptos"/>
                    </a:rPr>
                    <a:t>E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8513063" y="4398264"/>
                  <a:ext cx="45720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600" b="1">
                      <a:solidFill>
                        <a:srgbClr val="0D3161"/>
                      </a:solidFill>
                      <a:latin typeface="Aptos"/>
                    </a:rPr>
                    <a:t>F</a:t>
                  </a:r>
                </a:p>
              </p:txBody>
            </p:sp>
            <p:cxnSp>
              <p:nvCxnSpPr>
                <p:cNvPr id="19" name="Connector 18"/>
                <p:cNvCxnSpPr/>
                <p:nvPr/>
              </p:nvCxnSpPr>
              <p:spPr>
                <a:xfrm flipH="1">
                  <a:off x="6903720" y="3063240"/>
                  <a:ext cx="914400" cy="347472"/>
                </a:xfrm>
                <a:prstGeom prst="line">
                  <a:avLst/>
                </a:prstGeom>
                <a:ln w="25400">
                  <a:solidFill>
                    <a:srgbClr val="34ADC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nector 19"/>
                <p:cNvCxnSpPr/>
                <p:nvPr/>
              </p:nvCxnSpPr>
              <p:spPr>
                <a:xfrm>
                  <a:off x="7909560" y="3063240"/>
                  <a:ext cx="822960" cy="347472"/>
                </a:xfrm>
                <a:prstGeom prst="line">
                  <a:avLst/>
                </a:prstGeom>
                <a:ln w="25400">
                  <a:solidFill>
                    <a:srgbClr val="34ADC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nector 20"/>
                <p:cNvCxnSpPr/>
                <p:nvPr/>
              </p:nvCxnSpPr>
              <p:spPr>
                <a:xfrm flipH="1">
                  <a:off x="6263640" y="3977640"/>
                  <a:ext cx="548640" cy="347472"/>
                </a:xfrm>
                <a:prstGeom prst="line">
                  <a:avLst/>
                </a:prstGeom>
                <a:ln w="25400">
                  <a:solidFill>
                    <a:srgbClr val="34ADC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or 21"/>
                <p:cNvCxnSpPr/>
                <p:nvPr/>
              </p:nvCxnSpPr>
              <p:spPr>
                <a:xfrm>
                  <a:off x="7132320" y="3977640"/>
                  <a:ext cx="365759" cy="347472"/>
                </a:xfrm>
                <a:prstGeom prst="line">
                  <a:avLst/>
                </a:prstGeom>
                <a:ln w="25400">
                  <a:solidFill>
                    <a:srgbClr val="34ADC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/>
                <p:cNvSpPr txBox="1"/>
                <p:nvPr/>
              </p:nvSpPr>
              <p:spPr>
                <a:xfrm>
                  <a:off x="7269480" y="2212848"/>
                  <a:ext cx="1188720" cy="182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500" b="1">
                      <a:solidFill>
                        <a:srgbClr val="276FBF"/>
                      </a:solidFill>
                      <a:latin typeface="Aptos"/>
                    </a:rPr>
                    <a:t>root</a:t>
                  </a:r>
                </a:p>
              </p:txBody>
            </p:sp>
          </p:grpSp>
        </p:grpSp>
      </p:grpSp>
      <p:sp>
        <p:nvSpPr>
          <p:cNvPr id="25" name="TextBox 24"/>
          <p:cNvSpPr txBox="1"/>
          <p:nvPr/>
        </p:nvSpPr>
        <p:spPr>
          <a:xfrm>
            <a:off x="6938990" y="50393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5E778F"/>
                </a:solidFill>
                <a:latin typeface="Aptos"/>
              </a:rPr>
              <a:t>D, E and F are leaves.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GENERAL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56032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4" y="2814321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rPr dirty="0"/>
              <a:t>The starting node at the top of the tree.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68880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56032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814321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rPr dirty="0"/>
              <a:t>A node that has one or more children.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19272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41071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675888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A node directly below another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319272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41071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Leaf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675888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A node with no children.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79392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437083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636008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How far a node is from the root.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279392"/>
            <a:ext cx="4434840" cy="7589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437083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4636008"/>
            <a:ext cx="4178807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The maximum depth of the tree.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 clinical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6D438E0A-D988-9570-A90D-B262C23135D2}"/>
              </a:ext>
            </a:extLst>
          </p:cNvPr>
          <p:cNvGrpSpPr/>
          <p:nvPr/>
        </p:nvGrpSpPr>
        <p:grpSpPr>
          <a:xfrm>
            <a:off x="4297680" y="1879092"/>
            <a:ext cx="7589520" cy="2724912"/>
            <a:chOff x="2560320" y="2468880"/>
            <a:chExt cx="7589520" cy="2724912"/>
          </a:xfrm>
        </p:grpSpPr>
        <p:sp>
          <p:nvSpPr>
            <p:cNvPr id="6" name="Rounded Rectangle 5"/>
            <p:cNvSpPr/>
            <p:nvPr/>
          </p:nvSpPr>
          <p:spPr>
            <a:xfrm>
              <a:off x="4480560" y="2468880"/>
              <a:ext cx="2011680" cy="6400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26280" y="2578608"/>
              <a:ext cx="192024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>
                  <a:solidFill>
                    <a:srgbClr val="0D3161"/>
                  </a:solidFill>
                  <a:latin typeface="Aptos"/>
                </a:rPr>
                <a:t>Chest pain?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560320" y="3456432"/>
              <a:ext cx="2103120" cy="6400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06039" y="3566160"/>
              <a:ext cx="2011679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>
                  <a:solidFill>
                    <a:srgbClr val="0D3161"/>
                  </a:solidFill>
                  <a:latin typeface="Aptos"/>
                </a:rPr>
                <a:t>No → low urgency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92240" y="3456432"/>
              <a:ext cx="2103120" cy="6400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59" y="3566160"/>
              <a:ext cx="2011679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>
                  <a:solidFill>
                    <a:srgbClr val="0D3161"/>
                  </a:solidFill>
                  <a:latin typeface="Aptos"/>
                </a:rPr>
                <a:t>Yes → ECG?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669280" y="4553712"/>
              <a:ext cx="2011680" cy="6400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15000" y="4663440"/>
              <a:ext cx="192024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>
                  <a:solidFill>
                    <a:srgbClr val="0D3161"/>
                  </a:solidFill>
                  <a:latin typeface="Aptos"/>
                </a:rPr>
                <a:t>Normal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38160" y="4553712"/>
              <a:ext cx="2011680" cy="6400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83880" y="4663440"/>
              <a:ext cx="192024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>
                  <a:solidFill>
                    <a:srgbClr val="0D3161"/>
                  </a:solidFill>
                  <a:latin typeface="Aptos"/>
                </a:rPr>
                <a:t>Abnormal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3657600" y="2999232"/>
              <a:ext cx="1554480" cy="457200"/>
            </a:xfrm>
            <a:prstGeom prst="line">
              <a:avLst/>
            </a:prstGeom>
            <a:ln w="2540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5760720" y="2999232"/>
              <a:ext cx="1554480" cy="457200"/>
            </a:xfrm>
            <a:prstGeom prst="line">
              <a:avLst/>
            </a:prstGeom>
            <a:ln w="2540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6583680" y="4096512"/>
              <a:ext cx="731520" cy="457200"/>
            </a:xfrm>
            <a:prstGeom prst="line">
              <a:avLst/>
            </a:prstGeom>
            <a:ln w="2540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772400" y="4096512"/>
              <a:ext cx="1280160" cy="457200"/>
            </a:xfrm>
            <a:prstGeom prst="line">
              <a:avLst/>
            </a:prstGeom>
            <a:ln w="2540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706806" y="1993166"/>
            <a:ext cx="340799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dirty="0">
                <a:solidFill>
                  <a:srgbClr val="276FBF"/>
                </a:solidFill>
                <a:latin typeface="Aptos"/>
              </a:rPr>
              <a:t>Decision support is often naturally hierarchical.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62072"/>
            <a:ext cx="3017520" cy="25385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internal node represents a question or criterion.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branch represents an answer or condition.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leaf represents a recommendation or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TREE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can we visit tree nodes?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25374"/>
            <a:ext cx="566928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Traversal means visiting the nodes according to a rule.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general trees and binary trees, traversal determines processing order.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Typical binary-tree traversals are preorder, </a:t>
            </a:r>
            <a:r>
              <a:rPr sz="2400" dirty="0" err="1"/>
              <a:t>inorder</a:t>
            </a:r>
            <a:r>
              <a:rPr sz="2400" dirty="0"/>
              <a:t> and </a:t>
            </a:r>
            <a:r>
              <a:rPr sz="2400" dirty="0" err="1"/>
              <a:t>postorder</a:t>
            </a:r>
            <a:r>
              <a:rPr sz="2400" dirty="0"/>
              <a:t>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many decision systems, the traversal follows conditions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560320"/>
            <a:ext cx="34747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7416" y="265176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2907792"/>
            <a:ext cx="32186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root → left →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456432"/>
            <a:ext cx="34747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7416" y="3547872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3813048"/>
            <a:ext cx="32186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left → root → right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462271"/>
            <a:ext cx="34747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7416" y="4553711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Postorder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4818887"/>
            <a:ext cx="32186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left → right → root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93392"/>
            <a:ext cx="5394960" cy="298902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binary tree is a tree in which each node has at most two children.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These children are usually called left child and right child.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Binary trees are a fundamental basis for many search and priority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Their shape supports recursive thinking and efficient algorithms.</a:t>
            </a: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89069703-44B7-0A39-0234-1A177CC0BD80}"/>
              </a:ext>
            </a:extLst>
          </p:cNvPr>
          <p:cNvGrpSpPr/>
          <p:nvPr/>
        </p:nvGrpSpPr>
        <p:grpSpPr>
          <a:xfrm>
            <a:off x="7593082" y="1993392"/>
            <a:ext cx="3493008" cy="2423160"/>
            <a:chOff x="7213072" y="2606040"/>
            <a:chExt cx="3493008" cy="2423160"/>
          </a:xfrm>
        </p:grpSpPr>
        <p:sp>
          <p:nvSpPr>
            <p:cNvPr id="11" name="Oval 10"/>
            <p:cNvSpPr/>
            <p:nvPr/>
          </p:nvSpPr>
          <p:spPr>
            <a:xfrm>
              <a:off x="10047712" y="3456432"/>
              <a:ext cx="658368" cy="658368"/>
            </a:xfrm>
            <a:prstGeom prst="ellipse">
              <a:avLst/>
            </a:prstGeom>
            <a:solidFill>
              <a:srgbClr val="F6F9FD"/>
            </a:solidFill>
            <a:ln>
              <a:solidFill>
                <a:srgbClr val="276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071A9CB4-18F4-FE68-A26E-72C405ADDD71}"/>
                </a:ext>
              </a:extLst>
            </p:cNvPr>
            <p:cNvGrpSpPr/>
            <p:nvPr/>
          </p:nvGrpSpPr>
          <p:grpSpPr>
            <a:xfrm>
              <a:off x="7213072" y="2606040"/>
              <a:ext cx="3392424" cy="2423160"/>
              <a:chOff x="7213072" y="2606040"/>
              <a:chExt cx="3392424" cy="242316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8996152" y="2606040"/>
                <a:ext cx="658368" cy="658368"/>
              </a:xfrm>
              <a:prstGeom prst="ellipse">
                <a:avLst/>
              </a:prstGeom>
              <a:solidFill>
                <a:srgbClr val="F6F9FD"/>
              </a:solidFill>
              <a:ln>
                <a:solidFill>
                  <a:srgbClr val="276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096736" y="2660904"/>
                <a:ext cx="457200" cy="182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0D3161"/>
                    </a:solidFill>
                    <a:latin typeface="Aptos"/>
                  </a:rPr>
                  <a:t>8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7944592" y="3456432"/>
                <a:ext cx="658368" cy="658368"/>
              </a:xfrm>
              <a:prstGeom prst="ellipse">
                <a:avLst/>
              </a:prstGeom>
              <a:solidFill>
                <a:srgbClr val="F6F9FD"/>
              </a:solidFill>
              <a:ln>
                <a:solidFill>
                  <a:srgbClr val="276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045176" y="3621024"/>
                <a:ext cx="457200" cy="182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0D3161"/>
                    </a:solidFill>
                    <a:latin typeface="Aptos"/>
                  </a:rPr>
                  <a:t>4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0148296" y="3621024"/>
                <a:ext cx="457200" cy="182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0D3161"/>
                    </a:solidFill>
                    <a:latin typeface="Aptos"/>
                  </a:rPr>
                  <a:t>12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213072" y="4370832"/>
                <a:ext cx="658368" cy="658368"/>
              </a:xfrm>
              <a:prstGeom prst="ellipse">
                <a:avLst/>
              </a:prstGeom>
              <a:solidFill>
                <a:srgbClr val="F6F9FD"/>
              </a:solidFill>
              <a:ln>
                <a:solidFill>
                  <a:srgbClr val="276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313656" y="4535423"/>
                <a:ext cx="457200" cy="182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0D3161"/>
                    </a:solidFill>
                    <a:latin typeface="Aptos"/>
                  </a:rPr>
                  <a:t>2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8676112" y="4370832"/>
                <a:ext cx="658368" cy="658368"/>
              </a:xfrm>
              <a:prstGeom prst="ellipse">
                <a:avLst/>
              </a:prstGeom>
              <a:solidFill>
                <a:srgbClr val="F6F9FD"/>
              </a:solidFill>
              <a:ln>
                <a:solidFill>
                  <a:srgbClr val="276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776696" y="4535423"/>
                <a:ext cx="457200" cy="182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0D3161"/>
                    </a:solidFill>
                    <a:latin typeface="Aptos"/>
                  </a:rPr>
                  <a:t>6</a:t>
                </a:r>
              </a:p>
            </p:txBody>
          </p:sp>
          <p:cxnSp>
            <p:nvCxnSpPr>
              <p:cNvPr id="17" name="Connector 16"/>
              <p:cNvCxnSpPr/>
              <p:nvPr/>
            </p:nvCxnSpPr>
            <p:spPr>
              <a:xfrm flipH="1">
                <a:off x="8264632" y="3154680"/>
                <a:ext cx="978408" cy="411480"/>
              </a:xfrm>
              <a:prstGeom prst="line">
                <a:avLst/>
              </a:prstGeom>
              <a:ln w="2540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17"/>
              <p:cNvCxnSpPr/>
              <p:nvPr/>
            </p:nvCxnSpPr>
            <p:spPr>
              <a:xfrm>
                <a:off x="9499071" y="3154680"/>
                <a:ext cx="868681" cy="411480"/>
              </a:xfrm>
              <a:prstGeom prst="line">
                <a:avLst/>
              </a:prstGeom>
              <a:ln w="2540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18"/>
              <p:cNvCxnSpPr/>
              <p:nvPr/>
            </p:nvCxnSpPr>
            <p:spPr>
              <a:xfrm flipH="1">
                <a:off x="7533112" y="4114800"/>
                <a:ext cx="667512" cy="301752"/>
              </a:xfrm>
              <a:prstGeom prst="line">
                <a:avLst/>
              </a:prstGeom>
              <a:ln w="2540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 19"/>
              <p:cNvCxnSpPr/>
              <p:nvPr/>
            </p:nvCxnSpPr>
            <p:spPr>
              <a:xfrm>
                <a:off x="8474944" y="4114800"/>
                <a:ext cx="521208" cy="301752"/>
              </a:xfrm>
              <a:prstGeom prst="line">
                <a:avLst/>
              </a:prstGeom>
              <a:ln w="2540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Useful structural distinctions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Full binary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894884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Every node has either 0 or 2 children.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5146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Complete binary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86685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All levels are filled except possibly the last; the last is filled from left to 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85032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77647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Balanced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404164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The depths of subtrees are kept reasonably similar.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685032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77647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Unbalanced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404164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One side may become much deeper than the other.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SEARCH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search-order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24790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binary search tree (BST) is a binary tree with an ordering rule.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every node, all values in the left subtree are smaller.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All values in the right subtree are larger.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property makes search efficient when the tree is reasonably balanced.</a:t>
            </a:r>
          </a:p>
        </p:txBody>
      </p:sp>
      <p:sp>
        <p:nvSpPr>
          <p:cNvPr id="7" name="Oval 6"/>
          <p:cNvSpPr/>
          <p:nvPr/>
        </p:nvSpPr>
        <p:spPr>
          <a:xfrm>
            <a:off x="7498079" y="2560320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98663" y="27249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50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4564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30</a:t>
            </a:r>
          </a:p>
        </p:txBody>
      </p:sp>
      <p:sp>
        <p:nvSpPr>
          <p:cNvPr id="11" name="Oval 10"/>
          <p:cNvSpPr/>
          <p:nvPr/>
        </p:nvSpPr>
        <p:spPr>
          <a:xfrm>
            <a:off x="8549640" y="34564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022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986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20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718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40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034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80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720840" y="3108960"/>
            <a:ext cx="1033272" cy="45720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73568" y="3108960"/>
            <a:ext cx="896112" cy="45720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989320" y="4114800"/>
            <a:ext cx="640080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03720" y="4114800"/>
            <a:ext cx="502920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412480" y="4114800"/>
            <a:ext cx="384048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52560" y="4114800"/>
            <a:ext cx="777240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SEARCH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Searching in a BST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4846320" cy="288036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651760"/>
            <a:ext cx="4443983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current ← root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WHILE current ≠ null DO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IF target = current.key THEN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    RETURN found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ELSE IF target &lt; current.key THEN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    current ← current.left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ELSE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    current ← current.right</a:t>
            </a:r>
          </a:p>
          <a:p>
            <a:pPr>
              <a:spcAft>
                <a:spcPts val="10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RETURN not_found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027487"/>
            <a:ext cx="466344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 each step, one comparison decides the next branch.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discards half of the remaining search space conceptually.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the tree is balanced, search is O(log n).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the tree is highly unbalanced, search can degrade to O(n).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SEARCH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Insertion in a BST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" y="1905918"/>
            <a:ext cx="53035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Insertion follows the same comparisons used for search.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Move left if the new key is smaller, and right if it is larger.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a null position is reached, place the new node there.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BST property is preserved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23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Before</a:t>
            </a:r>
          </a:p>
        </p:txBody>
      </p:sp>
      <p:sp>
        <p:nvSpPr>
          <p:cNvPr id="8" name="Oval 7"/>
          <p:cNvSpPr/>
          <p:nvPr/>
        </p:nvSpPr>
        <p:spPr>
          <a:xfrm>
            <a:off x="7132320" y="2651760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2904" y="2706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35021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36667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35021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3" y="36667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70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720840" y="3200400"/>
            <a:ext cx="640080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16952" y="3200400"/>
            <a:ext cx="566927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4142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E778F"/>
                </a:solidFill>
                <a:latin typeface="Aptos"/>
              </a:rPr>
              <a:t>Insert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23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After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2651760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76104" y="2706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50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0" y="35021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44584" y="36667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30</a:t>
            </a:r>
          </a:p>
        </p:txBody>
      </p:sp>
      <p:sp>
        <p:nvSpPr>
          <p:cNvPr id="22" name="Oval 21"/>
          <p:cNvSpPr/>
          <p:nvPr/>
        </p:nvSpPr>
        <p:spPr>
          <a:xfrm>
            <a:off x="10607040" y="35021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07624" y="36667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70</a:t>
            </a:r>
          </a:p>
        </p:txBody>
      </p:sp>
      <p:sp>
        <p:nvSpPr>
          <p:cNvPr id="24" name="Oval 23"/>
          <p:cNvSpPr/>
          <p:nvPr/>
        </p:nvSpPr>
        <p:spPr>
          <a:xfrm>
            <a:off x="9921240" y="4462271"/>
            <a:ext cx="658368" cy="658368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21824" y="462686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464040" y="3200400"/>
            <a:ext cx="640080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60152" y="3200400"/>
            <a:ext cx="566928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195560" y="4160520"/>
            <a:ext cx="502920" cy="34747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BST for patient 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246" y="2125374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a local system stores patient IDs in a BST.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Searching for a patient record uses comparisons on the identifier.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BST does not replace a database, but it illustrates ordered search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key idea is that ordering supports structured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39319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651760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 identifiers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91693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1005, 1012, 1030, 1044, 1051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02152"/>
            <a:ext cx="39319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593592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Search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858768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Find patient ID 1044 by following ordered branches.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53712"/>
            <a:ext cx="393192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645152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910328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Ordering is what makes the search more efficient.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BINARY SEARCH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Balanced vs unbalanced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4114800" cy="1645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Depth is moderate.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Search, insert and delete are efficient.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Performance is close to O(log 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487168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2542032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16352"/>
            <a:ext cx="4114800" cy="1645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tree may resemble a linked list.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Search paths become long.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Performance can degrade to O(n).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427939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3" y="44439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40</a:t>
            </a:r>
          </a:p>
        </p:txBody>
      </p:sp>
      <p:sp>
        <p:nvSpPr>
          <p:cNvPr id="14" name="Oval 13"/>
          <p:cNvSpPr/>
          <p:nvPr/>
        </p:nvSpPr>
        <p:spPr>
          <a:xfrm>
            <a:off x="1828800" y="51023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9384" y="52669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20</a:t>
            </a:r>
          </a:p>
        </p:txBody>
      </p:sp>
      <p:sp>
        <p:nvSpPr>
          <p:cNvPr id="16" name="Oval 15"/>
          <p:cNvSpPr/>
          <p:nvPr/>
        </p:nvSpPr>
        <p:spPr>
          <a:xfrm>
            <a:off x="3291840" y="510235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52669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148840" y="4919472"/>
            <a:ext cx="640080" cy="32004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35808" y="4919472"/>
            <a:ext cx="576072" cy="32004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955279" y="382219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55863" y="39867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10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455371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87384" y="47183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20</a:t>
            </a:r>
          </a:p>
        </p:txBody>
      </p:sp>
      <p:sp>
        <p:nvSpPr>
          <p:cNvPr id="24" name="Oval 23"/>
          <p:cNvSpPr/>
          <p:nvPr/>
        </p:nvSpPr>
        <p:spPr>
          <a:xfrm>
            <a:off x="9418320" y="52852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18904" y="54498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30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1040" y="4416552"/>
            <a:ext cx="594360" cy="36576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52560" y="5148072"/>
            <a:ext cx="594360" cy="32004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TREE TRAVERSALS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inorder traversal is special for BSTs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5646"/>
            <a:ext cx="539496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BST, </a:t>
            </a:r>
            <a:r>
              <a:rPr sz="2400" dirty="0" err="1"/>
              <a:t>inorder</a:t>
            </a:r>
            <a:r>
              <a:rPr sz="2400" dirty="0"/>
              <a:t> traversal visits nodes in sorted order.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rule is: left subtree → root → right subtree.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useful when the data must be listed from smallest to largest.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a direct consequence of the BST ordering property.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06040"/>
            <a:ext cx="3840480" cy="219456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79192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Inorder(node):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IF node = null THEN return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Inorder(node.left)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PROCESS node.key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Inorder(node.right)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8737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6FBF"/>
                </a:solidFill>
                <a:latin typeface="Aptos"/>
              </a:rPr>
              <a:t>Output example: 20, 30, 40, 50, 60, 70, 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heap?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24790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heap is a specialized binary tree for priority management.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max-heap, every parent is greater than or equal to its children.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min-heap, every parent is smaller than or equal to its children.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heap is usually a complete binary tree.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2606040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104" y="26609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90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34564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8426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70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0" y="34564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9594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4418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2434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65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162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50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4370832"/>
            <a:ext cx="658368" cy="65836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0344" y="45354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55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903720" y="3154680"/>
            <a:ext cx="941832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65008" y="3154680"/>
            <a:ext cx="850392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263640" y="4114800"/>
            <a:ext cx="576072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14032" y="4114800"/>
            <a:ext cx="429768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641080" y="4114800"/>
            <a:ext cx="210312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07424" y="4114800"/>
            <a:ext cx="722376" cy="347471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IMPORTANT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Heap property is not the same as BST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81528"/>
            <a:ext cx="4206240" cy="10843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Left subtree values are smaller.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Right subtree values are larger.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Designed for ordered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487168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2542032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026664"/>
            <a:ext cx="4297680" cy="2011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Only parent-child priority relationships are guaranteed.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Siblings and subtrees are not globally sorted.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Designed for efficient access to the highest or lowest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4807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3142"/>
                </a:solidFill>
                <a:latin typeface="Aptos"/>
              </a:rPr>
              <a:t>A heap is excellent for priorities, but not for ordered search like a BST.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heaps are often stored in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163457"/>
            <a:ext cx="5303520" cy="286027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Because a heap is complete, its nodes fit naturally into an array.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For a node at index </a:t>
            </a:r>
            <a:r>
              <a:rPr dirty="0" err="1"/>
              <a:t>i</a:t>
            </a:r>
            <a:r>
              <a:rPr dirty="0"/>
              <a:t>, the left child is at 2i + 1 and the right child at 2i + 2.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This avoids storing explicit pointers in many implementations.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 array layout is one reason heaps are efficient in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22007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4656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0376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2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7112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59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3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68128" y="2633472"/>
            <a:ext cx="566928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13848" y="274320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3136392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9359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Index layout for a max-heap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Key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Peek max /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6148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Read the root priority in O(1).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5146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76148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Place the new item and restore the heap property.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30752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82219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Extract max /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408736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Remove the root and restore the heap.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730752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82219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Heapify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4087368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Repair the heap after a change.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PRIORITY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79212"/>
            <a:ext cx="5486400" cy="366767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priority queue is an abstract data structure that serves elements according to priority.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highest-priority element is removed first, not necessarily the earliest inserted one.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Heaps are a standard way to implement priority queues efficiently.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This idea is extremely important in triage and urgent-care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560320"/>
            <a:ext cx="365760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651760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807208"/>
            <a:ext cx="34015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Add a patient with an associated urgency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456432"/>
            <a:ext cx="365760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547872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Extract highest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813048"/>
            <a:ext cx="34015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Return the most urgent patient.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462271"/>
            <a:ext cx="365760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4553711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818887"/>
            <a:ext cx="34015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Check who should be served next.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Emergency triage as a priority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451" y="2180971"/>
            <a:ext cx="5212080" cy="298902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Patients may arrive at different times and with different severity levels.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simple FIFO queue is not enough in emergency settings.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system must prioritize life-threatening conditions.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priority queue is therefore a natural model for triage.</a:t>
            </a:r>
          </a:p>
        </p:txBody>
      </p:sp>
      <p:pic>
        <p:nvPicPr>
          <p:cNvPr id="7" name="Picture 6" descr="wide_clean_vector_illustration_scene_of_a_hospital.png"/>
          <p:cNvPicPr>
            <a:picLocks noChangeAspect="1"/>
          </p:cNvPicPr>
          <p:nvPr/>
        </p:nvPicPr>
        <p:blipFill>
          <a:blip r:embed="rId2"/>
          <a:srcRect l="35260"/>
          <a:stretch>
            <a:fillRect/>
          </a:stretch>
        </p:blipFill>
        <p:spPr>
          <a:xfrm>
            <a:off x="6693598" y="1636617"/>
            <a:ext cx="4690682" cy="4077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patient data to a priority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33142"/>
                </a:solidFill>
                <a:latin typeface="Aptos"/>
              </a:rPr>
              <a:t>Triage transforms clinical information into a service order: the most urgent patient is treated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51760"/>
            <a:ext cx="2423160" cy="84124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2633472"/>
            <a:ext cx="2167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Patient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898648"/>
            <a:ext cx="216712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HR 78 bpm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Pain 2/10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SpO₂ 98%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Green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02152"/>
            <a:ext cx="2423160" cy="84124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5" y="3593592"/>
            <a:ext cx="2167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Patient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858768"/>
            <a:ext cx="216712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HR 132 bpm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Chest pain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SpO₂ 90%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62271"/>
            <a:ext cx="2423160" cy="84124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4553711"/>
            <a:ext cx="2167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Patient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4818887"/>
            <a:ext cx="216712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HR 105 bpm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Fever 39°C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SpO₂ 95%</a:t>
            </a:r>
          </a:p>
          <a:p>
            <a:pPr>
              <a:spcAft>
                <a:spcPts val="100"/>
              </a:spcAft>
              <a:defRPr sz="1260">
                <a:solidFill>
                  <a:srgbClr val="233142"/>
                </a:solidFill>
                <a:latin typeface="Aptos"/>
              </a:defRPr>
            </a:pPr>
            <a:r>
              <a:t>Yellow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3822192"/>
            <a:ext cx="45720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2862072"/>
            <a:ext cx="2651760" cy="1828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5655" y="295351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Triage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5" y="3218688"/>
            <a:ext cx="2395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1. Collect data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2. Apply severity rules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3. Assign urgency class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3822192"/>
            <a:ext cx="45720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2697479"/>
            <a:ext cx="2880360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3216" y="2679192"/>
            <a:ext cx="2624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1st served · Patient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944368"/>
            <a:ext cx="262432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Red · Immediate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502152"/>
            <a:ext cx="288036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3216" y="3593592"/>
            <a:ext cx="2624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2nd served · Patient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3858768"/>
            <a:ext cx="262432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Yellow · Urgent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416552"/>
            <a:ext cx="28803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43216" y="4507991"/>
            <a:ext cx="2624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3rd served · Patient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73167"/>
            <a:ext cx="262432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Green · Less urgent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PRIORITY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Using a heap for triage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53766"/>
            <a:ext cx="53035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patient can be associated with a priority score or triage code.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heap root stores the next patient to call.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a patient is extracted, the heap is repaired.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a new urgent patient arrives, the heap can be updated efficiently.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2606040"/>
            <a:ext cx="658368" cy="658368"/>
          </a:xfrm>
          <a:prstGeom prst="ellipse">
            <a:avLst/>
          </a:prstGeom>
          <a:solidFill>
            <a:srgbClr val="FCE8E8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44383" y="26609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Red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3456432"/>
            <a:ext cx="658368" cy="658368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282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Yellow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0" y="3456432"/>
            <a:ext cx="658368" cy="658368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95944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Green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812280" y="3154680"/>
            <a:ext cx="978408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3154680"/>
            <a:ext cx="868680" cy="393192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446227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76FBF"/>
                </a:solidFill>
                <a:latin typeface="Aptos"/>
              </a:rPr>
              <a:t>Root = highest current priority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CONCEPTUAL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Decision tree vs tree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7417"/>
            <a:ext cx="4114800" cy="10843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Represents questions and outcomes.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Used for reasoning or classification.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chest pain → ECG → urgency.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487168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2542032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Tree data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87417"/>
            <a:ext cx="4114800" cy="10843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Represents stored values and links.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Used for search, indexing or priorities.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BST or heap in software.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0235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3142"/>
                </a:solidFill>
                <a:latin typeface="Aptos"/>
              </a:rPr>
              <a:t>Both are tree-shaped, but their roles are different.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Insert into a priority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4846320" cy="288036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651760"/>
            <a:ext cx="4443983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Insert(queue, patient):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add patient at the end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WHILE parent priority &lt; patient priority DO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    swap patient with parent</a:t>
            </a:r>
          </a:p>
          <a:p>
            <a:pPr>
              <a:spcAft>
                <a:spcPts val="1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    move upward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514600"/>
            <a:ext cx="466344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new patient is first placed at the end of the heap.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the new priority is higher, the node moves upward.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operation is sometimes called sift-up or bubble-up.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heap property is restored efficiently.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Extract the highest priority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4846320" cy="29718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651760"/>
            <a:ext cx="444398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ExtractMax(queue):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best ← root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move last node to root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remove last node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WHILE a child has higher priority DO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    swap with higher-priority child</a:t>
            </a:r>
          </a:p>
          <a:p>
            <a:pPr>
              <a:spcAft>
                <a:spcPts val="100"/>
              </a:spcAft>
              <a:defRPr sz="1450">
                <a:solidFill>
                  <a:srgbClr val="0D3161"/>
                </a:solidFill>
                <a:latin typeface="Courier New"/>
              </a:defRPr>
            </a:pPr>
            <a:r>
              <a:t>    RETURN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79307"/>
            <a:ext cx="466344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root is removed because it has the highest priority.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last node temporarily fills the root position.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then moves the node downward until the heap property is repaired.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operation is commonly called sift-down or </a:t>
            </a:r>
            <a:r>
              <a:rPr sz="2400" dirty="0" err="1"/>
              <a:t>heapify</a:t>
            </a:r>
            <a:r>
              <a:rPr sz="2400" dirty="0"/>
              <a:t>-down.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Typical complexity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21031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1956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487168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254203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Search / peek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487168"/>
            <a:ext cx="16459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0952" y="2542032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487168"/>
            <a:ext cx="21031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9752" y="2542032"/>
            <a:ext cx="1956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Extract /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487168"/>
            <a:ext cx="14630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1472" y="2542032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Best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98063"/>
            <a:ext cx="21031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907792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BST (balanced)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798063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29077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O(log 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798063"/>
            <a:ext cx="16459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90779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O(log 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798063"/>
            <a:ext cx="21031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2907792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O(log 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798063"/>
            <a:ext cx="146304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9077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ordered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456432"/>
            <a:ext cx="2103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566160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BST (unbalanced)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3456432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3566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345643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35661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3456432"/>
            <a:ext cx="2103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3566160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456432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64040" y="3566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poor worst-case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114800"/>
            <a:ext cx="21031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224528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Heap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4114800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0" y="4224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O(1) peek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114800"/>
            <a:ext cx="16459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0" y="4224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O(log 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6600" y="4114800"/>
            <a:ext cx="21031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0" y="4224528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O(log 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4114800"/>
            <a:ext cx="146304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64040" y="42245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priority access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773167"/>
            <a:ext cx="2103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4882895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Priority queue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73167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08960" y="4882895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depends on impl.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57800" y="4773167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0" y="4882895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depends on impl.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4773167"/>
            <a:ext cx="2103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0" y="4882895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depends on impl.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4773167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40" y="488289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0" b="0">
                <a:solidFill>
                  <a:srgbClr val="233142"/>
                </a:solidFill>
                <a:latin typeface="Aptos"/>
              </a:rPr>
              <a:t>abstract interface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to choose the right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ordered search?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6148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Prefer a BST or another search tree.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514600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6060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the next highest priority?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76148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Prefer a heap or priority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64992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45643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branching decisions?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72160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Use a decision tree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364992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45643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stable FIFO order only?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72160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A simple queue may be enough.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25112"/>
            <a:ext cx="4434840" cy="7863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441655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Need clinical explainability?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68172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Decision-tree logic is often intuitive.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Managing emergency patient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" y="1977195"/>
            <a:ext cx="539496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Scenario: patients arrive over time with triage categories red, yellow and green.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Goal: always call the highest-priority patient next.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Data-structure choice: priority queue, commonly implemented with a heap.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Operational benefit: urgent cases are surfaced quickly and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06040"/>
            <a:ext cx="384048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697479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852928"/>
            <a:ext cx="35844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new arrivals + urgency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47872"/>
            <a:ext cx="384048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639312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Core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904488"/>
            <a:ext cx="35844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extract highest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99432"/>
            <a:ext cx="384048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690871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956048"/>
            <a:ext cx="35844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next patient to evaluate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9601200" cy="163172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heap is not the same as a BST.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tree-shaped diagram is not automatically a decision tree.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priority queue is an abstract behavior; a heap is one possible implementation.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Balanced and unbalanced trees can have very different practical performance.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most appropriate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9601200" cy="2926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1. A clinical rule that branches according to symptoms and test results.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2. A system that must always serve the most urgent patient next.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3. A set of ordered patient IDs that must support search.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4. A standard waiting line in a non-urgent administrative office.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For each case, choose: decision tree, priority queue, BST or simple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02352"/>
            <a:ext cx="4389120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5193791"/>
            <a:ext cx="4133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Expected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5458968"/>
            <a:ext cx="4133087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decision tree · priority queue · BST ·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102352"/>
            <a:ext cx="4389120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5193791"/>
            <a:ext cx="4133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Discussion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5458968"/>
            <a:ext cx="4133087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Which operation is most important in each scenario?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a triage priority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5415" y="1934115"/>
            <a:ext cx="5777939" cy="421506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Input: a list of incoming patients with urgency labels.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Task: define a data structure that always returns the next patient to call.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why a heap-based priority queue is suitable.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short pseudocode for Insert and </a:t>
            </a:r>
            <a:r>
              <a:rPr sz="2400" dirty="0" err="1"/>
              <a:t>ExtractMax</a:t>
            </a:r>
            <a:r>
              <a:rPr sz="2400" dirty="0"/>
              <a:t>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Mention one limitation or assumption of your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651760"/>
            <a:ext cx="2194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63347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898648"/>
            <a:ext cx="19385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structure choice + pseudocode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30752"/>
            <a:ext cx="2194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82219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4087368"/>
            <a:ext cx="193852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919472"/>
            <a:ext cx="2194560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5010911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5276087"/>
            <a:ext cx="1938528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correct reasoning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871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57860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0D3161"/>
                </a:solidFill>
                <a:latin typeface="Aptos"/>
              </a:rPr>
              <a:t>Which structure supports ordered search by key?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114066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BST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871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57860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structure is ideal for accessing the highest-priority item?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099816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Heap / priority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0332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79476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 a BST, what is true about the left subtree?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4335206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It contains smaller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70332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79476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is triage not a simple FIFO process?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999" y="4335206"/>
            <a:ext cx="41788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rPr dirty="0"/>
              <a:t>Urgency changes the service order.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19963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823"/>
            <a:ext cx="8778240" cy="421506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Trees represent hierarchical relationships and support branching logic.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Binary search trees are designed for ordered search.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Heaps are designed for efficient access to the highest or lowest priority.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Priority queues are essential for modeling urgency-based workflows such as triage.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Choosing the right tree-based structure depends on the dominant operation: search, priority access or decision branching.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2523</Words>
  <Application>Microsoft Macintosh PowerPoint</Application>
  <PresentationFormat>Widescreen</PresentationFormat>
  <Paragraphs>479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4</cp:revision>
  <dcterms:created xsi:type="dcterms:W3CDTF">2013-01-27T09:14:16Z</dcterms:created>
  <dcterms:modified xsi:type="dcterms:W3CDTF">2026-09-20T20:39:31Z</dcterms:modified>
  <cp:category/>
</cp:coreProperties>
</file>