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588310"/>
            <a:ext cx="5440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276FBF"/>
                </a:solidFill>
                <a:latin typeface="Aptos Display"/>
              </a:rPr>
              <a:t>Lesson 20 — Evaluating Machine Learning Algorithms in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" y="4078224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5E778F"/>
                </a:solidFill>
                <a:latin typeface="Aptos"/>
              </a:rPr>
              <a:t>Train/test splits, cross-validation, overfitting, metrics, leakage and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75488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12 October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vector_flat_illustration_with_a_me.png"/>
          <p:cNvPicPr>
            <a:picLocks noChangeAspect="1"/>
          </p:cNvPicPr>
          <p:nvPr/>
        </p:nvPicPr>
        <p:blipFill>
          <a:blip r:embed="rId2"/>
          <a:srcRect l="40108"/>
          <a:stretch>
            <a:fillRect/>
          </a:stretch>
        </p:blipFill>
        <p:spPr>
          <a:xfrm>
            <a:off x="6739437" y="820420"/>
            <a:ext cx="4836497" cy="45448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11776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Why evaluation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94335"/>
            <a:ext cx="2651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Performance on training data is not enough.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Data splitting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40279"/>
            <a:ext cx="2651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Train, validation and test 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Cross-validation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40279"/>
            <a:ext cx="2651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More reliable use of limited datasets.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Classification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66160"/>
            <a:ext cx="2651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Accuracy, sensitivity, specificity, precision, F1 and ROC-AUC.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Common pitfalls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66160"/>
            <a:ext cx="2651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Overfitting, leakage and imbalance.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Medical 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66160"/>
            <a:ext cx="2651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From numerical performance to clinical usefulness.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466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why model evaluation must use data not seen during training.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Distinguish training, validation and test sets.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Describe k-fold cross-validation and its role in biomedical datasets.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Compute and interpret the main classification metrics.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Recognize overfitting, data leakage and class imbalance.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Relate statistical performance to clinical consequences.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5630"/>
          <a:stretch>
            <a:fillRect/>
          </a:stretch>
        </p:blipFill>
        <p:spPr>
          <a:xfrm>
            <a:off x="7871253" y="2078228"/>
            <a:ext cx="3742578" cy="38740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good training score does not prove a useful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599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Machine-learning models are built to make predictions on future, unseen patients.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Performance measured on the training data is usually optimistic.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model can memorize patterns that do not generalize.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Reliable evaluation asks: how well will the algorithm perform on new clinical cases?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415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Generalization is the ability to perform well on new data from the same target population.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should learn reproducible signal rather than noise or accidental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Evaluation protocols estimate generalization before deployment.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medicine, poor generalization may translate into unsafe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65960"/>
            <a:ext cx="3474720" cy="86868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2057400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331720"/>
            <a:ext cx="321868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How well the model fits known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63240"/>
            <a:ext cx="347472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1696" y="3154680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Generalization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429000"/>
            <a:ext cx="3218687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How well it works on unseen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Training, validation and test 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512064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2414016"/>
            <a:ext cx="5010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Training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642616"/>
            <a:ext cx="50109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E778F"/>
                </a:solidFill>
                <a:latin typeface="Aptos"/>
              </a:rPr>
              <a:t>used to learn model 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2194560" cy="65836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27064" y="2414016"/>
            <a:ext cx="20848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2642616"/>
            <a:ext cx="20848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E778F"/>
                </a:solidFill>
                <a:latin typeface="Aptos"/>
              </a:rPr>
              <a:t>model 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286000"/>
            <a:ext cx="1828800" cy="65836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414016"/>
            <a:ext cx="17190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Test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2642616"/>
            <a:ext cx="171907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E778F"/>
                </a:solidFill>
                <a:latin typeface="Aptos"/>
              </a:rPr>
              <a:t>final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The test set should remain untouched until the end of model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do we need a separate test 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training process optimizes performance on the training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Model choices are often influenced by validation results.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test set provides the cleanest estimate of final performance.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Repeatedly checking the test set during development turns it into another validation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Split by patient, not by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453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single patient may contribute several rows, visits, images or time windows.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If the same patient appears in both training and test sets, the evaluation can become artificially easy.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Therefore, related samples from one patient should remain in the same partition.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principle applies to repeated scans, ECG segments and CGM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920240"/>
            <a:ext cx="3383280" cy="8686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57416" y="2011680"/>
            <a:ext cx="3127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Wrong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7416" y="2286000"/>
            <a:ext cx="31272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rows randomly mixed across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063240"/>
            <a:ext cx="338328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57416" y="3154680"/>
            <a:ext cx="3127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Better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3429000"/>
            <a:ext cx="31272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patient-level grouping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Temporal prediction requires time-aware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When predicting the future, information from the future must never enter the training input.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Random splitting can be inappropriate for strongly temporal datasets.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chronological split may better simulate real deployment.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Example: train on earlier CGM periods and test on later periods.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cross-validation?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single train/test split can depend heavily on which samples happened to fall in each 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Cross-validation repeatedly changes the validation subset.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produces a more stable estimate of performance.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especially useful when biomedical datasets are not very large.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k-fold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2082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161"/>
                </a:solidFill>
                <a:latin typeface="Aptos"/>
              </a:rPr>
              <a:t>Fold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74519"/>
            <a:ext cx="1417320" cy="4572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82495" y="1965960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874519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4136" y="1965960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874519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776" y="1965960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874519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57416" y="1965960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74519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965960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4261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161"/>
                </a:solidFill>
                <a:latin typeface="Aptos"/>
              </a:rPr>
              <a:t>Fold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2496312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82495" y="2587752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2496312"/>
            <a:ext cx="1417320" cy="4572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74136" y="2587752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496312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65776" y="2587752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2496312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57416" y="2587752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496312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49056" y="2587752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6440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161"/>
                </a:solidFill>
                <a:latin typeface="Aptos"/>
              </a:rPr>
              <a:t>Fold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3118104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82495" y="3209544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3118104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74136" y="3209544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3118104"/>
            <a:ext cx="1417320" cy="4572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65776" y="3209544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3118104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57416" y="3209544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3118104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49056" y="3209544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388620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161"/>
                </a:solidFill>
                <a:latin typeface="Aptos"/>
              </a:rPr>
              <a:t>Fold 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4480" y="3739896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682495" y="3831335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46120" y="3739896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74136" y="3831335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37760" y="3739896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65776" y="3831335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3739896"/>
            <a:ext cx="1417320" cy="4572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57416" y="3831335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VAL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1040" y="3739896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49056" y="3831335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450799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3161"/>
                </a:solidFill>
                <a:latin typeface="Aptos"/>
              </a:rPr>
              <a:t>Fold 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54480" y="4361688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682495" y="4453127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46120" y="4361688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374136" y="4453127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0" y="4361688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65776" y="4453127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29400" y="4361688"/>
            <a:ext cx="1417320" cy="4572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757416" y="4453127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TRAIN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21040" y="4361688"/>
            <a:ext cx="1417320" cy="4572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49056" y="4453127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D3161"/>
                </a:solidFill>
                <a:latin typeface="Aptos"/>
              </a:rPr>
              <a:t>VAL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E778F"/>
                </a:solidFill>
                <a:latin typeface="Aptos"/>
              </a:rPr>
              <a:t>Each fold is used once for validation while the remaining folds are used for training.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performance is summarized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415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is trained and evaluated once for each fold.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 obtain one performance value per fold.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mean summarizes typical performance; variability across folds shows stability.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Cross-validation is used during development, not as a substitute for an independent final test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347472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2011680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Fold 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286000"/>
            <a:ext cx="321868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0.81 · 0.84 · 0.79 · 0.83 · 0.82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26080"/>
            <a:ext cx="3474720" cy="7772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1696" y="3017520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291840"/>
            <a:ext cx="321868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mean ≈ 0.82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Stratification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classification, each fold should ideally preserve a similar class proportion.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Stratified splitting helps avoid a fold containing too few positive cases.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especially useful when the disease class is uncommon.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Patient grouping and stratification may both be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BEYOND INTERNAL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External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337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Internal validation evaluates data drawn from the development dataset.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External validation uses patients from another site, time period or population.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gives stronger evidence that a model transfers beyond its original setting.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medicine, external validation is often crucial before clinical adoption.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Overfitting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669280" cy="415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Overfitting occurs when the model learns training-specific detail that does not generalize.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performance becomes very high, while validation/test performance is lower.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More model complexity is not always better.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Cross-validation and held-out evaluation help reveal overfitting.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3474720" cy="822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11696" y="2011680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1696" y="2286000"/>
            <a:ext cx="32186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Accuracy = 0.99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71800"/>
            <a:ext cx="3474720" cy="82296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11696" y="3063240"/>
            <a:ext cx="32186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3337560"/>
            <a:ext cx="321868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Accuracy = 0.73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Underfitting vs overfitting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Underfitting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08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Model is too simple.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Poor training performance.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Poor test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37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Model is too adapted to training data.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Excellent training performance.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Weaker unseen-data performance.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39"/>
            <a:ext cx="7498079" cy="736463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72000"/>
            <a:ext cx="7242047" cy="1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Find the complexity that captures true signal and generalizes.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Predicted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Actual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993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Positive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Negative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423160"/>
            <a:ext cx="196596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13632" y="2514600"/>
            <a:ext cx="1819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2770632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233142"/>
                </a:solidFill>
                <a:latin typeface="Aptos"/>
              </a:rPr>
              <a:t>true positive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23160"/>
            <a:ext cx="1965960" cy="868680"/>
          </a:xfrm>
          <a:prstGeom prst="roundRect">
            <a:avLst/>
          </a:prstGeom>
          <a:solidFill>
            <a:srgbClr val="FCE8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9632" y="2514600"/>
            <a:ext cx="1819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FN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770632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233142"/>
                </a:solidFill>
                <a:latin typeface="Aptos"/>
              </a:rPr>
              <a:t>false negative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74720"/>
            <a:ext cx="1965960" cy="868680"/>
          </a:xfrm>
          <a:prstGeom prst="roundRect">
            <a:avLst/>
          </a:prstGeom>
          <a:solidFill>
            <a:srgbClr val="FFF5E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13632" y="3566160"/>
            <a:ext cx="1819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3632" y="3822191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233142"/>
                </a:solidFill>
                <a:latin typeface="Aptos"/>
              </a:rPr>
              <a:t>false positive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74720"/>
            <a:ext cx="196596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2" y="3566160"/>
            <a:ext cx="1819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822191"/>
            <a:ext cx="1819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>
                <a:solidFill>
                  <a:srgbClr val="233142"/>
                </a:solidFill>
                <a:latin typeface="Aptos"/>
              </a:rPr>
              <a:t>true negative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42316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E778F"/>
                </a:solidFill>
                <a:latin typeface="Aptos"/>
              </a:rPr>
              <a:t>All classification metrics are combinations of these four counts.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663440" cy="102412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4074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26771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76FBF"/>
                </a:solidFill>
                <a:latin typeface="Aptos"/>
              </a:rPr>
              <a:t>(TP + TN) / (TP + TN + FP + FN)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79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33142"/>
                </a:solidFill>
                <a:latin typeface="Aptos"/>
              </a:rPr>
              <a:t>Fraction of all predictions that are correct.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74519"/>
            <a:ext cx="4572000" cy="2535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Easy to understand.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Useful when classes are reasonably balanced and errors have similar importance.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Can be misleading when one class is rare.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Sensitivity — also called recall for the positive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663440" cy="102412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4074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Sensitivity /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26771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76FBF"/>
                </a:solidFill>
                <a:latin typeface="Aptos"/>
              </a:rPr>
              <a:t>TP / (TP + FN)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79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33142"/>
                </a:solidFill>
                <a:latin typeface="Aptos"/>
              </a:rPr>
              <a:t>Among truly positive patients, how many are detected?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74519"/>
            <a:ext cx="4572000" cy="2923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High sensitivity means few false negatives.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Important in screening or when missing disease is costly.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Sensitivity does not tell us how many positive predictions are actually correct.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Specificity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663440" cy="102412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4074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Specificity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26771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76FBF"/>
                </a:solidFill>
                <a:latin typeface="Aptos"/>
              </a:rPr>
              <a:t>TN / (TN + FP)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79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33142"/>
                </a:solidFill>
                <a:latin typeface="Aptos"/>
              </a:rPr>
              <a:t>Among truly negative patients, how many are correctly recognized?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74519"/>
            <a:ext cx="4572000" cy="3311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High specificity means few false positives.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Important when unnecessary follow-up or treatment is costly or harmful.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Sensitivity and specificity should often be interpreted together.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Precision — positive predictive value in the evaluated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663440" cy="102412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4074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26771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76FBF"/>
                </a:solidFill>
                <a:latin typeface="Aptos"/>
              </a:rPr>
              <a:t>TP / (TP + FP)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79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33142"/>
                </a:solidFill>
                <a:latin typeface="Aptos"/>
              </a:rPr>
              <a:t>Among predicted positives, how many are truly positive?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74519"/>
            <a:ext cx="4663440" cy="3311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Precision falls when many false positives occur.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Unlike sensitivity and specificity, it depends strongly on class prevalence in the evaluated population.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Useful when the cost of acting on false positives is important.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CLASSIFICATION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F1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663440" cy="102412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4074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26771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76FBF"/>
                </a:solidFill>
                <a:latin typeface="Aptos"/>
              </a:rPr>
              <a:t>2 × Precision × Recall / (Precision + Recall)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79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233142"/>
                </a:solidFill>
                <a:latin typeface="Aptos"/>
              </a:rPr>
              <a:t>Harmonic mean of precision and recall.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74519"/>
            <a:ext cx="4572000" cy="2923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F1 is high only when both precision and recall are high.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does not use true negatives directly.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Useful when the positive class is important and imbalance is present.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PROBABILITY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classification threshold changes the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37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Many classifiers output a probability rather than only a class.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threshold converts probability into a positive or negative prediction.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Lower thresholds usually increase sensitivity but may reduce specificity.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clinically appropriate threshold depends on the intended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65960"/>
            <a:ext cx="3566160" cy="7772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057400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Threshold = 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31720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more positive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71800"/>
            <a:ext cx="356616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63240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Threshold = 0.70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337560"/>
            <a:ext cx="33101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fewer positive predictions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THRESHOLD-INDEPENDENT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ROC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375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ROC curve evaluates many possible decision thresholds.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Vertical axis: sensitivity (true-positive rate).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Horizontal axis: false-positive rate = 1 − specificity.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curve closer to the top-left corner indicates better discrimination.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5262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E778F"/>
                </a:solidFill>
                <a:latin typeface="Aptos"/>
              </a:rPr>
              <a:t>False-positive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7276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778F"/>
                </a:solidFill>
                <a:latin typeface="Aptos"/>
              </a:rPr>
              <a:t>Sensitivity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20840" y="4251960"/>
            <a:ext cx="3108960" cy="0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720840" y="1828800"/>
            <a:ext cx="0" cy="2423160"/>
          </a:xfrm>
          <a:prstGeom prst="line">
            <a:avLst/>
          </a:prstGeom>
          <a:ln w="1524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720840" y="2011680"/>
            <a:ext cx="2926080" cy="2240280"/>
          </a:xfrm>
          <a:prstGeom prst="line">
            <a:avLst/>
          </a:prstGeom>
          <a:ln w="1524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720840" y="3246120"/>
            <a:ext cx="365760" cy="1005840"/>
          </a:xfrm>
          <a:prstGeom prst="line">
            <a:avLst/>
          </a:prstGeom>
          <a:ln w="29209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086600" y="2514600"/>
            <a:ext cx="731520" cy="731520"/>
          </a:xfrm>
          <a:prstGeom prst="line">
            <a:avLst/>
          </a:prstGeom>
          <a:ln w="29209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818120" y="2148840"/>
            <a:ext cx="914400" cy="365760"/>
          </a:xfrm>
          <a:prstGeom prst="line">
            <a:avLst/>
          </a:prstGeom>
          <a:ln w="29209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732520" y="2011680"/>
            <a:ext cx="914400" cy="137160"/>
          </a:xfrm>
          <a:prstGeom prst="line">
            <a:avLst/>
          </a:prstGeom>
          <a:ln w="29209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THRESHOLD-INDEPENDENT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ROC-AUC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ROC-AUC summarizes the area under the ROC curve.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value near 1 indicates strong discrimination; 0.5 is similar to random ranking.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AUC measures ranking ability across thresholds, not performance at one chosen threshold.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should be interpreted together with clinically relevant sensitivity, specificity and predictive values.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accuracy can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376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Suppose only 5% of patients have the disease.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useless model that predicts 'healthy' for everyone reaches 95% accuracy.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Yet its sensitivity for disease is 0%.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Therefore, accuracy alone is inadequate in strongly imbalanced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86000"/>
            <a:ext cx="34930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95 healthy · 5 diseased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7724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Always predict healthy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91840"/>
            <a:ext cx="34930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Accuracy = 95% · Sensitivity = 0%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should we inspect instead?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Sensitivity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945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Does the model find the minority positive class?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Specificity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945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Does it preserve negative-case recognition?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945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How trustworthy are positive predictions?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9300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Balance precision and recall.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Balanced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9300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Average sensitivity across classes.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Precision–Recall curve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9300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Often informative when positives are rare.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data leakage?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Leakage occurs when information unavailable at real prediction time reaches the model or evaluation.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appears to perform better because the problem has accidentally become easier.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Leakage may happen through features, preprocessing or dataset splitting.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one of the most dangerous sources of unrealistic performance.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Typical examples in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Future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94560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Using a lab result obtained after the prediction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Same patient in training and test 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Preprocessing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27248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Compute normalization or imputation using the entire dataset.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Duplicate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27248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Near-identical samples appear in both train and test.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Label proxies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59936"/>
            <a:ext cx="41788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 feature indirectly reveals the diagnosis because it was created after diagnosis.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LEAKAGE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Preprocessing belongs inside the training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Statistics used for imputation, normalization or feature selection must be learned from training data only.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During cross-validation, preprocessing should be fitted separately inside each training fold.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validation fold is then transformed using parameters learned from the corresponding training fold.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Pipelines help enforce this separation.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best metric depends on the clinical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30175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2871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Screening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10512"/>
            <a:ext cx="30175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33672" y="1865376"/>
            <a:ext cx="28712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Confirmatory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810512"/>
            <a:ext cx="27432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5512" y="1865376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Risk ranking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86000"/>
            <a:ext cx="2926080" cy="12344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" y="2377440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651760"/>
            <a:ext cx="267004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High sensitivity</a:t>
            </a:r>
          </a:p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Avoid missed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286000"/>
            <a:ext cx="2926080" cy="12344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5" y="2377440"/>
            <a:ext cx="2670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651760"/>
            <a:ext cx="267004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High specificity / precision</a:t>
            </a:r>
          </a:p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Avoid unnecessary interventions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286000"/>
            <a:ext cx="2651760" cy="12344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6096" y="2377440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Priority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651760"/>
            <a:ext cx="239572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Discrimination across thresholds</a:t>
            </a:r>
          </a:p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3161"/>
                </a:solidFill>
                <a:latin typeface="Aptos"/>
              </a:rPr>
              <a:t>There is no universally best metric: the intended clinical use defines what matters most.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performance estimate is not an exact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Metrics are estimated from a finite sample of patients.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test samples would produce slightly different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Confidence intervals communicate uncertainty around the estimate.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Small datasets usually produce wider uncertainty.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Compare models under the same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987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Models should be evaluated on the same patients and the same data partitions.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Hyperparameter tuning should follow the same rules for all candidates.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Do not select a model using the final test 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small numerical difference is not automatically clinically meaningful.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Evaluating a model for pneumonia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3439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Task: classify patients as likely pneumonia vs unlikely pneumonia.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Because missed disease matters, sensitivity is a key metric.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Specificity and precision remain important to limit unnecessary tests.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Use patient-level cross-validation during development and an untouched test set for final evaluation.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Inspect class imbalance and rule out leakage before trusting the result.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Interpret this hypothetical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2743200" cy="12344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Model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40279"/>
            <a:ext cx="248716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Accuracy 0.92</a:t>
            </a:r>
          </a:p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Sensitivity 0.55</a:t>
            </a:r>
          </a:p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Specificity 0.97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874519"/>
            <a:ext cx="2743200" cy="12344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14215" y="1965960"/>
            <a:ext cx="2487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Model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215" y="2240279"/>
            <a:ext cx="248716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Accuracy 0.86</a:t>
            </a:r>
          </a:p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Sensitivity 0.88</a:t>
            </a:r>
          </a:p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Specificity 0.85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874519"/>
            <a:ext cx="3200400" cy="12344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31736" y="1965960"/>
            <a:ext cx="2944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2240279"/>
            <a:ext cx="2944368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Which model would you prefer for a screening task, and why?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The answer depends on clinical priorities—not only on the highest accuracy.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set should remain untouched until final evaluation?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59736"/>
            <a:ext cx="417880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Test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Sensitivity is also called what for the positive class?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Which error directly reduces sensitivity?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474720"/>
            <a:ext cx="417880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False negatives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Why can accuracy be misleading?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474720"/>
            <a:ext cx="4178807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Because class imbalance can hide failure on the minority class.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EVALUATION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Before trusting a biomedical ML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Split correctly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945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Patient-wise and time-aware where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Keep test data untouched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945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No tuning on the final test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Prevent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945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Fit preprocessing only on training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Use suitable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9300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Match metrics to clinical purpose and imbalance.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Report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9300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Include variability or confidence intervals.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Think clinically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9300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3142"/>
                </a:solidFill>
                <a:latin typeface="Aptos"/>
              </a:defRPr>
            </a:pPr>
            <a:r>
              <a:t>Ask whether the difference changes patient care.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989320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144000" cy="5054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Evaluation must estimate performance on unseen patients, not only training fit.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Train/test separation and cross-validation are fundamental tools for estimating generalization.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Accuracy, sensitivity, specificity, precision, F1 and ROC-AUC answer different questions.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Class imbalance can make apparently strong accuracy meaningless.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Data leakage can produce unrealistically high performance and must be actively prevented.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medicine, metrics should always be interpreted in the context of clinical consequences.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2200</Words>
  <Application>Microsoft Macintosh PowerPoint</Application>
  <PresentationFormat>Widescreen</PresentationFormat>
  <Paragraphs>402</Paragraphs>
  <Slides>38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2</cp:revision>
  <dcterms:created xsi:type="dcterms:W3CDTF">2013-01-27T09:14:16Z</dcterms:created>
  <dcterms:modified xsi:type="dcterms:W3CDTF">2026-10-07T20:43:38Z</dcterms:modified>
  <cp:category/>
</cp:coreProperties>
</file>