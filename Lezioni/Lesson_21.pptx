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1"/>
  </p:normalViewPr>
  <p:slideViewPr>
    <p:cSldViewPr snapToGrid="0" snapToObjects="1">
      <p:cViewPr varScale="1">
        <p:scale>
          <a:sx n="103" d="100"/>
          <a:sy n="103" d="100"/>
        </p:scale>
        <p:origin x="800" y="1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731520"/>
            <a:ext cx="5303520" cy="62179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Algorithms and Data Structures
for Medical Informatics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5320" y="1779524"/>
            <a:ext cx="5486400" cy="38404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2400" b="1" dirty="0">
                <a:solidFill>
                  <a:srgbClr val="276FBF"/>
                </a:solidFill>
                <a:latin typeface="Aptos Display"/>
              </a:rPr>
              <a:t>Lesson 21 — Deep Learning and Neural Networks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5320" y="4238244"/>
            <a:ext cx="5440680" cy="5943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800" b="0" dirty="0">
                <a:solidFill>
                  <a:srgbClr val="5E778F"/>
                </a:solidFill>
                <a:latin typeface="Aptos"/>
              </a:rPr>
              <a:t>Artificial neurons, layers, activations, loss, gradient descent and backpropagation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5047488"/>
            <a:ext cx="4937760" cy="6583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600" b="0" dirty="0">
                <a:solidFill>
                  <a:srgbClr val="233142"/>
                </a:solidFill>
                <a:latin typeface="Aptos"/>
              </a:rPr>
              <a:t>ITS · Medical Informatics
16 October 2026 · 11:30–13:30
Prof. Simone </a:t>
            </a:r>
            <a:r>
              <a:rPr sz="1600" b="0" dirty="0" err="1">
                <a:solidFill>
                  <a:srgbClr val="233142"/>
                </a:solidFill>
                <a:latin typeface="Aptos"/>
              </a:rPr>
              <a:t>Rancati</a:t>
            </a:r>
            <a:r>
              <a:rPr sz="1600" b="0" dirty="0">
                <a:solidFill>
                  <a:srgbClr val="233142"/>
                </a:solidFill>
                <a:latin typeface="Aptos"/>
              </a:rPr>
              <a:t>, PhD</a:t>
            </a:r>
          </a:p>
        </p:txBody>
      </p:sp>
      <p:pic>
        <p:nvPicPr>
          <p:cNvPr id="7" name="Picture 6" descr="a_clean_modern_vector_flat_illustration_with_a_me.png"/>
          <p:cNvPicPr>
            <a:picLocks noChangeAspect="1"/>
          </p:cNvPicPr>
          <p:nvPr/>
        </p:nvPicPr>
        <p:blipFill>
          <a:blip r:embed="rId2"/>
          <a:srcRect l="40595"/>
          <a:stretch>
            <a:fillRect/>
          </a:stretch>
        </p:blipFill>
        <p:spPr>
          <a:xfrm>
            <a:off x="6907427" y="1115568"/>
            <a:ext cx="4729416" cy="448062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1064240" y="5989320"/>
            <a:ext cx="676656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30352"/>
            <a:ext cx="530352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LESSON 21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77824"/>
            <a:ext cx="9464040" cy="43891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Lesson structure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5989320"/>
            <a:ext cx="676656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02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1248" y="1874519"/>
            <a:ext cx="2907792" cy="987552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9264" y="1965960"/>
            <a:ext cx="2651760" cy="21945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1. From ML to DL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9264" y="2240279"/>
            <a:ext cx="26517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t>Why neural networks are different.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42816" y="1874519"/>
            <a:ext cx="2907792" cy="987552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370832" y="1965960"/>
            <a:ext cx="2651760" cy="21945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2. Artificial neuron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70832" y="2240279"/>
            <a:ext cx="26517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t>Inputs, weights, bias and activation.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44384" y="1874519"/>
            <a:ext cx="2907792" cy="987552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772400" y="1965960"/>
            <a:ext cx="2651760" cy="21945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3. Network architecture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0" y="2240279"/>
            <a:ext cx="26517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t>Layers and forward propagation.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1248" y="3200400"/>
            <a:ext cx="2907792" cy="987552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69264" y="3291840"/>
            <a:ext cx="2651760" cy="21945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4. Learning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9264" y="3566160"/>
            <a:ext cx="26517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t>Loss, gradient descent and backpropagation.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42816" y="3200400"/>
            <a:ext cx="2907792" cy="987552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370832" y="3291840"/>
            <a:ext cx="2651760" cy="21945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5. Practical training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70832" y="3566160"/>
            <a:ext cx="26517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t>Epochs, batches, learning rate and overfitting.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644384" y="3200400"/>
            <a:ext cx="2907792" cy="987552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772400" y="3291840"/>
            <a:ext cx="2651760" cy="21945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6. Biomedical applications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0" y="3566160"/>
            <a:ext cx="26517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t>Images, signals and clinical prediction.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30352"/>
            <a:ext cx="530352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AT THE END OF THE LESSON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77824"/>
            <a:ext cx="9464040" cy="43891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Learning 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5989320"/>
            <a:ext cx="676656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" y="1847088"/>
            <a:ext cx="7315200" cy="4279185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1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Explain the structure of an artificial neuron.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1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Describe how layers combine neurons into a neural network.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1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Understand why activation functions introduce nonlinearity.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1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Explain the purpose of a loss function.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1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Describe gradient descent and backpropagation intuitively.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1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Connect neural-network training to biomedical prediction problems.</a:t>
            </a:r>
          </a:p>
        </p:txBody>
      </p:sp>
      <p:pic>
        <p:nvPicPr>
          <p:cNvPr id="7" name="Picture 6" descr="wide_clean_medical_biotech_concept_illustration_on.png"/>
          <p:cNvPicPr>
            <a:picLocks noChangeAspect="1"/>
          </p:cNvPicPr>
          <p:nvPr/>
        </p:nvPicPr>
        <p:blipFill>
          <a:blip r:embed="rId2"/>
          <a:srcRect l="46982"/>
          <a:stretch>
            <a:fillRect/>
          </a:stretch>
        </p:blipFill>
        <p:spPr>
          <a:xfrm>
            <a:off x="8266866" y="1847088"/>
            <a:ext cx="3474030" cy="368776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30352"/>
            <a:ext cx="530352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MOTIVATION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77824"/>
            <a:ext cx="9464040" cy="43891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Why deep learning?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5989320"/>
            <a:ext cx="676656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28800"/>
            <a:ext cx="9418320" cy="3375348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Traditional machine learning often relies on manually chosen features.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Deep learning can learn useful internal representations directly from raw or minimally processed data.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This is powerful for complex inputs such as images, waveforms and long sequences.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The price is greater computational cost and usually lower direct interpretability.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30352"/>
            <a:ext cx="530352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BIG PICTURE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77824"/>
            <a:ext cx="9464040" cy="43891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Machine learning vs deep learning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5989320"/>
            <a:ext cx="676656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1810512"/>
            <a:ext cx="4572000" cy="384048"/>
          </a:xfrm>
          <a:prstGeom prst="roundRect">
            <a:avLst/>
          </a:prstGeom>
          <a:solidFill>
            <a:srgbClr val="E1ECF6"/>
          </a:solidFill>
          <a:ln>
            <a:solidFill>
              <a:srgbClr val="E1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41832" y="1865376"/>
            <a:ext cx="4425696" cy="21945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Traditional ML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240280"/>
            <a:ext cx="4206240" cy="1666034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 marL="285750" indent="-28575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800">
                <a:solidFill>
                  <a:srgbClr val="233142"/>
                </a:solidFill>
                <a:latin typeface="Aptos"/>
              </a:defRPr>
            </a:pPr>
            <a:r>
              <a:rPr dirty="0"/>
              <a:t>Human-designed features are often important.</a:t>
            </a:r>
          </a:p>
          <a:p>
            <a:pPr marL="285750" indent="-28575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800">
                <a:solidFill>
                  <a:srgbClr val="233142"/>
                </a:solidFill>
                <a:latin typeface="Aptos"/>
              </a:defRPr>
            </a:pPr>
            <a:r>
              <a:rPr dirty="0"/>
              <a:t>Model may be relatively shallow.</a:t>
            </a:r>
          </a:p>
          <a:p>
            <a:pPr marL="285750" indent="-28575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800">
                <a:solidFill>
                  <a:srgbClr val="233142"/>
                </a:solidFill>
                <a:latin typeface="Aptos"/>
              </a:defRPr>
            </a:pPr>
            <a:r>
              <a:rPr dirty="0"/>
              <a:t>Examples: logistic regression, random forest.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810512"/>
            <a:ext cx="4206240" cy="384048"/>
          </a:xfrm>
          <a:prstGeom prst="roundRect">
            <a:avLst/>
          </a:prstGeom>
          <a:solidFill>
            <a:srgbClr val="E1ECF6"/>
          </a:solidFill>
          <a:ln>
            <a:solidFill>
              <a:srgbClr val="E1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199632" y="1865376"/>
            <a:ext cx="4059935" cy="21945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Deep learning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2240280"/>
            <a:ext cx="4023360" cy="1956882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 marL="285750" indent="-28575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800">
                <a:solidFill>
                  <a:srgbClr val="233142"/>
                </a:solidFill>
                <a:latin typeface="Aptos"/>
              </a:defRPr>
            </a:pPr>
            <a:r>
              <a:rPr dirty="0"/>
              <a:t>Multiple representation-learning layers.</a:t>
            </a:r>
          </a:p>
          <a:p>
            <a:pPr marL="285750" indent="-28575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800">
                <a:solidFill>
                  <a:srgbClr val="233142"/>
                </a:solidFill>
                <a:latin typeface="Aptos"/>
              </a:defRPr>
            </a:pPr>
            <a:r>
              <a:rPr dirty="0"/>
              <a:t>Can learn complex features automatically.</a:t>
            </a:r>
          </a:p>
          <a:p>
            <a:pPr marL="285750" indent="-28575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800">
                <a:solidFill>
                  <a:srgbClr val="233142"/>
                </a:solidFill>
                <a:latin typeface="Aptos"/>
              </a:defRPr>
            </a:pPr>
            <a:r>
              <a:rPr dirty="0"/>
              <a:t>Examples: CNNs, recurrent networks, Transformers.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828800" y="4251960"/>
            <a:ext cx="7498079" cy="548640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956816" y="4343400"/>
            <a:ext cx="7242047" cy="21945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Key idea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56816" y="4617720"/>
            <a:ext cx="7242047" cy="1280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t>Deep learning is still machine learning: it learns a predictive function from data.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30352"/>
            <a:ext cx="530352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ARTIFICIAL NEURON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77824"/>
            <a:ext cx="9464040" cy="43891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The basic computational unit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5989320"/>
            <a:ext cx="676656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28800"/>
            <a:ext cx="5303520" cy="2987549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An artificial neuron receives one or more input values.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Each input is multiplied by a learnable weight.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A bias term is added.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An activation function transforms the resulting score.</a:t>
            </a:r>
          </a:p>
        </p:txBody>
      </p:sp>
      <p:sp>
        <p:nvSpPr>
          <p:cNvPr id="7" name="Oval 6"/>
          <p:cNvSpPr/>
          <p:nvPr/>
        </p:nvSpPr>
        <p:spPr>
          <a:xfrm>
            <a:off x="6537960" y="1874519"/>
            <a:ext cx="502920" cy="502920"/>
          </a:xfrm>
          <a:prstGeom prst="ellipse">
            <a:avLst/>
          </a:prstGeom>
          <a:solidFill>
            <a:srgbClr val="ECF8EF"/>
          </a:solidFill>
          <a:ln>
            <a:solidFill>
              <a:srgbClr val="276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583680" y="2020824"/>
            <a:ext cx="411480" cy="16459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300" b="1">
                <a:solidFill>
                  <a:srgbClr val="0D3161"/>
                </a:solidFill>
                <a:latin typeface="Aptos"/>
              </a:rPr>
              <a:t>x₁</a:t>
            </a:r>
          </a:p>
        </p:txBody>
      </p:sp>
      <p:sp>
        <p:nvSpPr>
          <p:cNvPr id="9" name="Oval 8"/>
          <p:cNvSpPr/>
          <p:nvPr/>
        </p:nvSpPr>
        <p:spPr>
          <a:xfrm>
            <a:off x="6537960" y="2788920"/>
            <a:ext cx="502920" cy="502920"/>
          </a:xfrm>
          <a:prstGeom prst="ellipse">
            <a:avLst/>
          </a:prstGeom>
          <a:solidFill>
            <a:srgbClr val="ECF8EF"/>
          </a:solidFill>
          <a:ln>
            <a:solidFill>
              <a:srgbClr val="276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83680" y="2935224"/>
            <a:ext cx="411480" cy="16459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300" b="1">
                <a:solidFill>
                  <a:srgbClr val="0D3161"/>
                </a:solidFill>
                <a:latin typeface="Aptos"/>
              </a:rPr>
              <a:t>x₂</a:t>
            </a:r>
          </a:p>
        </p:txBody>
      </p:sp>
      <p:sp>
        <p:nvSpPr>
          <p:cNvPr id="11" name="Oval 10"/>
          <p:cNvSpPr/>
          <p:nvPr/>
        </p:nvSpPr>
        <p:spPr>
          <a:xfrm>
            <a:off x="6537960" y="3703320"/>
            <a:ext cx="502920" cy="502920"/>
          </a:xfrm>
          <a:prstGeom prst="ellipse">
            <a:avLst/>
          </a:prstGeom>
          <a:solidFill>
            <a:srgbClr val="ECF8EF"/>
          </a:solidFill>
          <a:ln>
            <a:solidFill>
              <a:srgbClr val="276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83680" y="3849624"/>
            <a:ext cx="411480" cy="16459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300" b="1">
                <a:solidFill>
                  <a:srgbClr val="0D3161"/>
                </a:solidFill>
                <a:latin typeface="Aptos"/>
              </a:rPr>
              <a:t>x₃</a:t>
            </a:r>
          </a:p>
        </p:txBody>
      </p:sp>
      <p:sp>
        <p:nvSpPr>
          <p:cNvPr id="13" name="Oval 12"/>
          <p:cNvSpPr/>
          <p:nvPr/>
        </p:nvSpPr>
        <p:spPr>
          <a:xfrm>
            <a:off x="8366760" y="2697480"/>
            <a:ext cx="621792" cy="621792"/>
          </a:xfrm>
          <a:prstGeom prst="ellipse">
            <a:avLst/>
          </a:prstGeom>
          <a:solidFill>
            <a:srgbClr val="FFF5E1"/>
          </a:solidFill>
          <a:ln>
            <a:solidFill>
              <a:srgbClr val="276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412480" y="2843784"/>
            <a:ext cx="530352" cy="16459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600" b="1">
                <a:solidFill>
                  <a:srgbClr val="0D3161"/>
                </a:solidFill>
                <a:latin typeface="Aptos"/>
              </a:rPr>
              <a:t>Σ</a:t>
            </a:r>
          </a:p>
        </p:txBody>
      </p:sp>
      <p:sp>
        <p:nvSpPr>
          <p:cNvPr id="15" name="Oval 14"/>
          <p:cNvSpPr/>
          <p:nvPr/>
        </p:nvSpPr>
        <p:spPr>
          <a:xfrm>
            <a:off x="9829800" y="2697480"/>
            <a:ext cx="621792" cy="621792"/>
          </a:xfrm>
          <a:prstGeom prst="ellipse">
            <a:avLst/>
          </a:prstGeom>
          <a:solidFill>
            <a:srgbClr val="F0ECFA"/>
          </a:solidFill>
          <a:ln>
            <a:solidFill>
              <a:srgbClr val="276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875520" y="2843784"/>
            <a:ext cx="530352" cy="16459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600" b="1">
                <a:solidFill>
                  <a:srgbClr val="0D3161"/>
                </a:solidFill>
                <a:latin typeface="Aptos"/>
              </a:rPr>
              <a:t>f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040880" y="2121408"/>
            <a:ext cx="1325880" cy="886968"/>
          </a:xfrm>
          <a:prstGeom prst="line">
            <a:avLst/>
          </a:prstGeom>
          <a:ln w="16510">
            <a:solidFill>
              <a:srgbClr val="5E77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7040880" y="3008376"/>
            <a:ext cx="1325880" cy="27432"/>
          </a:xfrm>
          <a:prstGeom prst="line">
            <a:avLst/>
          </a:prstGeom>
          <a:ln w="16510">
            <a:solidFill>
              <a:srgbClr val="5E77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7040880" y="3008376"/>
            <a:ext cx="1325880" cy="941832"/>
          </a:xfrm>
          <a:prstGeom prst="line">
            <a:avLst/>
          </a:prstGeom>
          <a:ln w="16510">
            <a:solidFill>
              <a:srgbClr val="5E77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8988552" y="3008376"/>
            <a:ext cx="841248" cy="0"/>
          </a:xfrm>
          <a:prstGeom prst="line">
            <a:avLst/>
          </a:prstGeom>
          <a:ln w="22860">
            <a:solidFill>
              <a:srgbClr val="34AD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9546336" y="3438145"/>
            <a:ext cx="1188720" cy="2011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300" b="0" dirty="0">
                <a:solidFill>
                  <a:srgbClr val="5E778F"/>
                </a:solidFill>
                <a:latin typeface="Aptos"/>
              </a:rPr>
              <a:t>output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30352"/>
            <a:ext cx="530352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ARTIFICIAL NEURON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77824"/>
            <a:ext cx="9464040" cy="43891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Weights and bias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5989320"/>
            <a:ext cx="676656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07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1920240"/>
            <a:ext cx="4663440" cy="1097280"/>
          </a:xfrm>
          <a:prstGeom prst="roundRect">
            <a:avLst/>
          </a:prstGeom>
          <a:solidFill>
            <a:srgbClr val="ECF8EF"/>
          </a:solidFill>
          <a:ln>
            <a:solidFill>
              <a:srgbClr val="ECF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96695" y="2011680"/>
            <a:ext cx="4407407" cy="21945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Weighted sum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1" y="2304288"/>
            <a:ext cx="4334255" cy="237744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500" b="1">
                <a:solidFill>
                  <a:srgbClr val="276FBF"/>
                </a:solidFill>
                <a:latin typeface="Aptos"/>
              </a:rPr>
              <a:t>z = w₁x₁ + w₂x₂ + ... + wₙxₙ + 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1" y="2606040"/>
            <a:ext cx="4334255" cy="237744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320" b="0">
                <a:solidFill>
                  <a:srgbClr val="233142"/>
                </a:solidFill>
                <a:latin typeface="Aptos"/>
              </a:rPr>
              <a:t>The neuron combines its inputs before activation.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97880" y="1847088"/>
            <a:ext cx="4572000" cy="4538743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8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Weights determine how strongly each input influences the neuron.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8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Positive and negative weights can push the output in different directions.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8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The bias shifts the neuron's response.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8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Weights and biases are the parameters learned during training.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30352"/>
            <a:ext cx="530352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ARTIFICIAL NEURON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77824"/>
            <a:ext cx="9464040" cy="43891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Why activation functions are needed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5989320"/>
            <a:ext cx="676656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28800"/>
            <a:ext cx="9326880" cy="2599751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Without activation functions, stacking many linear layers would still behave like one linear transformation.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Activation functions introduce nonlinearity.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Nonlinearity allows the network to represent complex patterns.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Different activation functions are useful in different parts of a network.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30352"/>
            <a:ext cx="530352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ACTIVATION FUNCTIONS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77824"/>
            <a:ext cx="9464040" cy="43891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Three common examples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5989320"/>
            <a:ext cx="676656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09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1920240"/>
            <a:ext cx="2971800" cy="1965960"/>
          </a:xfrm>
          <a:prstGeom prst="roundRect">
            <a:avLst/>
          </a:prstGeom>
          <a:solidFill>
            <a:srgbClr val="ECF8EF"/>
          </a:solidFill>
          <a:ln>
            <a:solidFill>
              <a:srgbClr val="ECF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96695" y="2011680"/>
            <a:ext cx="2715768" cy="21945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900" b="1">
                <a:solidFill>
                  <a:srgbClr val="0D3161"/>
                </a:solidFill>
                <a:latin typeface="Aptos"/>
              </a:rPr>
              <a:t>ReLU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6695" y="2286000"/>
            <a:ext cx="2715768" cy="1545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500">
                <a:solidFill>
                  <a:srgbClr val="233142"/>
                </a:solidFill>
                <a:latin typeface="Aptos"/>
              </a:defRPr>
            </a:pPr>
            <a:r>
              <a:t>max(0, z)</a:t>
            </a:r>
          </a:p>
          <a:p>
            <a:pPr>
              <a:spcAft>
                <a:spcPts val="100"/>
              </a:spcAft>
              <a:defRPr sz="1500">
                <a:solidFill>
                  <a:srgbClr val="233142"/>
                </a:solidFill>
                <a:latin typeface="Aptos"/>
              </a:defRPr>
            </a:pPr>
            <a:r>
              <a:t>Common in hidden layers.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1920240"/>
            <a:ext cx="2971800" cy="1965960"/>
          </a:xfrm>
          <a:prstGeom prst="roundRect">
            <a:avLst/>
          </a:prstGeom>
          <a:solidFill>
            <a:srgbClr val="FFF5E1"/>
          </a:solidFill>
          <a:ln>
            <a:solidFill>
              <a:srgbClr val="FFF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425696" y="2011680"/>
            <a:ext cx="2715768" cy="21945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900" b="1">
                <a:solidFill>
                  <a:srgbClr val="0D3161"/>
                </a:solidFill>
                <a:latin typeface="Aptos"/>
              </a:rPr>
              <a:t>Sigmoid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25696" y="2286000"/>
            <a:ext cx="2715768" cy="1545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500">
                <a:solidFill>
                  <a:srgbClr val="233142"/>
                </a:solidFill>
                <a:latin typeface="Aptos"/>
              </a:defRPr>
            </a:pPr>
            <a:r>
              <a:t>maps values to 0–1</a:t>
            </a:r>
          </a:p>
          <a:p>
            <a:pPr>
              <a:spcAft>
                <a:spcPts val="100"/>
              </a:spcAft>
              <a:defRPr sz="1500">
                <a:solidFill>
                  <a:srgbClr val="233142"/>
                </a:solidFill>
                <a:latin typeface="Aptos"/>
              </a:defRPr>
            </a:pPr>
            <a:r>
              <a:t>Useful for binary output probabilities.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26679" y="1920240"/>
            <a:ext cx="2971800" cy="1965960"/>
          </a:xfrm>
          <a:prstGeom prst="roundRect">
            <a:avLst/>
          </a:prstGeom>
          <a:solidFill>
            <a:srgbClr val="F0ECFA"/>
          </a:solidFill>
          <a:ln>
            <a:solidFill>
              <a:srgbClr val="F0EC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854696" y="2011680"/>
            <a:ext cx="2715768" cy="21945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900" b="1">
                <a:solidFill>
                  <a:srgbClr val="0D3161"/>
                </a:solidFill>
                <a:latin typeface="Aptos"/>
              </a:rPr>
              <a:t>Softmax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54696" y="2286000"/>
            <a:ext cx="2715768" cy="1545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500">
                <a:solidFill>
                  <a:srgbClr val="233142"/>
                </a:solidFill>
                <a:latin typeface="Aptos"/>
              </a:defRPr>
            </a:pPr>
            <a:r>
              <a:t>converts several scores into class probabilities</a:t>
            </a:r>
          </a:p>
          <a:p>
            <a:pPr>
              <a:spcAft>
                <a:spcPts val="100"/>
              </a:spcAft>
              <a:defRPr sz="1500">
                <a:solidFill>
                  <a:srgbClr val="233142"/>
                </a:solidFill>
                <a:latin typeface="Aptos"/>
              </a:defRPr>
            </a:pPr>
            <a:r>
              <a:t>Useful for multiclass output.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4" name="Connector 43"/>
          <p:cNvCxnSpPr/>
          <p:nvPr/>
        </p:nvCxnSpPr>
        <p:spPr>
          <a:xfrm flipV="1">
            <a:off x="8074152" y="3700272"/>
            <a:ext cx="1417320" cy="377952"/>
          </a:xfrm>
          <a:prstGeom prst="line">
            <a:avLst/>
          </a:prstGeom>
          <a:ln w="13970">
            <a:solidFill>
              <a:srgbClr val="E1EC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8074152" y="2755392"/>
            <a:ext cx="1417320" cy="1322832"/>
          </a:xfrm>
          <a:prstGeom prst="line">
            <a:avLst/>
          </a:prstGeom>
          <a:ln w="13970">
            <a:solidFill>
              <a:srgbClr val="E1EC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8074152" y="3511296"/>
            <a:ext cx="1417320" cy="188976"/>
          </a:xfrm>
          <a:prstGeom prst="line">
            <a:avLst/>
          </a:prstGeom>
          <a:ln w="13970">
            <a:solidFill>
              <a:srgbClr val="E1EC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8074152" y="2755392"/>
            <a:ext cx="1417320" cy="755904"/>
          </a:xfrm>
          <a:prstGeom prst="line">
            <a:avLst/>
          </a:prstGeom>
          <a:ln w="13970">
            <a:solidFill>
              <a:srgbClr val="E1EC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8074152" y="2944368"/>
            <a:ext cx="1417320" cy="755904"/>
          </a:xfrm>
          <a:prstGeom prst="line">
            <a:avLst/>
          </a:prstGeom>
          <a:ln w="13970">
            <a:solidFill>
              <a:srgbClr val="E1EC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8074152" y="2755392"/>
            <a:ext cx="1417320" cy="188976"/>
          </a:xfrm>
          <a:prstGeom prst="line">
            <a:avLst/>
          </a:prstGeom>
          <a:ln w="13970">
            <a:solidFill>
              <a:srgbClr val="E1EC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8074152" y="2377440"/>
            <a:ext cx="1417320" cy="1322832"/>
          </a:xfrm>
          <a:prstGeom prst="line">
            <a:avLst/>
          </a:prstGeom>
          <a:ln w="13970">
            <a:solidFill>
              <a:srgbClr val="E1EC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8074152" y="2377440"/>
            <a:ext cx="1417320" cy="377952"/>
          </a:xfrm>
          <a:prstGeom prst="line">
            <a:avLst/>
          </a:prstGeom>
          <a:ln w="13970">
            <a:solidFill>
              <a:srgbClr val="E1EC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6656832" y="3936492"/>
            <a:ext cx="1417320" cy="141732"/>
          </a:xfrm>
          <a:prstGeom prst="line">
            <a:avLst/>
          </a:prstGeom>
          <a:ln w="13970">
            <a:solidFill>
              <a:srgbClr val="E1EC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V="1">
            <a:off x="6656832" y="3511296"/>
            <a:ext cx="1417320" cy="425196"/>
          </a:xfrm>
          <a:prstGeom prst="line">
            <a:avLst/>
          </a:prstGeom>
          <a:ln w="13970">
            <a:solidFill>
              <a:srgbClr val="E1EC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V="1">
            <a:off x="6656832" y="2944368"/>
            <a:ext cx="1417320" cy="992124"/>
          </a:xfrm>
          <a:prstGeom prst="line">
            <a:avLst/>
          </a:prstGeom>
          <a:ln w="13970">
            <a:solidFill>
              <a:srgbClr val="E1EC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V="1">
            <a:off x="6656832" y="2377440"/>
            <a:ext cx="1417320" cy="1559052"/>
          </a:xfrm>
          <a:prstGeom prst="line">
            <a:avLst/>
          </a:prstGeom>
          <a:ln w="13970">
            <a:solidFill>
              <a:srgbClr val="E1EC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6656832" y="3227832"/>
            <a:ext cx="1417320" cy="850392"/>
          </a:xfrm>
          <a:prstGeom prst="line">
            <a:avLst/>
          </a:prstGeom>
          <a:ln w="13970">
            <a:solidFill>
              <a:srgbClr val="E1EC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6656832" y="3227832"/>
            <a:ext cx="1417320" cy="283464"/>
          </a:xfrm>
          <a:prstGeom prst="line">
            <a:avLst/>
          </a:prstGeom>
          <a:ln w="13970">
            <a:solidFill>
              <a:srgbClr val="E1EC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6656832" y="2944368"/>
            <a:ext cx="1417320" cy="283464"/>
          </a:xfrm>
          <a:prstGeom prst="line">
            <a:avLst/>
          </a:prstGeom>
          <a:ln w="13970">
            <a:solidFill>
              <a:srgbClr val="E1EC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6656832" y="2377440"/>
            <a:ext cx="1417320" cy="850392"/>
          </a:xfrm>
          <a:prstGeom prst="line">
            <a:avLst/>
          </a:prstGeom>
          <a:ln w="13970">
            <a:solidFill>
              <a:srgbClr val="E1EC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6656832" y="2519172"/>
            <a:ext cx="1417320" cy="1559052"/>
          </a:xfrm>
          <a:prstGeom prst="line">
            <a:avLst/>
          </a:prstGeom>
          <a:ln w="13970">
            <a:solidFill>
              <a:srgbClr val="E1EC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6656832" y="2519172"/>
            <a:ext cx="1417320" cy="992124"/>
          </a:xfrm>
          <a:prstGeom prst="line">
            <a:avLst/>
          </a:prstGeom>
          <a:ln w="13970">
            <a:solidFill>
              <a:srgbClr val="E1EC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6656832" y="2519172"/>
            <a:ext cx="1417320" cy="425196"/>
          </a:xfrm>
          <a:prstGeom prst="line">
            <a:avLst/>
          </a:prstGeom>
          <a:ln w="13970">
            <a:solidFill>
              <a:srgbClr val="E1EC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6656832" y="2377440"/>
            <a:ext cx="1417320" cy="141732"/>
          </a:xfrm>
          <a:prstGeom prst="line">
            <a:avLst/>
          </a:prstGeom>
          <a:ln w="13970">
            <a:solidFill>
              <a:srgbClr val="E1EC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30352"/>
            <a:ext cx="530352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NETWORK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77824"/>
            <a:ext cx="9464040" cy="43891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From one neuron to many layers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5989320"/>
            <a:ext cx="676656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28800"/>
            <a:ext cx="5303520" cy="3375348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A neural network organizes neurons into layers.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The input layer receives the original features.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Hidden layers transform the representation step by step.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The output layer produces the final prediction.</a:t>
            </a:r>
          </a:p>
        </p:txBody>
      </p:sp>
      <p:sp>
        <p:nvSpPr>
          <p:cNvPr id="7" name="Oval 6"/>
          <p:cNvSpPr/>
          <p:nvPr/>
        </p:nvSpPr>
        <p:spPr>
          <a:xfrm>
            <a:off x="6446520" y="2308860"/>
            <a:ext cx="420624" cy="420624"/>
          </a:xfrm>
          <a:prstGeom prst="ellipse">
            <a:avLst/>
          </a:prstGeom>
          <a:solidFill>
            <a:srgbClr val="F6F9FD"/>
          </a:solidFill>
          <a:ln>
            <a:solidFill>
              <a:srgbClr val="276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92240" y="2455164"/>
            <a:ext cx="329184" cy="16459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6446520" y="3017520"/>
            <a:ext cx="420624" cy="420624"/>
          </a:xfrm>
          <a:prstGeom prst="ellipse">
            <a:avLst/>
          </a:prstGeom>
          <a:solidFill>
            <a:srgbClr val="F6F9FD"/>
          </a:solidFill>
          <a:ln>
            <a:solidFill>
              <a:srgbClr val="276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92240" y="3163824"/>
            <a:ext cx="329184" cy="16459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6446520" y="3726180"/>
            <a:ext cx="420624" cy="420624"/>
          </a:xfrm>
          <a:prstGeom prst="ellipse">
            <a:avLst/>
          </a:prstGeom>
          <a:solidFill>
            <a:srgbClr val="F6F9FD"/>
          </a:solidFill>
          <a:ln>
            <a:solidFill>
              <a:srgbClr val="276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92240" y="3872484"/>
            <a:ext cx="329184" cy="16459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7863840" y="2167128"/>
            <a:ext cx="420624" cy="420624"/>
          </a:xfrm>
          <a:prstGeom prst="ellipse">
            <a:avLst/>
          </a:prstGeom>
          <a:solidFill>
            <a:srgbClr val="F0ECFA"/>
          </a:solidFill>
          <a:ln>
            <a:solidFill>
              <a:srgbClr val="276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909560" y="2313432"/>
            <a:ext cx="329184" cy="16459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7863840" y="2734056"/>
            <a:ext cx="420624" cy="420624"/>
          </a:xfrm>
          <a:prstGeom prst="ellipse">
            <a:avLst/>
          </a:prstGeom>
          <a:solidFill>
            <a:srgbClr val="F0ECFA"/>
          </a:solidFill>
          <a:ln>
            <a:solidFill>
              <a:srgbClr val="276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909560" y="2880360"/>
            <a:ext cx="329184" cy="16459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7863840" y="3300984"/>
            <a:ext cx="420624" cy="420624"/>
          </a:xfrm>
          <a:prstGeom prst="ellipse">
            <a:avLst/>
          </a:prstGeom>
          <a:solidFill>
            <a:srgbClr val="F0ECFA"/>
          </a:solidFill>
          <a:ln>
            <a:solidFill>
              <a:srgbClr val="276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909560" y="3447288"/>
            <a:ext cx="329184" cy="16459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7863840" y="3867912"/>
            <a:ext cx="420624" cy="420624"/>
          </a:xfrm>
          <a:prstGeom prst="ellipse">
            <a:avLst/>
          </a:prstGeom>
          <a:solidFill>
            <a:srgbClr val="F0ECFA"/>
          </a:solidFill>
          <a:ln>
            <a:solidFill>
              <a:srgbClr val="276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909560" y="4014216"/>
            <a:ext cx="329184" cy="16459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9281160" y="2545080"/>
            <a:ext cx="420624" cy="420624"/>
          </a:xfrm>
          <a:prstGeom prst="ellipse">
            <a:avLst/>
          </a:prstGeom>
          <a:solidFill>
            <a:srgbClr val="ECF8EF"/>
          </a:solidFill>
          <a:ln>
            <a:solidFill>
              <a:srgbClr val="276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326880" y="2691384"/>
            <a:ext cx="329184" cy="16459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9281160" y="3489960"/>
            <a:ext cx="420624" cy="420624"/>
          </a:xfrm>
          <a:prstGeom prst="ellipse">
            <a:avLst/>
          </a:prstGeom>
          <a:solidFill>
            <a:srgbClr val="ECF8EF"/>
          </a:solidFill>
          <a:ln>
            <a:solidFill>
              <a:srgbClr val="276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326880" y="3636264"/>
            <a:ext cx="329184" cy="16459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263640" y="4663440"/>
            <a:ext cx="914400" cy="1828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200" b="0">
                <a:solidFill>
                  <a:srgbClr val="5E778F"/>
                </a:solidFill>
                <a:latin typeface="Aptos"/>
              </a:rPr>
              <a:t>Input layer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680960" y="4663440"/>
            <a:ext cx="914400" cy="1828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200" b="0">
                <a:solidFill>
                  <a:srgbClr val="5E778F"/>
                </a:solidFill>
                <a:latin typeface="Aptos"/>
              </a:rPr>
              <a:t>Hidden layer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098280" y="4663440"/>
            <a:ext cx="914400" cy="1828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200" b="0">
                <a:solidFill>
                  <a:srgbClr val="5E778F"/>
                </a:solidFill>
                <a:latin typeface="Aptos"/>
              </a:rPr>
              <a:t>Output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30352"/>
            <a:ext cx="530352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NETWORK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77824"/>
            <a:ext cx="9464040" cy="43891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What is a hidden layer?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5989320"/>
            <a:ext cx="676656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28800"/>
            <a:ext cx="9418320" cy="2599751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A hidden layer is located between input and output.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Its neurons create new intermediate representations.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Early layers may learn simple patterns; later layers may combine them into more complex patterns.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The word hidden simply means that these values are internal to the model.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30352"/>
            <a:ext cx="530352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NETWORK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77824"/>
            <a:ext cx="9464040" cy="43891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What does 'deep' mean?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5989320"/>
            <a:ext cx="676656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28800"/>
            <a:ext cx="9326880" cy="2211952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A network is called deep when it contains multiple hidden layers.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Depth gives the model multiple stages of representation learning.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More depth can increase expressive power.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But deeper models are not automatically better: they also require more data, computation and careful training.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30352"/>
            <a:ext cx="530352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FORWARD PROPAGATION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77824"/>
            <a:ext cx="9464040" cy="43891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How a network makes one prediction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5989320"/>
            <a:ext cx="676656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51560" y="1828800"/>
            <a:ext cx="960120" cy="658368"/>
          </a:xfrm>
          <a:prstGeom prst="roundRect">
            <a:avLst/>
          </a:prstGeom>
          <a:solidFill>
            <a:srgbClr val="ECF8EF"/>
          </a:solidFill>
          <a:ln>
            <a:solidFill>
              <a:srgbClr val="ECF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79576" y="1920240"/>
            <a:ext cx="704088" cy="21945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2000" b="1">
                <a:solidFill>
                  <a:srgbClr val="0D3161"/>
                </a:solidFill>
                <a:latin typeface="Aptos"/>
              </a:rPr>
              <a:t>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194560" y="1828800"/>
            <a:ext cx="2788920" cy="658368"/>
          </a:xfrm>
          <a:prstGeom prst="roundRect">
            <a:avLst/>
          </a:prstGeom>
          <a:solidFill>
            <a:srgbClr val="ECF8EF"/>
          </a:solidFill>
          <a:ln>
            <a:solidFill>
              <a:srgbClr val="ECF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322576" y="1920240"/>
            <a:ext cx="2532887" cy="21945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600" b="1">
                <a:solidFill>
                  <a:srgbClr val="0D3161"/>
                </a:solidFill>
                <a:latin typeface="Aptos"/>
              </a:rPr>
              <a:t>Input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212080" y="1828800"/>
            <a:ext cx="4937760" cy="658368"/>
          </a:xfrm>
          <a:prstGeom prst="roundRect">
            <a:avLst/>
          </a:prstGeom>
          <a:solidFill>
            <a:srgbClr val="ECF8EF"/>
          </a:solidFill>
          <a:ln>
            <a:solidFill>
              <a:srgbClr val="ECF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340096" y="1920240"/>
            <a:ext cx="4681728" cy="21945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340096" y="2194560"/>
            <a:ext cx="4681728" cy="2377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300">
                <a:solidFill>
                  <a:srgbClr val="233142"/>
                </a:solidFill>
                <a:latin typeface="Aptos"/>
              </a:defRPr>
            </a:pPr>
            <a:r>
              <a:t>A patient feature vector, image or signal enters the network.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51560" y="2651760"/>
            <a:ext cx="960120" cy="658368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179576" y="2743200"/>
            <a:ext cx="704088" cy="21945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2000" b="1">
                <a:solidFill>
                  <a:srgbClr val="0D3161"/>
                </a:solidFill>
                <a:latin typeface="Aptos"/>
              </a:rPr>
              <a:t>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194560" y="2651760"/>
            <a:ext cx="2788920" cy="658368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322576" y="2743200"/>
            <a:ext cx="2532887" cy="21945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600" b="1">
                <a:solidFill>
                  <a:srgbClr val="0D3161"/>
                </a:solidFill>
                <a:latin typeface="Aptos"/>
              </a:rPr>
              <a:t>Hidden layers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212080" y="2651760"/>
            <a:ext cx="4937760" cy="658368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340096" y="2743200"/>
            <a:ext cx="4681728" cy="21945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340096" y="3017520"/>
            <a:ext cx="4681728" cy="2377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300">
                <a:solidFill>
                  <a:srgbClr val="233142"/>
                </a:solidFill>
                <a:latin typeface="Aptos"/>
              </a:defRPr>
            </a:pPr>
            <a:r>
              <a:t>Each layer computes weighted sums and activations.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51560" y="3474720"/>
            <a:ext cx="960120" cy="658368"/>
          </a:xfrm>
          <a:prstGeom prst="roundRect">
            <a:avLst/>
          </a:prstGeom>
          <a:solidFill>
            <a:srgbClr val="F0ECFA"/>
          </a:solidFill>
          <a:ln>
            <a:solidFill>
              <a:srgbClr val="F0EC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179576" y="3566160"/>
            <a:ext cx="704088" cy="21945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2000" b="1">
                <a:solidFill>
                  <a:srgbClr val="0D3161"/>
                </a:solidFill>
                <a:latin typeface="Aptos"/>
              </a:rPr>
              <a:t>3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194560" y="3474720"/>
            <a:ext cx="2788920" cy="658368"/>
          </a:xfrm>
          <a:prstGeom prst="roundRect">
            <a:avLst/>
          </a:prstGeom>
          <a:solidFill>
            <a:srgbClr val="F0ECFA"/>
          </a:solidFill>
          <a:ln>
            <a:solidFill>
              <a:srgbClr val="F0EC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2322576" y="3566160"/>
            <a:ext cx="2532887" cy="21945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600" b="1">
                <a:solidFill>
                  <a:srgbClr val="0D3161"/>
                </a:solidFill>
                <a:latin typeface="Aptos"/>
              </a:rPr>
              <a:t>Output layer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212080" y="3474720"/>
            <a:ext cx="4937760" cy="658368"/>
          </a:xfrm>
          <a:prstGeom prst="roundRect">
            <a:avLst/>
          </a:prstGeom>
          <a:solidFill>
            <a:srgbClr val="F0ECFA"/>
          </a:solidFill>
          <a:ln>
            <a:solidFill>
              <a:srgbClr val="F0EC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340096" y="3566160"/>
            <a:ext cx="4681728" cy="21945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340096" y="3840480"/>
            <a:ext cx="4681728" cy="2377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300">
                <a:solidFill>
                  <a:srgbClr val="233142"/>
                </a:solidFill>
                <a:latin typeface="Aptos"/>
              </a:defRPr>
            </a:pPr>
            <a:r>
              <a:t>The final layer produces a score, probability or number.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51560" y="4297680"/>
            <a:ext cx="960120" cy="658368"/>
          </a:xfrm>
          <a:prstGeom prst="roundRect">
            <a:avLst/>
          </a:prstGeom>
          <a:solidFill>
            <a:srgbClr val="FFF5E1"/>
          </a:solidFill>
          <a:ln>
            <a:solidFill>
              <a:srgbClr val="FFF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179576" y="4389120"/>
            <a:ext cx="704088" cy="21945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2000" b="1">
                <a:solidFill>
                  <a:srgbClr val="0D3161"/>
                </a:solidFill>
                <a:latin typeface="Aptos"/>
              </a:rPr>
              <a:t>4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194560" y="4297680"/>
            <a:ext cx="2788920" cy="658368"/>
          </a:xfrm>
          <a:prstGeom prst="roundRect">
            <a:avLst/>
          </a:prstGeom>
          <a:solidFill>
            <a:srgbClr val="FFF5E1"/>
          </a:solidFill>
          <a:ln>
            <a:solidFill>
              <a:srgbClr val="FFF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2322576" y="4389120"/>
            <a:ext cx="2532887" cy="21945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600" b="1">
                <a:solidFill>
                  <a:srgbClr val="0D3161"/>
                </a:solidFill>
                <a:latin typeface="Aptos"/>
              </a:rPr>
              <a:t>Prediction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212080" y="4297680"/>
            <a:ext cx="4937760" cy="658368"/>
          </a:xfrm>
          <a:prstGeom prst="roundRect">
            <a:avLst/>
          </a:prstGeom>
          <a:solidFill>
            <a:srgbClr val="FFF5E1"/>
          </a:solidFill>
          <a:ln>
            <a:solidFill>
              <a:srgbClr val="FFF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340096" y="4389120"/>
            <a:ext cx="4681728" cy="21945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340096" y="4663440"/>
            <a:ext cx="4681728" cy="2377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300">
                <a:solidFill>
                  <a:srgbClr val="233142"/>
                </a:solidFill>
                <a:latin typeface="Aptos"/>
              </a:defRPr>
            </a:pPr>
            <a:r>
              <a:t>The network output is interpreted for the task.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30352"/>
            <a:ext cx="530352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FORWARD PROPAGATION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77824"/>
            <a:ext cx="9464040" cy="43891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Classification output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5989320"/>
            <a:ext cx="676656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28800"/>
            <a:ext cx="5577840" cy="3375348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9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For binary classification, the network may output one probability.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9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Example: P(pneumonia) = 0.84.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9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A decision threshold converts the probability into a class.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9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For multiclass classification, the output layer may provide one probability per class.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37960" y="1965960"/>
            <a:ext cx="3566160" cy="777240"/>
          </a:xfrm>
          <a:prstGeom prst="roundRect">
            <a:avLst/>
          </a:prstGeom>
          <a:solidFill>
            <a:srgbClr val="F0ECFA"/>
          </a:solidFill>
          <a:ln>
            <a:solidFill>
              <a:srgbClr val="F0EC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665976" y="2057400"/>
            <a:ext cx="3310128" cy="21945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800" b="1">
                <a:solidFill>
                  <a:srgbClr val="0D3161"/>
                </a:solidFill>
                <a:latin typeface="Aptos"/>
              </a:rPr>
              <a:t>Network output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65976" y="2331720"/>
            <a:ext cx="3310128" cy="3566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500">
                <a:solidFill>
                  <a:srgbClr val="233142"/>
                </a:solidFill>
                <a:latin typeface="Aptos"/>
              </a:defRPr>
            </a:pPr>
            <a:r>
              <a:t>P(disease) = 0.84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37960" y="2971800"/>
            <a:ext cx="3566160" cy="777240"/>
          </a:xfrm>
          <a:prstGeom prst="roundRect">
            <a:avLst/>
          </a:prstGeom>
          <a:solidFill>
            <a:srgbClr val="FCE8E8"/>
          </a:solidFill>
          <a:ln>
            <a:solidFill>
              <a:srgbClr val="FC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665976" y="3063240"/>
            <a:ext cx="3310128" cy="21945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800" b="1">
                <a:solidFill>
                  <a:srgbClr val="0D3161"/>
                </a:solidFill>
                <a:latin typeface="Aptos"/>
              </a:rPr>
              <a:t>Threshold = 0.50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65976" y="3337560"/>
            <a:ext cx="3310128" cy="3566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500">
                <a:solidFill>
                  <a:srgbClr val="233142"/>
                </a:solidFill>
                <a:latin typeface="Aptos"/>
              </a:defRPr>
            </a:pPr>
            <a:r>
              <a:t>Predicted class = disease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30352"/>
            <a:ext cx="530352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FORWARD PROPAGATION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77824"/>
            <a:ext cx="9464040" cy="43891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Regression output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5989320"/>
            <a:ext cx="676656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28800"/>
            <a:ext cx="5577840" cy="3763146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9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For regression, the output layer produces a numeric value.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9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Example: predicted glucose in 30 minutes = 147 mg/dL.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9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The final layer often uses a linear output rather than a probability activation.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9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Training adjusts parameters to reduce the error in this numeric prediction.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37960" y="1965960"/>
            <a:ext cx="3566160" cy="777240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665976" y="2057400"/>
            <a:ext cx="3310128" cy="21945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Input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65976" y="2331720"/>
            <a:ext cx="3310128" cy="3566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t>Recent CGM + insulin + meal information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37960" y="2971800"/>
            <a:ext cx="3566160" cy="777240"/>
          </a:xfrm>
          <a:prstGeom prst="roundRect">
            <a:avLst/>
          </a:prstGeom>
          <a:solidFill>
            <a:srgbClr val="FFF5E1"/>
          </a:solidFill>
          <a:ln>
            <a:solidFill>
              <a:srgbClr val="FFF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665976" y="3063240"/>
            <a:ext cx="3310128" cy="21945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800" b="1">
                <a:solidFill>
                  <a:srgbClr val="0D3161"/>
                </a:solidFill>
                <a:latin typeface="Aptos"/>
              </a:rPr>
              <a:t>Output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65976" y="3337560"/>
            <a:ext cx="3310128" cy="3566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500">
                <a:solidFill>
                  <a:srgbClr val="233142"/>
                </a:solidFill>
                <a:latin typeface="Aptos"/>
              </a:defRPr>
            </a:pPr>
            <a:r>
              <a:t>147 mg/dL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30352"/>
            <a:ext cx="530352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LEARNING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77824"/>
            <a:ext cx="9464040" cy="43891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The model needs a way to measure error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5989320"/>
            <a:ext cx="676656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28800"/>
            <a:ext cx="9326880" cy="2211952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After a prediction, the network compares its output with the correct target.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A loss function converts the prediction error into a single number.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Lower loss means the predictions are closer to what we want.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Training tries to reduce this loss.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30352"/>
            <a:ext cx="530352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LOSS FUNCTIONS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77824"/>
            <a:ext cx="9464040" cy="43891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Loss depends on the task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5989320"/>
            <a:ext cx="676656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17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1920240"/>
            <a:ext cx="2971800" cy="1965960"/>
          </a:xfrm>
          <a:prstGeom prst="roundRect">
            <a:avLst/>
          </a:prstGeom>
          <a:solidFill>
            <a:srgbClr val="FFF5E1"/>
          </a:solidFill>
          <a:ln>
            <a:solidFill>
              <a:srgbClr val="FFF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96695" y="2011680"/>
            <a:ext cx="2715768" cy="21945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800" b="1">
                <a:solidFill>
                  <a:srgbClr val="0D3161"/>
                </a:solidFill>
                <a:latin typeface="Aptos"/>
              </a:rPr>
              <a:t>Regression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6695" y="2286000"/>
            <a:ext cx="2715768" cy="1545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50">
                <a:solidFill>
                  <a:srgbClr val="233142"/>
                </a:solidFill>
                <a:latin typeface="Aptos"/>
              </a:defRPr>
            </a:pPr>
            <a:r>
              <a:t>Mean Squared Error (MSE)</a:t>
            </a:r>
          </a:p>
          <a:p>
            <a:pPr>
              <a:spcAft>
                <a:spcPts val="100"/>
              </a:spcAft>
              <a:defRPr sz="1450">
                <a:solidFill>
                  <a:srgbClr val="233142"/>
                </a:solidFill>
                <a:latin typeface="Aptos"/>
              </a:defRPr>
            </a:pPr>
            <a:r>
              <a:t>Penalizes large numeric errors.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1920240"/>
            <a:ext cx="2971800" cy="1965960"/>
          </a:xfrm>
          <a:prstGeom prst="roundRect">
            <a:avLst/>
          </a:prstGeom>
          <a:solidFill>
            <a:srgbClr val="FCE8E8"/>
          </a:solidFill>
          <a:ln>
            <a:solidFill>
              <a:srgbClr val="FC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425696" y="2011680"/>
            <a:ext cx="2715768" cy="21945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800" b="1">
                <a:solidFill>
                  <a:srgbClr val="0D3161"/>
                </a:solidFill>
                <a:latin typeface="Aptos"/>
              </a:rPr>
              <a:t>Binary classification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25696" y="2286000"/>
            <a:ext cx="2715768" cy="1545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50">
                <a:solidFill>
                  <a:srgbClr val="233142"/>
                </a:solidFill>
                <a:latin typeface="Aptos"/>
              </a:defRPr>
            </a:pPr>
            <a:r>
              <a:t>Binary Cross-Entropy</a:t>
            </a:r>
          </a:p>
          <a:p>
            <a:pPr>
              <a:spcAft>
                <a:spcPts val="100"/>
              </a:spcAft>
              <a:defRPr sz="1450">
                <a:solidFill>
                  <a:srgbClr val="233142"/>
                </a:solidFill>
                <a:latin typeface="Aptos"/>
              </a:defRPr>
            </a:pPr>
            <a:r>
              <a:t>Penalizes incorrect probabilities.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26679" y="1920240"/>
            <a:ext cx="2971800" cy="1965960"/>
          </a:xfrm>
          <a:prstGeom prst="roundRect">
            <a:avLst/>
          </a:prstGeom>
          <a:solidFill>
            <a:srgbClr val="F0ECFA"/>
          </a:solidFill>
          <a:ln>
            <a:solidFill>
              <a:srgbClr val="F0EC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854696" y="2011680"/>
            <a:ext cx="2715768" cy="21945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800" b="1">
                <a:solidFill>
                  <a:srgbClr val="0D3161"/>
                </a:solidFill>
                <a:latin typeface="Aptos"/>
              </a:rPr>
              <a:t>Multiclass classification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54696" y="2286000"/>
            <a:ext cx="2715768" cy="1545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50">
                <a:solidFill>
                  <a:srgbClr val="233142"/>
                </a:solidFill>
                <a:latin typeface="Aptos"/>
              </a:defRPr>
            </a:pPr>
            <a:r>
              <a:t>Cross-Entropy</a:t>
            </a:r>
          </a:p>
          <a:p>
            <a:pPr>
              <a:spcAft>
                <a:spcPts val="100"/>
              </a:spcAft>
              <a:defRPr sz="1450">
                <a:solidFill>
                  <a:srgbClr val="233142"/>
                </a:solidFill>
                <a:latin typeface="Aptos"/>
              </a:defRPr>
            </a:pPr>
            <a:r>
              <a:t>Compares predicted class distribution with the true class.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30352"/>
            <a:ext cx="530352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LOSS INTUITION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77824"/>
            <a:ext cx="9464040" cy="43891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Prediction → loss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5989320"/>
            <a:ext cx="676656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18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97280" y="2148840"/>
            <a:ext cx="2194560" cy="868680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225295" y="2240280"/>
            <a:ext cx="1938528" cy="21945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800" b="1">
                <a:solidFill>
                  <a:srgbClr val="0D3161"/>
                </a:solidFill>
                <a:latin typeface="Aptos"/>
              </a:rPr>
              <a:t>Prediction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25295" y="2514600"/>
            <a:ext cx="1938528" cy="448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t>P(disease) = 0.30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931920" y="2148840"/>
            <a:ext cx="2194560" cy="868680"/>
          </a:xfrm>
          <a:prstGeom prst="roundRect">
            <a:avLst/>
          </a:prstGeom>
          <a:solidFill>
            <a:srgbClr val="ECF8EF"/>
          </a:solidFill>
          <a:ln>
            <a:solidFill>
              <a:srgbClr val="ECF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059935" y="2240280"/>
            <a:ext cx="1938528" cy="21945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800" b="1">
                <a:solidFill>
                  <a:srgbClr val="0D3161"/>
                </a:solidFill>
                <a:latin typeface="Aptos"/>
              </a:rPr>
              <a:t>True label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59935" y="2514600"/>
            <a:ext cx="1938528" cy="448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t>Disease = 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766560" y="2148840"/>
            <a:ext cx="2194560" cy="868680"/>
          </a:xfrm>
          <a:prstGeom prst="roundRect">
            <a:avLst/>
          </a:prstGeom>
          <a:solidFill>
            <a:srgbClr val="FCE8E8"/>
          </a:solidFill>
          <a:ln>
            <a:solidFill>
              <a:srgbClr val="FC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894576" y="2240280"/>
            <a:ext cx="1938528" cy="21945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800" b="1">
                <a:solidFill>
                  <a:srgbClr val="0D3161"/>
                </a:solidFill>
                <a:latin typeface="Aptos"/>
              </a:rPr>
              <a:t>Loss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94576" y="2514600"/>
            <a:ext cx="1938528" cy="448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t>High because prediction is poor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291840" y="2587752"/>
            <a:ext cx="640080" cy="0"/>
          </a:xfrm>
          <a:prstGeom prst="line">
            <a:avLst/>
          </a:prstGeom>
          <a:ln w="21590">
            <a:solidFill>
              <a:srgbClr val="34AD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6126480" y="2587752"/>
            <a:ext cx="640080" cy="0"/>
          </a:xfrm>
          <a:prstGeom prst="line">
            <a:avLst/>
          </a:prstGeom>
          <a:ln w="21590">
            <a:solidFill>
              <a:srgbClr val="34AD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143000" y="3931920"/>
            <a:ext cx="8869680" cy="43891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800" b="1">
                <a:solidFill>
                  <a:srgbClr val="0D3161"/>
                </a:solidFill>
                <a:latin typeface="Aptos"/>
              </a:rPr>
              <a:t>The loss is the signal that tells the network how well or badly it is currently performing.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30352"/>
            <a:ext cx="530352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OPTIMIZATION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77824"/>
            <a:ext cx="9464040" cy="43891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Gradient descent: the basic idea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5989320"/>
            <a:ext cx="676656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28800"/>
            <a:ext cx="5486400" cy="4150945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9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Imagine the loss as a landscape with hills and valleys.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9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The current model parameters correspond to one point on this landscape.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9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The gradient tells us the direction of steepest increase.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9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Gradient descent moves parameters in the opposite direction to reduce loss.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37960" y="1783080"/>
            <a:ext cx="3566160" cy="228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500" b="1">
                <a:solidFill>
                  <a:srgbClr val="0D3161"/>
                </a:solidFill>
                <a:latin typeface="Aptos"/>
              </a:rPr>
              <a:t>Loss landscape (conceptual)</a:t>
            </a:r>
          </a:p>
        </p:txBody>
      </p:sp>
      <p:sp>
        <p:nvSpPr>
          <p:cNvPr id="8" name="Oval 7"/>
          <p:cNvSpPr/>
          <p:nvPr/>
        </p:nvSpPr>
        <p:spPr>
          <a:xfrm>
            <a:off x="6675120" y="2148840"/>
            <a:ext cx="118872" cy="118872"/>
          </a:xfrm>
          <a:prstGeom prst="ellipse">
            <a:avLst/>
          </a:prstGeom>
          <a:solidFill>
            <a:srgbClr val="276FBF"/>
          </a:solidFill>
          <a:ln>
            <a:solidFill>
              <a:srgbClr val="276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9" name="Connector 8"/>
          <p:cNvCxnSpPr/>
          <p:nvPr/>
        </p:nvCxnSpPr>
        <p:spPr>
          <a:xfrm>
            <a:off x="6793992" y="2208276"/>
            <a:ext cx="338328" cy="365760"/>
          </a:xfrm>
          <a:prstGeom prst="line">
            <a:avLst/>
          </a:prstGeom>
          <a:ln w="20320">
            <a:solidFill>
              <a:srgbClr val="34AD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7132320" y="2514600"/>
            <a:ext cx="118872" cy="118872"/>
          </a:xfrm>
          <a:prstGeom prst="ellipse">
            <a:avLst/>
          </a:prstGeom>
          <a:solidFill>
            <a:srgbClr val="276FBF"/>
          </a:solidFill>
          <a:ln>
            <a:solidFill>
              <a:srgbClr val="276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1" name="Connector 10"/>
          <p:cNvCxnSpPr/>
          <p:nvPr/>
        </p:nvCxnSpPr>
        <p:spPr>
          <a:xfrm>
            <a:off x="7251192" y="2574036"/>
            <a:ext cx="429768" cy="457200"/>
          </a:xfrm>
          <a:prstGeom prst="line">
            <a:avLst/>
          </a:prstGeom>
          <a:ln w="20320">
            <a:solidFill>
              <a:srgbClr val="34AD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7680960" y="2971800"/>
            <a:ext cx="118872" cy="118872"/>
          </a:xfrm>
          <a:prstGeom prst="ellipse">
            <a:avLst/>
          </a:prstGeom>
          <a:solidFill>
            <a:srgbClr val="276FBF"/>
          </a:solidFill>
          <a:ln>
            <a:solidFill>
              <a:srgbClr val="276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3" name="Connector 12"/>
          <p:cNvCxnSpPr/>
          <p:nvPr/>
        </p:nvCxnSpPr>
        <p:spPr>
          <a:xfrm>
            <a:off x="7799832" y="3031236"/>
            <a:ext cx="429768" cy="411480"/>
          </a:xfrm>
          <a:prstGeom prst="line">
            <a:avLst/>
          </a:prstGeom>
          <a:ln w="20320">
            <a:solidFill>
              <a:srgbClr val="34AD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8229600" y="3383280"/>
            <a:ext cx="118872" cy="118872"/>
          </a:xfrm>
          <a:prstGeom prst="ellipse">
            <a:avLst/>
          </a:prstGeom>
          <a:solidFill>
            <a:srgbClr val="276FBF"/>
          </a:solidFill>
          <a:ln>
            <a:solidFill>
              <a:srgbClr val="276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5" name="Connector 14"/>
          <p:cNvCxnSpPr/>
          <p:nvPr/>
        </p:nvCxnSpPr>
        <p:spPr>
          <a:xfrm>
            <a:off x="8348472" y="3442716"/>
            <a:ext cx="429768" cy="201168"/>
          </a:xfrm>
          <a:prstGeom prst="line">
            <a:avLst/>
          </a:prstGeom>
          <a:ln w="20320">
            <a:solidFill>
              <a:srgbClr val="34AD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8778240" y="3584448"/>
            <a:ext cx="118872" cy="118872"/>
          </a:xfrm>
          <a:prstGeom prst="ellipse">
            <a:avLst/>
          </a:prstGeom>
          <a:solidFill>
            <a:srgbClr val="276FBF"/>
          </a:solidFill>
          <a:ln>
            <a:solidFill>
              <a:srgbClr val="276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7" name="Connector 16"/>
          <p:cNvCxnSpPr/>
          <p:nvPr/>
        </p:nvCxnSpPr>
        <p:spPr>
          <a:xfrm flipV="1">
            <a:off x="8897112" y="3534156"/>
            <a:ext cx="429768" cy="109728"/>
          </a:xfrm>
          <a:prstGeom prst="line">
            <a:avLst/>
          </a:prstGeom>
          <a:ln w="20320">
            <a:solidFill>
              <a:srgbClr val="34AD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9326880" y="3474720"/>
            <a:ext cx="118872" cy="118872"/>
          </a:xfrm>
          <a:prstGeom prst="ellipse">
            <a:avLst/>
          </a:prstGeom>
          <a:solidFill>
            <a:srgbClr val="3A965C"/>
          </a:solidFill>
          <a:ln>
            <a:solidFill>
              <a:srgbClr val="3A96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583680" y="4160520"/>
            <a:ext cx="3566160" cy="228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500" b="0">
                <a:solidFill>
                  <a:srgbClr val="5E778F"/>
                </a:solidFill>
                <a:latin typeface="Aptos"/>
              </a:rPr>
              <a:t>Move toward lower loss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30352"/>
            <a:ext cx="530352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OPTIMIZATION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77824"/>
            <a:ext cx="9464040" cy="43891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Learning rate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5989320"/>
            <a:ext cx="676656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28800"/>
            <a:ext cx="5577840" cy="3375348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9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The learning rate controls how large each parameter update is.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9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Too small: learning may be very slow.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9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Too large: the optimizer may overshoot good solutions or become unstable.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9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Choosing a suitable learning rate is one of the most important training decisions.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37960" y="1920240"/>
            <a:ext cx="3566160" cy="749808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665976" y="2011680"/>
            <a:ext cx="3310128" cy="21945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Small learning rate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65976" y="2286000"/>
            <a:ext cx="3310128" cy="3291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t>slow but cautious steps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37960" y="2880360"/>
            <a:ext cx="3566160" cy="749808"/>
          </a:xfrm>
          <a:prstGeom prst="roundRect">
            <a:avLst/>
          </a:prstGeom>
          <a:solidFill>
            <a:srgbClr val="FCE8E8"/>
          </a:solidFill>
          <a:ln>
            <a:solidFill>
              <a:srgbClr val="FC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665976" y="2971800"/>
            <a:ext cx="3310128" cy="21945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Large learning rate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65976" y="3246120"/>
            <a:ext cx="3310128" cy="3291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t>fast but potentially unstable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30352"/>
            <a:ext cx="530352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TRAINING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77824"/>
            <a:ext cx="9464040" cy="43891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How do we know which parameter to change?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5989320"/>
            <a:ext cx="676656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28800"/>
            <a:ext cx="9326880" cy="2599751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A neural network may contain thousands or millions of weights.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Each weight influences the final prediction through many intermediate computations.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We need an efficient way to determine how each weight affected the loss.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Backpropagation provides this information.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30352"/>
            <a:ext cx="530352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BACKPROPAGATION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77824"/>
            <a:ext cx="9464040" cy="43891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Intuitive 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5989320"/>
            <a:ext cx="676656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28800"/>
            <a:ext cx="5486400" cy="4150945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9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First, the network performs a forward pass and computes the loss.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9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Then the error signal is propagated backward from the output toward earlier layers.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9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The algorithm calculates how sensitive the loss is to each parameter.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9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These gradients are then used by the optimizer to update the weights.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46520" y="1874519"/>
            <a:ext cx="1645920" cy="640080"/>
          </a:xfrm>
          <a:prstGeom prst="roundRect">
            <a:avLst/>
          </a:prstGeom>
          <a:solidFill>
            <a:srgbClr val="ECF8EF"/>
          </a:solidFill>
          <a:ln>
            <a:solidFill>
              <a:srgbClr val="ECF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574536" y="1965960"/>
            <a:ext cx="1389888" cy="21945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600" b="1">
                <a:solidFill>
                  <a:srgbClr val="0D3161"/>
                </a:solidFill>
                <a:latin typeface="Aptos"/>
              </a:rPr>
              <a:t>Input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366760" y="1874519"/>
            <a:ext cx="1645920" cy="640080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494776" y="1965960"/>
            <a:ext cx="1389888" cy="21945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600" b="1">
                <a:solidFill>
                  <a:srgbClr val="0D3161"/>
                </a:solidFill>
                <a:latin typeface="Aptos"/>
              </a:rPr>
              <a:t>Prediction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66760" y="3063240"/>
            <a:ext cx="1645920" cy="640080"/>
          </a:xfrm>
          <a:prstGeom prst="roundRect">
            <a:avLst/>
          </a:prstGeom>
          <a:solidFill>
            <a:srgbClr val="FCE8E8"/>
          </a:solidFill>
          <a:ln>
            <a:solidFill>
              <a:srgbClr val="FC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494776" y="3154680"/>
            <a:ext cx="1389888" cy="21945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600" b="1">
                <a:solidFill>
                  <a:srgbClr val="0D3161"/>
                </a:solidFill>
                <a:latin typeface="Aptos"/>
              </a:rPr>
              <a:t>Loss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46520" y="3063240"/>
            <a:ext cx="1645920" cy="640080"/>
          </a:xfrm>
          <a:prstGeom prst="roundRect">
            <a:avLst/>
          </a:prstGeom>
          <a:solidFill>
            <a:srgbClr val="F0ECFA"/>
          </a:solidFill>
          <a:ln>
            <a:solidFill>
              <a:srgbClr val="F0EC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574536" y="3154680"/>
            <a:ext cx="1389888" cy="21945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600" b="1">
                <a:solidFill>
                  <a:srgbClr val="0D3161"/>
                </a:solidFill>
                <a:latin typeface="Aptos"/>
              </a:rPr>
              <a:t>Gradients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092440" y="2194560"/>
            <a:ext cx="274320" cy="0"/>
          </a:xfrm>
          <a:prstGeom prst="line">
            <a:avLst/>
          </a:prstGeom>
          <a:ln w="22860">
            <a:solidFill>
              <a:srgbClr val="34AD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9189720" y="2514600"/>
            <a:ext cx="0" cy="548640"/>
          </a:xfrm>
          <a:prstGeom prst="line">
            <a:avLst/>
          </a:prstGeom>
          <a:ln w="22860">
            <a:solidFill>
              <a:srgbClr val="34AD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H="1">
            <a:off x="8092440" y="3383280"/>
            <a:ext cx="274320" cy="0"/>
          </a:xfrm>
          <a:prstGeom prst="line">
            <a:avLst/>
          </a:prstGeom>
          <a:ln w="22860">
            <a:solidFill>
              <a:srgbClr val="6856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537960" y="4160520"/>
            <a:ext cx="3474720" cy="21945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500" b="0">
                <a:solidFill>
                  <a:srgbClr val="5E778F"/>
                </a:solidFill>
                <a:latin typeface="Aptos"/>
              </a:rPr>
              <a:t>Forward → error → backward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30352"/>
            <a:ext cx="530352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BACKPROPAGATION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77824"/>
            <a:ext cx="9464040" cy="43891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The chain rule — intuition, not derivation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5989320"/>
            <a:ext cx="676656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28800"/>
            <a:ext cx="9326880" cy="1824154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A weight affects the loss through a chain of intermediate operations.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The chain rule allows us to combine these local effects.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Backpropagation reuses intermediate calculations efficiently.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The result is a gradient for every trainable parameter.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920240" y="3886200"/>
            <a:ext cx="7315200" cy="685800"/>
          </a:xfrm>
          <a:prstGeom prst="roundRect">
            <a:avLst/>
          </a:prstGeom>
          <a:solidFill>
            <a:srgbClr val="F0ECFA"/>
          </a:solidFill>
          <a:ln>
            <a:solidFill>
              <a:srgbClr val="F0EC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048256" y="3977639"/>
            <a:ext cx="7059168" cy="21945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Mental model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48256" y="4251960"/>
            <a:ext cx="7059168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t>Ask: if this weight changed slightly, how would the final loss change?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30352"/>
            <a:ext cx="530352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TRAINING LOOP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77824"/>
            <a:ext cx="9464040" cy="43891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The core learning cycle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5989320"/>
            <a:ext cx="676656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24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148840"/>
            <a:ext cx="2148840" cy="1005840"/>
          </a:xfrm>
          <a:prstGeom prst="roundRect">
            <a:avLst/>
          </a:prstGeom>
          <a:solidFill>
            <a:srgbClr val="ECF8EF"/>
          </a:solidFill>
          <a:ln>
            <a:solidFill>
              <a:srgbClr val="ECF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42416" y="2240280"/>
            <a:ext cx="1892808" cy="21945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600" b="1">
                <a:solidFill>
                  <a:srgbClr val="0D3161"/>
                </a:solidFill>
                <a:latin typeface="Aptos"/>
              </a:rPr>
              <a:t>Forward pass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" y="2514600"/>
            <a:ext cx="1892808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300">
                <a:solidFill>
                  <a:srgbClr val="233142"/>
                </a:solidFill>
                <a:latin typeface="Aptos"/>
              </a:defRPr>
            </a:pPr>
            <a:r>
              <a:t>Compute predictions.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063240" y="2651760"/>
            <a:ext cx="457200" cy="0"/>
          </a:xfrm>
          <a:prstGeom prst="line">
            <a:avLst/>
          </a:prstGeom>
          <a:ln w="22860">
            <a:solidFill>
              <a:srgbClr val="34AD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3520440" y="2148840"/>
            <a:ext cx="2148840" cy="1005840"/>
          </a:xfrm>
          <a:prstGeom prst="roundRect">
            <a:avLst/>
          </a:prstGeom>
          <a:solidFill>
            <a:srgbClr val="FFF5E1"/>
          </a:solidFill>
          <a:ln>
            <a:solidFill>
              <a:srgbClr val="FFF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48456" y="2240280"/>
            <a:ext cx="1892808" cy="21945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600" b="1">
                <a:solidFill>
                  <a:srgbClr val="0D3161"/>
                </a:solidFill>
                <a:latin typeface="Aptos"/>
              </a:rPr>
              <a:t>Loss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48456" y="2514600"/>
            <a:ext cx="1892808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300">
                <a:solidFill>
                  <a:srgbClr val="233142"/>
                </a:solidFill>
                <a:latin typeface="Aptos"/>
              </a:defRPr>
            </a:pPr>
            <a:r>
              <a:t>Measure prediction error.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669280" y="2651760"/>
            <a:ext cx="457200" cy="0"/>
          </a:xfrm>
          <a:prstGeom prst="line">
            <a:avLst/>
          </a:prstGeom>
          <a:ln w="22860">
            <a:solidFill>
              <a:srgbClr val="34AD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6126480" y="2148840"/>
            <a:ext cx="2148840" cy="1005840"/>
          </a:xfrm>
          <a:prstGeom prst="roundRect">
            <a:avLst/>
          </a:prstGeom>
          <a:solidFill>
            <a:srgbClr val="F0ECFA"/>
          </a:solidFill>
          <a:ln>
            <a:solidFill>
              <a:srgbClr val="F0EC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254496" y="2240280"/>
            <a:ext cx="1892808" cy="21945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600" b="1">
                <a:solidFill>
                  <a:srgbClr val="0D3161"/>
                </a:solidFill>
                <a:latin typeface="Aptos"/>
              </a:rPr>
              <a:t>Backpropagation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54496" y="2514600"/>
            <a:ext cx="1892808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300">
                <a:solidFill>
                  <a:srgbClr val="233142"/>
                </a:solidFill>
                <a:latin typeface="Aptos"/>
              </a:defRPr>
            </a:pPr>
            <a:r>
              <a:t>Compute gradients.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275320" y="2651760"/>
            <a:ext cx="457200" cy="0"/>
          </a:xfrm>
          <a:prstGeom prst="line">
            <a:avLst/>
          </a:prstGeom>
          <a:ln w="22860">
            <a:solidFill>
              <a:srgbClr val="34AD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8732520" y="2148840"/>
            <a:ext cx="2148840" cy="1005840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860536" y="2240280"/>
            <a:ext cx="1892808" cy="21945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600" b="1">
                <a:solidFill>
                  <a:srgbClr val="0D3161"/>
                </a:solidFill>
                <a:latin typeface="Aptos"/>
              </a:rPr>
              <a:t>Update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60536" y="2514600"/>
            <a:ext cx="1892808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300">
                <a:solidFill>
                  <a:srgbClr val="233142"/>
                </a:solidFill>
                <a:latin typeface="Aptos"/>
              </a:defRPr>
            </a:pPr>
            <a:r>
              <a:t>Gradient descent changes weights.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4023360"/>
            <a:ext cx="914400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800" b="1">
                <a:solidFill>
                  <a:srgbClr val="0D3161"/>
                </a:solidFill>
                <a:latin typeface="Aptos"/>
              </a:rPr>
              <a:t>Repeat this cycle many times until the model parameters produce useful predictions.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30352"/>
            <a:ext cx="530352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PRACTICAL TRAINING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77824"/>
            <a:ext cx="9464040" cy="43891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Epochs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5989320"/>
            <a:ext cx="676656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28800"/>
            <a:ext cx="9326880" cy="2211952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One epoch means one complete pass through the training dataset.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Neural networks are usually trained for multiple epochs.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Early epochs often produce rapid improvement.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Too many epochs can lead to overfitting if validation performance starts to worsen.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30352"/>
            <a:ext cx="530352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PRACTICAL TRAINING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77824"/>
            <a:ext cx="9464040" cy="43891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Batches and mini-batches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5989320"/>
            <a:ext cx="676656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28800"/>
            <a:ext cx="5577840" cy="3375348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9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Large datasets are usually not processed all at once.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9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A batch is a subset of training samples used for one gradient update.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9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Mini-batch training is computationally efficient and works well on GPUs.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9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Batch size affects memory use and optimization behavior.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37960" y="1920240"/>
            <a:ext cx="3566160" cy="749808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665976" y="2011680"/>
            <a:ext cx="3310128" cy="21945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Dataset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65976" y="2286000"/>
            <a:ext cx="3310128" cy="3291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t>10,000 examples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37960" y="2880360"/>
            <a:ext cx="3566160" cy="749808"/>
          </a:xfrm>
          <a:prstGeom prst="roundRect">
            <a:avLst/>
          </a:prstGeom>
          <a:solidFill>
            <a:srgbClr val="ECF8EF"/>
          </a:solidFill>
          <a:ln>
            <a:solidFill>
              <a:srgbClr val="ECF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665976" y="2971800"/>
            <a:ext cx="3310128" cy="21945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Batch size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65976" y="3246120"/>
            <a:ext cx="3310128" cy="3291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t>32 examples per update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30352"/>
            <a:ext cx="530352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PRACTICAL TRAINING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77824"/>
            <a:ext cx="9464040" cy="43891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Parameters vs hyperparameters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5989320"/>
            <a:ext cx="676656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27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1810512"/>
            <a:ext cx="4572000" cy="384048"/>
          </a:xfrm>
          <a:prstGeom prst="roundRect">
            <a:avLst/>
          </a:prstGeom>
          <a:solidFill>
            <a:srgbClr val="E1ECF6"/>
          </a:solidFill>
          <a:ln>
            <a:solidFill>
              <a:srgbClr val="E1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41832" y="1865376"/>
            <a:ext cx="4425696" cy="21945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Parameters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240280"/>
            <a:ext cx="4206240" cy="729367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 marL="285750" indent="-28575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800">
                <a:solidFill>
                  <a:srgbClr val="233142"/>
                </a:solidFill>
                <a:latin typeface="Aptos"/>
              </a:defRPr>
            </a:pPr>
            <a:r>
              <a:rPr dirty="0"/>
              <a:t>Learned automatically from data.</a:t>
            </a:r>
          </a:p>
          <a:p>
            <a:pPr marL="285750" indent="-28575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800">
                <a:solidFill>
                  <a:srgbClr val="233142"/>
                </a:solidFill>
                <a:latin typeface="Aptos"/>
              </a:defRPr>
            </a:pPr>
            <a:r>
              <a:rPr dirty="0"/>
              <a:t>Examples: weights and biases.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810512"/>
            <a:ext cx="4206240" cy="384048"/>
          </a:xfrm>
          <a:prstGeom prst="roundRect">
            <a:avLst/>
          </a:prstGeom>
          <a:solidFill>
            <a:srgbClr val="E1ECF6"/>
          </a:solidFill>
          <a:ln>
            <a:solidFill>
              <a:srgbClr val="E1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199632" y="1865376"/>
            <a:ext cx="4059935" cy="21945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Hyperparameters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2240280"/>
            <a:ext cx="4023360" cy="1020216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 marL="285750" indent="-28575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800">
                <a:solidFill>
                  <a:srgbClr val="233142"/>
                </a:solidFill>
                <a:latin typeface="Aptos"/>
              </a:defRPr>
            </a:pPr>
            <a:r>
              <a:rPr dirty="0"/>
              <a:t>Chosen by the practitioner.</a:t>
            </a:r>
          </a:p>
          <a:p>
            <a:pPr marL="285750" indent="-28575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800">
                <a:solidFill>
                  <a:srgbClr val="233142"/>
                </a:solidFill>
                <a:latin typeface="Aptos"/>
              </a:defRPr>
            </a:pPr>
            <a:r>
              <a:rPr dirty="0"/>
              <a:t>Examples: learning rate, batch size, number of layers.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828800" y="4206240"/>
            <a:ext cx="7498079" cy="548640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956816" y="4297679"/>
            <a:ext cx="7242047" cy="21945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Training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56816" y="4572000"/>
            <a:ext cx="7242047" cy="1280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t>The optimizer learns parameters while we tune hyperparameters.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30352"/>
            <a:ext cx="530352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GENERALIZATION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77824"/>
            <a:ext cx="9464040" cy="43891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Overfitting in neural networks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5989320"/>
            <a:ext cx="676656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28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28800"/>
            <a:ext cx="5577840" cy="3763146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9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Neural networks can have very high capacity.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9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They may memorize training-specific patterns if data are limited or training is excessive.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9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Training loss may continue to fall while validation loss starts to rise.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9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Monitoring validation performance is therefore essential.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37960" y="1920240"/>
            <a:ext cx="3566160" cy="749808"/>
          </a:xfrm>
          <a:prstGeom prst="roundRect">
            <a:avLst/>
          </a:prstGeom>
          <a:solidFill>
            <a:srgbClr val="ECF8EF"/>
          </a:solidFill>
          <a:ln>
            <a:solidFill>
              <a:srgbClr val="ECF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665976" y="2011680"/>
            <a:ext cx="3310128" cy="21945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Training loss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65976" y="2286000"/>
            <a:ext cx="3310128" cy="3291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t>continues decreasing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37960" y="2880360"/>
            <a:ext cx="3566160" cy="749808"/>
          </a:xfrm>
          <a:prstGeom prst="roundRect">
            <a:avLst/>
          </a:prstGeom>
          <a:solidFill>
            <a:srgbClr val="FCE8E8"/>
          </a:solidFill>
          <a:ln>
            <a:solidFill>
              <a:srgbClr val="FC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665976" y="2971800"/>
            <a:ext cx="3310128" cy="21945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Validation loss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65976" y="3246120"/>
            <a:ext cx="3310128" cy="3291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t>starts increasing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30352"/>
            <a:ext cx="530352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GENERALIZATION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77824"/>
            <a:ext cx="9464040" cy="43891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Regularization ideas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5989320"/>
            <a:ext cx="676656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29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1920240"/>
            <a:ext cx="4434840" cy="960120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96695" y="2011680"/>
            <a:ext cx="4178807" cy="21945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Early stopping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6695" y="2286000"/>
            <a:ext cx="4178807" cy="539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t>Stop when validation performance stops improving.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0" y="1920240"/>
            <a:ext cx="4434840" cy="960120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071616" y="2011680"/>
            <a:ext cx="4178807" cy="21945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Weight decay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71616" y="2286000"/>
            <a:ext cx="4178807" cy="539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t>Discourage excessively large weights.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" y="3218688"/>
            <a:ext cx="4434840" cy="960120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96695" y="3310128"/>
            <a:ext cx="4178807" cy="21945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Dropout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5" y="3584448"/>
            <a:ext cx="4178807" cy="539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t>Randomly deactivate some units during training.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0" y="3218688"/>
            <a:ext cx="4434840" cy="960120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071616" y="3310128"/>
            <a:ext cx="4178807" cy="21945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Data augmentation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71616" y="3584448"/>
            <a:ext cx="4178807" cy="539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t>Create useful variations of training examples.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30352"/>
            <a:ext cx="530352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COMPUTATIONAL PERSPECTIVE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77824"/>
            <a:ext cx="9464040" cy="43891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Why GPUs are important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5989320"/>
            <a:ext cx="676656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28800"/>
            <a:ext cx="9326880" cy="2651760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Neural networks perform many matrix and tensor operations.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GPUs are designed to execute large numbers of parallel operations efficiently.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Training deep networks is therefore often much faster on GPUs than on standard CPUs.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This hardware advantage helped enable modern deep learning.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30352"/>
            <a:ext cx="530352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BIOMEDICAL APPLICATION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77824"/>
            <a:ext cx="9464040" cy="43891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Medical images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5989320"/>
            <a:ext cx="676656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31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28800"/>
            <a:ext cx="5486400" cy="4150945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9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Deep learning can learn features directly from images such as X-rays, CT scans, MRI and pathology slides.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9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Convolutional neural networks are especially suited to spatial data.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9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The model may learn edges, shapes, textures and higher-level structures automatically.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9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Applications include classification, segmentation and detection.</a:t>
            </a:r>
          </a:p>
        </p:txBody>
      </p:sp>
      <p:pic>
        <p:nvPicPr>
          <p:cNvPr id="7" name="Picture 6" descr="a_clean_modern_medical_health_data_illustration_o.png"/>
          <p:cNvPicPr>
            <a:picLocks noChangeAspect="1"/>
          </p:cNvPicPr>
          <p:nvPr/>
        </p:nvPicPr>
        <p:blipFill>
          <a:blip r:embed="rId2"/>
          <a:srcRect l="41715"/>
          <a:stretch>
            <a:fillRect/>
          </a:stretch>
        </p:blipFill>
        <p:spPr>
          <a:xfrm>
            <a:off x="6722074" y="1828800"/>
            <a:ext cx="4308702" cy="416052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30352"/>
            <a:ext cx="530352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BIOMEDICAL APPLICATION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77824"/>
            <a:ext cx="9464040" cy="43891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Physiological signals and time series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5989320"/>
            <a:ext cx="676656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32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28800"/>
            <a:ext cx="9326880" cy="2599751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9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Neural networks can process ECG, EEG, CGM and wearable signals.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9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Temporal architectures can learn local patterns and long-range dependencies.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9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Tasks include arrhythmia classification, seizure detection and glucose forecasting.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9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The input may be a time window rather than one static row.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30352"/>
            <a:ext cx="530352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BIOMEDICAL APPLICATION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77824"/>
            <a:ext cx="9464040" cy="43891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Clinical tabular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5989320"/>
            <a:ext cx="676656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33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28800"/>
            <a:ext cx="9418320" cy="2599751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9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Neural networks can also be trained on patient tables containing demographics, laboratory values and measurements.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9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However, deep learning is not automatically superior to classical machine learning on every tabular dataset.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9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Dataset size, feature quality and task complexity matter.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9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A strong baseline comparison remains essential.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30352"/>
            <a:ext cx="530352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INTERPRETABILITY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77824"/>
            <a:ext cx="9464040" cy="43891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A major challenge in medicine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5989320"/>
            <a:ext cx="676656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28800"/>
            <a:ext cx="9418320" cy="3375348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9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Deep networks contain many interacting parameters and internal representations.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9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This can make individual decisions harder to explain than a small decision tree or linear model.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9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Explainability methods can provide partial insight into influential inputs or regions.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9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Interpretability, validation and clinical context remain critical in high-stakes applications.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30352"/>
            <a:ext cx="530352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COMMON PITFALLS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77824"/>
            <a:ext cx="9464040" cy="43891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Important cautions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5989320"/>
            <a:ext cx="676656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35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1828800"/>
            <a:ext cx="4434840" cy="777240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96695" y="1920240"/>
            <a:ext cx="4178807" cy="21945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More layers ≠ better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6695" y="2194560"/>
            <a:ext cx="4178807" cy="3566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t>Depth must match the problem and data.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0" y="1828800"/>
            <a:ext cx="4434840" cy="777240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071616" y="1920240"/>
            <a:ext cx="4178807" cy="21945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Training loss ≠ test performance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71616" y="2194560"/>
            <a:ext cx="4178807" cy="3566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t>Generalization must be evaluated separately.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" y="2761488"/>
            <a:ext cx="4434840" cy="777240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96695" y="2852928"/>
            <a:ext cx="4178807" cy="21945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Probability ≠ certainty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5" y="3127248"/>
            <a:ext cx="4178807" cy="3566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t>Outputs require careful interpretation and calibration.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0" y="2761488"/>
            <a:ext cx="4434840" cy="777240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071616" y="2852928"/>
            <a:ext cx="4178807" cy="21945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Data quality matters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71616" y="3127248"/>
            <a:ext cx="4178807" cy="3566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t>Bias and noise can be learned by the network.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68680" y="3694176"/>
            <a:ext cx="4434840" cy="777240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96695" y="3785615"/>
            <a:ext cx="4178807" cy="21945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Compute is not validation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96695" y="4059936"/>
            <a:ext cx="4178807" cy="3566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t>A large model still needs rigorous evaluation.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30352"/>
            <a:ext cx="530352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IN-CLASS EXERCISE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77824"/>
            <a:ext cx="9464040" cy="43891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Follow one training iteration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5989320"/>
            <a:ext cx="676656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36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28800"/>
            <a:ext cx="9509760" cy="2743200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1900">
                <a:solidFill>
                  <a:srgbClr val="233142"/>
                </a:solidFill>
                <a:latin typeface="Aptos"/>
              </a:defRPr>
            </a:pPr>
            <a:r>
              <a:t>A neural network predicts P(disease) = 0.25 for a patient whose true label is disease.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900">
                <a:solidFill>
                  <a:srgbClr val="233142"/>
                </a:solidFill>
                <a:latin typeface="Aptos"/>
              </a:defRPr>
            </a:pPr>
            <a:r>
              <a:t>1. Is the loss likely to be high or low?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900">
                <a:solidFill>
                  <a:srgbClr val="233142"/>
                </a:solidFill>
                <a:latin typeface="Aptos"/>
              </a:defRPr>
            </a:pPr>
            <a:r>
              <a:t>2. What happens during backpropagation?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900">
                <a:solidFill>
                  <a:srgbClr val="233142"/>
                </a:solidFill>
                <a:latin typeface="Aptos"/>
              </a:defRPr>
            </a:pPr>
            <a:r>
              <a:t>3. What does gradient descent do with the computed gradients?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900">
                <a:solidFill>
                  <a:srgbClr val="233142"/>
                </a:solidFill>
                <a:latin typeface="Aptos"/>
              </a:defRPr>
            </a:pPr>
            <a:r>
              <a:t>4. After many useful updates, what should happen to the prediction and loss?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30352"/>
            <a:ext cx="530352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QUICK QUIZ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77824"/>
            <a:ext cx="9464040" cy="43891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Self-check questions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5989320"/>
            <a:ext cx="676656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1828800"/>
            <a:ext cx="4434840" cy="960120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96695" y="1920240"/>
            <a:ext cx="4178807" cy="21945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What does an activation function add to a network?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6694" y="2409444"/>
            <a:ext cx="4178807" cy="539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rPr dirty="0"/>
              <a:t>Nonlinearity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0" y="1828800"/>
            <a:ext cx="4434840" cy="960120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071616" y="1920240"/>
            <a:ext cx="4178807" cy="21945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What does the loss function measure?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71616" y="2194560"/>
            <a:ext cx="4178807" cy="539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t>How wrong the current prediction is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" y="3108960"/>
            <a:ext cx="4434840" cy="960120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96695" y="3200400"/>
            <a:ext cx="4178807" cy="21945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What does gradient descent change?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5" y="3474720"/>
            <a:ext cx="4178807" cy="539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t>Weights and biases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0" y="3108960"/>
            <a:ext cx="4434840" cy="960120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071616" y="3200400"/>
            <a:ext cx="4178807" cy="21945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What does backpropagation compute?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71616" y="3474720"/>
            <a:ext cx="4178807" cy="539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t>Gradients of the loss with respect to parameters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30352"/>
            <a:ext cx="530352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77824"/>
            <a:ext cx="9464040" cy="43891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Take-home messages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5989320"/>
            <a:ext cx="676656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38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8388" y="1593596"/>
            <a:ext cx="9144000" cy="5054782"/>
          </a:xfrm>
          <a:prstGeom prst="rect">
            <a:avLst/>
          </a:prstGeom>
          <a:noFill/>
        </p:spPr>
        <p:txBody>
          <a:bodyPr wrap="square" lIns="38100" rIns="38100">
            <a:spAutoFit/>
          </a:bodyPr>
          <a:lstStyle/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An artificial neuron combines weighted inputs, a bias and an activation function.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Neural networks organize many neurons into layers that learn increasingly useful representations.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The forward pass produces predictions, and the loss function measures their error.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Backpropagation computes gradients, while gradient descent uses them to update the parameters.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Training is an iterative process involving epochs, mini-batches and hyperparameters.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Deep learning is powerful for complex biomedical data, but it still requires careful evaluation and interpretation.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2153</Words>
  <Application>Microsoft Macintosh PowerPoint</Application>
  <PresentationFormat>Widescreen</PresentationFormat>
  <Paragraphs>368</Paragraphs>
  <Slides>38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4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38</vt:i4>
      </vt:variant>
    </vt:vector>
  </HeadingPairs>
  <TitlesOfParts>
    <vt:vector size="43" baseType="lpstr">
      <vt:lpstr>Aptos</vt:lpstr>
      <vt:lpstr>Aptos Display</vt:lpstr>
      <vt:lpstr>Arial</vt:lpstr>
      <vt:lpstr>Calibri</vt:lpstr>
      <vt:lpstr>Office Theme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RANCATI SIMONE</cp:lastModifiedBy>
  <cp:revision>3</cp:revision>
  <dcterms:created xsi:type="dcterms:W3CDTF">2013-01-27T09:14:16Z</dcterms:created>
  <dcterms:modified xsi:type="dcterms:W3CDTF">2026-10-07T20:50:22Z</dcterms:modified>
  <cp:category/>
</cp:coreProperties>
</file>