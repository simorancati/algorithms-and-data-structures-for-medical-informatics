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1"/>
  </p:normalViewPr>
  <p:slideViewPr>
    <p:cSldViewPr snapToGrid="0" snapToObjects="1">
      <p:cViewPr varScale="1">
        <p:scale>
          <a:sx n="103" d="100"/>
          <a:sy n="103" d="100"/>
        </p:scale>
        <p:origin x="80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731520"/>
            <a:ext cx="5303520" cy="6217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Algorithms and Data Structures
for Medical Informatics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585216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276FBF"/>
                </a:solidFill>
                <a:latin typeface="Aptos Display"/>
              </a:rPr>
              <a:t>Lesson 22 — CNNs, Sequential Models and Transformers in Biomedicine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429000"/>
            <a:ext cx="571500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 b="0" dirty="0">
                <a:solidFill>
                  <a:srgbClr val="5E778F"/>
                </a:solidFill>
                <a:latin typeface="Aptos"/>
              </a:rPr>
              <a:t>Radiology images, ECG/CGM time series, clinical text and biomedical sequences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855217"/>
            <a:ext cx="493776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0" dirty="0">
                <a:solidFill>
                  <a:srgbClr val="233142"/>
                </a:solidFill>
                <a:latin typeface="Aptos"/>
              </a:rPr>
              <a:t>ITS · Medical Informatics
20 October 2026 · 14:30–16:30
Prof. Simone </a:t>
            </a:r>
            <a:r>
              <a:rPr sz="1600" b="0" dirty="0" err="1">
                <a:solidFill>
                  <a:srgbClr val="233142"/>
                </a:solidFill>
                <a:latin typeface="Aptos"/>
              </a:rPr>
              <a:t>Rancati</a:t>
            </a:r>
            <a:r>
              <a:rPr sz="1600" b="0" dirty="0">
                <a:solidFill>
                  <a:srgbClr val="233142"/>
                </a:solidFill>
                <a:latin typeface="Aptos"/>
              </a:rPr>
              <a:t>, PhD</a:t>
            </a:r>
          </a:p>
        </p:txBody>
      </p:sp>
      <p:pic>
        <p:nvPicPr>
          <p:cNvPr id="7" name="Picture 6" descr="a_high_tech_medical_biotech_abstract_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14400"/>
            <a:ext cx="4434840" cy="24959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LESSON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Lesson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74519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1965960"/>
            <a:ext cx="265176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1. Why architecture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240279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Different data structures need different models.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2816" y="1874519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70832" y="1965960"/>
            <a:ext cx="265176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2. CNNs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2" y="2240279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Spatial pattern learning for medical images.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44384" y="1874519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1965960"/>
            <a:ext cx="265176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3. Sequential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240279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RNN, LSTM and GRU for time-dependent signals.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200400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" y="3291840"/>
            <a:ext cx="265176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4. Transformers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566160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Attention-based modeling of text, signals and sequences.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2816" y="3200400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0832" y="3291840"/>
            <a:ext cx="265176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5. Biomedical applications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3566160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Radiology, ECG, CGM and clinical notes.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44384" y="3200400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0" y="3291840"/>
            <a:ext cx="265176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6. Model selection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566160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Match architecture to data and task.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AT THE END OF THE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847088"/>
            <a:ext cx="7315200" cy="2743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100">
                <a:solidFill>
                  <a:srgbClr val="233142"/>
                </a:solidFill>
                <a:latin typeface="Aptos"/>
              </a:defRPr>
            </a:pPr>
            <a:r>
              <a:t>Explain why CNNs are well suited to spatial image data.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2100">
                <a:solidFill>
                  <a:srgbClr val="233142"/>
                </a:solidFill>
                <a:latin typeface="Aptos"/>
              </a:defRPr>
            </a:pPr>
            <a:r>
              <a:t>Understand the basic idea of convolution, filters and feature maps.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2100">
                <a:solidFill>
                  <a:srgbClr val="233142"/>
                </a:solidFill>
                <a:latin typeface="Aptos"/>
              </a:defRPr>
            </a:pPr>
            <a:r>
              <a:t>Describe recurrent and gated models for sequential biomedical signals.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2100">
                <a:solidFill>
                  <a:srgbClr val="233142"/>
                </a:solidFill>
                <a:latin typeface="Aptos"/>
              </a:defRPr>
            </a:pPr>
            <a:r>
              <a:t>Explain self-attention and the core Transformer intuition.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2100">
                <a:solidFill>
                  <a:srgbClr val="233142"/>
                </a:solidFill>
                <a:latin typeface="Aptos"/>
              </a:defRPr>
            </a:pPr>
            <a:r>
              <a:t>Connect model architecture to radiographs, ECG, CGM, clinical text and biological sequences.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2100">
                <a:solidFill>
                  <a:srgbClr val="233142"/>
                </a:solidFill>
                <a:latin typeface="Aptos"/>
              </a:defRPr>
            </a:pPr>
            <a:r>
              <a:t>Compare strengths and limitations of the main architecture families.</a:t>
            </a:r>
          </a:p>
        </p:txBody>
      </p:sp>
      <p:pic>
        <p:nvPicPr>
          <p:cNvPr id="7" name="Picture 6" descr="wide_clean_medical_biotech_concept_illustration_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0"/>
            <a:ext cx="2743200" cy="15438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BIG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The structure of the data guides the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92024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2011680"/>
            <a:ext cx="4178807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286000"/>
            <a:ext cx="4178807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Spatial neighborhoods matter.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92024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71616" y="2011680"/>
            <a:ext cx="4178807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Time series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286000"/>
            <a:ext cx="4178807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Temporal order and history matter.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218688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5" y="3310128"/>
            <a:ext cx="4178807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3584448"/>
            <a:ext cx="4178807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Relationships among words and context matter.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218688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71616" y="3310128"/>
            <a:ext cx="4178807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DNA / proteins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3584448"/>
            <a:ext cx="4178807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Long-range sequence dependencies may matter.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ARCHITECTURE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Which family is often used for which data?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10512"/>
            <a:ext cx="228600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865376"/>
            <a:ext cx="2139696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Data type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810512"/>
            <a:ext cx="28346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10712" y="1865376"/>
            <a:ext cx="2688336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Common architecture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810512"/>
            <a:ext cx="3749039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2" y="1865376"/>
            <a:ext cx="3602735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Biomedical example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240280"/>
            <a:ext cx="2286000" cy="43891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313432"/>
            <a:ext cx="2194560" cy="3291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2D image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2240280"/>
            <a:ext cx="2834640" cy="43891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83279" y="2313432"/>
            <a:ext cx="2743200" cy="3291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CNN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240280"/>
            <a:ext cx="3749039" cy="43891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2313432"/>
            <a:ext cx="3657599" cy="3291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Chest X-ray classification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2807208"/>
            <a:ext cx="22860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2880360"/>
            <a:ext cx="2194560" cy="3291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1D signal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37560" y="2807208"/>
            <a:ext cx="283464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83279" y="2880360"/>
            <a:ext cx="2743200" cy="3291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1D CNN / RNN / Transformer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2807208"/>
            <a:ext cx="3749039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2880360"/>
            <a:ext cx="3657599" cy="3291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ECG arrhythmia detection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3374136"/>
            <a:ext cx="2286000" cy="43891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3447288"/>
            <a:ext cx="2194560" cy="3291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Time series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37560" y="3374136"/>
            <a:ext cx="2834640" cy="43891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83279" y="3447288"/>
            <a:ext cx="2743200" cy="3291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RNN / LSTM / Transformer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3374136"/>
            <a:ext cx="3749039" cy="43891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3447288"/>
            <a:ext cx="3657599" cy="3291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CGM forecasting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3941064"/>
            <a:ext cx="22860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4014216"/>
            <a:ext cx="2194560" cy="3291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Clinical text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37560" y="3941064"/>
            <a:ext cx="283464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383279" y="4014216"/>
            <a:ext cx="2743200" cy="3291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Transformer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3941064"/>
            <a:ext cx="3749039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0" y="4014216"/>
            <a:ext cx="3657599" cy="3291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Clinical note classification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" y="4507992"/>
            <a:ext cx="2286000" cy="43891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4581144"/>
            <a:ext cx="2194560" cy="3291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DNA / protein sequence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37560" y="4507992"/>
            <a:ext cx="2834640" cy="43891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383279" y="4581144"/>
            <a:ext cx="2743200" cy="3291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CNN / Transformer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55080" y="4507992"/>
            <a:ext cx="3749039" cy="43891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0" y="4581144"/>
            <a:ext cx="3657599" cy="3291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Sequence prediction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CNNS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Why convolutional neural networks for images?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486400" cy="4150945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Medical images contain local spatial patterns: edges, textures, shapes and anatomical structures.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CNNs use small filters that scan across the image.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same filter is reused at many locations.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makes CNNs efficient at detecting patterns regardless of where they appear.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651760"/>
            <a:ext cx="1234440" cy="132588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2724912"/>
            <a:ext cx="1143000" cy="12161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600" b="1">
                <a:solidFill>
                  <a:srgbClr val="233142"/>
                </a:solidFill>
                <a:latin typeface="Aptos"/>
              </a:rPr>
              <a:t>X-ray
image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2331720"/>
            <a:ext cx="1417320" cy="196596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0" y="2404872"/>
            <a:ext cx="1325880" cy="185623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600" b="1">
                <a:solidFill>
                  <a:srgbClr val="233142"/>
                </a:solidFill>
                <a:latin typeface="Aptos"/>
              </a:rPr>
              <a:t>Conv
filters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84080" y="2532887"/>
            <a:ext cx="1325880" cy="1572768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29800" y="2606039"/>
            <a:ext cx="1234439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600" b="1">
                <a:solidFill>
                  <a:srgbClr val="233142"/>
                </a:solidFill>
                <a:latin typeface="Aptos"/>
              </a:rPr>
              <a:t>Feature
maps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75720" y="2743200"/>
            <a:ext cx="1097280" cy="114300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521440" y="2816352"/>
            <a:ext cx="1005839" cy="103327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600" b="1">
                <a:solidFill>
                  <a:srgbClr val="233142"/>
                </a:solidFill>
                <a:latin typeface="Aptos"/>
              </a:rPr>
              <a:t>Class
score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35240" y="3319272"/>
            <a:ext cx="365760" cy="0"/>
          </a:xfrm>
          <a:prstGeom prst="line">
            <a:avLst/>
          </a:prstGeom>
          <a:ln w="2286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418320" y="3319272"/>
            <a:ext cx="365760" cy="0"/>
          </a:xfrm>
          <a:prstGeom prst="line">
            <a:avLst/>
          </a:prstGeom>
          <a:ln w="2286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109960" y="3319272"/>
            <a:ext cx="365760" cy="0"/>
          </a:xfrm>
          <a:prstGeom prst="line">
            <a:avLst/>
          </a:prstGeom>
          <a:ln w="2286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CNN BUILDING 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Convolution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486400" cy="2651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convolutional filter is a small matrix of learnable weights.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It moves across the input image.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At each position, the filter computes a local weighted combination.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output forms a feature map.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920240"/>
            <a:ext cx="1417320" cy="14173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0255" y="2011680"/>
            <a:ext cx="116128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Image patch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5" y="2566711"/>
            <a:ext cx="1161288" cy="996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rPr dirty="0"/>
              <a:t>3 × 3 pixels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920240"/>
            <a:ext cx="1417320" cy="141732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57616" y="2011680"/>
            <a:ext cx="116128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7616" y="2286000"/>
            <a:ext cx="1161288" cy="996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3 × 3 weights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66960" y="2148840"/>
            <a:ext cx="914400" cy="960120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94976" y="2240280"/>
            <a:ext cx="65836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94976" y="2514600"/>
            <a:ext cx="658368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1 value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909560" y="2633472"/>
            <a:ext cx="320040" cy="0"/>
          </a:xfrm>
          <a:prstGeom prst="line">
            <a:avLst/>
          </a:prstGeom>
          <a:ln w="2159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646920" y="2633472"/>
            <a:ext cx="320040" cy="0"/>
          </a:xfrm>
          <a:prstGeom prst="line">
            <a:avLst/>
          </a:prstGeom>
          <a:ln w="2159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CNN BUILDING 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Feature maps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326880" cy="221195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Different filters learn to respond to different patterns.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Early filters may detect simple edges or intensity changes.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Deeper filters can combine these responses into more complex structures.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CNN therefore builds a hierarchy of spatial features.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CNN BUILDING 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Pooling and spatial compression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669280" cy="337534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Pooling reduces the spatial size of feature maps.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It keeps important information while decreasing computation.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Max pooling keeps the strongest local activation.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Modern CNNs may also use </a:t>
            </a:r>
            <a:r>
              <a:rPr sz="2400" dirty="0" err="1"/>
              <a:t>strided</a:t>
            </a:r>
            <a:r>
              <a:rPr sz="2400" dirty="0"/>
              <a:t> convolutions instead of explicit pooling.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920240"/>
            <a:ext cx="3566160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65976" y="2011680"/>
            <a:ext cx="331012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Before pooling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5976" y="2286000"/>
            <a:ext cx="3310128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large feature 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2926080"/>
            <a:ext cx="3566160" cy="749808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65976" y="3017520"/>
            <a:ext cx="331012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After pooling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5976" y="3291840"/>
            <a:ext cx="3310128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smaller spatial representation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CNN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From radiograph to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148840"/>
            <a:ext cx="2148840" cy="10058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2240280"/>
            <a:ext cx="189280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514600"/>
            <a:ext cx="189280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Chest X-ray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17520" y="2651760"/>
            <a:ext cx="457200" cy="0"/>
          </a:xfrm>
          <a:prstGeom prst="line">
            <a:avLst/>
          </a:prstGeom>
          <a:ln w="2286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74720" y="2148840"/>
            <a:ext cx="2148840" cy="100584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02736" y="2240280"/>
            <a:ext cx="189280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Convolution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2736" y="2514600"/>
            <a:ext cx="189280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Learn local patterns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23560" y="2651760"/>
            <a:ext cx="457200" cy="0"/>
          </a:xfrm>
          <a:prstGeom prst="line">
            <a:avLst/>
          </a:prstGeom>
          <a:ln w="2286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080760" y="2148840"/>
            <a:ext cx="2148840" cy="1005840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08776" y="2240280"/>
            <a:ext cx="189280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Feature hierarchy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514600"/>
            <a:ext cx="189280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Combine simple patterns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0" y="2651760"/>
            <a:ext cx="457200" cy="0"/>
          </a:xfrm>
          <a:prstGeom prst="line">
            <a:avLst/>
          </a:prstGeom>
          <a:ln w="2286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686800" y="2148840"/>
            <a:ext cx="2148840" cy="100584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14816" y="2240280"/>
            <a:ext cx="189280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Classifier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14816" y="2514600"/>
            <a:ext cx="189280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Produce disease probability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069080"/>
            <a:ext cx="91440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800" b="1">
                <a:solidFill>
                  <a:srgbClr val="0D3161"/>
                </a:solidFill>
                <a:latin typeface="Aptos"/>
              </a:rPr>
              <a:t>The network learns both the image representation and the final prediction rule.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BIOMEDICAL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CNN for chest X-ray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486400" cy="242451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dirty="0"/>
              <a:t>Input: a 2D radiograph.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dirty="0"/>
              <a:t>Task: classify findings such as normal vs abnormal, or detect specific pathologies.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dirty="0"/>
              <a:t>CNN layers learn spatial features directly from the image.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dirty="0"/>
              <a:t>The final layer outputs one or more class probabilities.</a:t>
            </a:r>
          </a:p>
        </p:txBody>
      </p:sp>
      <p:pic>
        <p:nvPicPr>
          <p:cNvPr id="7" name="Picture 6" descr="a_clean_modern_medical_health_data_illustration_o.png"/>
          <p:cNvPicPr>
            <a:picLocks noChangeAspect="1"/>
          </p:cNvPicPr>
          <p:nvPr/>
        </p:nvPicPr>
        <p:blipFill>
          <a:blip r:embed="rId2"/>
          <a:srcRect l="40335"/>
          <a:stretch>
            <a:fillRect/>
          </a:stretch>
        </p:blipFill>
        <p:spPr>
          <a:xfrm>
            <a:off x="6759145" y="1828799"/>
            <a:ext cx="3995502" cy="376881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BEYOND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Other CNN tasks in medical imaging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92024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2011680"/>
            <a:ext cx="4178807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Segmentation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286000"/>
            <a:ext cx="4178807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Assign a class to each pixel or voxel.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92024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71616" y="2011680"/>
            <a:ext cx="4178807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286000"/>
            <a:ext cx="4178807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Locate lesions or anatomical structures.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218688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5" y="3310128"/>
            <a:ext cx="4178807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Regression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3584448"/>
            <a:ext cx="4178807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Estimate quantities from images.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218688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71616" y="3310128"/>
            <a:ext cx="4178807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Representation 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3584448"/>
            <a:ext cx="4178807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Extract useful image embeddings for later models.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SEQUENTIAL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Why sequences need temporal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326880" cy="2599751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 ECG and CGM data, the meaning of one sample depends on surrounding samples.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Temporal order cannot be ignored.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useful model should combine current input with information from previous time points.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Recurrent neural networks were designed for this purpose.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RNN INTUITION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Recurrent neural networks maintain a hidden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486400" cy="337534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At each time step, an RNN reads the current input.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It also receives a hidden state summarizing previous information.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hidden state is updated and passed to the next time step.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creates a computational memory across the sequence.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66928" cy="4754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901952"/>
            <a:ext cx="475488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>
                <a:solidFill>
                  <a:srgbClr val="233142"/>
                </a:solidFill>
                <a:latin typeface="Aptos"/>
              </a:rPr>
              <a:t>x1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788920"/>
            <a:ext cx="566928" cy="475488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2862072"/>
            <a:ext cx="475488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>
                <a:solidFill>
                  <a:srgbClr val="233142"/>
                </a:solidFill>
                <a:latin typeface="Aptos"/>
              </a:rPr>
              <a:t>h1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684264" y="2304288"/>
            <a:ext cx="0" cy="484632"/>
          </a:xfrm>
          <a:prstGeom prst="line">
            <a:avLst/>
          </a:prstGeom>
          <a:ln w="15240">
            <a:solidFill>
              <a:srgbClr val="5E7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967728" y="3026664"/>
            <a:ext cx="182880" cy="0"/>
          </a:xfrm>
          <a:prstGeom prst="line">
            <a:avLst/>
          </a:prstGeom>
          <a:ln w="1905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150608" y="1828800"/>
            <a:ext cx="566928" cy="4754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96328" y="1901952"/>
            <a:ext cx="475488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>
                <a:solidFill>
                  <a:srgbClr val="233142"/>
                </a:solidFill>
                <a:latin typeface="Aptos"/>
              </a:rPr>
              <a:t>x2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50608" y="2788920"/>
            <a:ext cx="566928" cy="475488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96328" y="2862072"/>
            <a:ext cx="475488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>
                <a:solidFill>
                  <a:srgbClr val="233142"/>
                </a:solidFill>
                <a:latin typeface="Aptos"/>
              </a:rPr>
              <a:t>h2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967727" y="2304288"/>
            <a:ext cx="466345" cy="484632"/>
          </a:xfrm>
          <a:prstGeom prst="line">
            <a:avLst/>
          </a:prstGeom>
          <a:ln w="15240">
            <a:solidFill>
              <a:srgbClr val="5E7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717536" y="3026664"/>
            <a:ext cx="182880" cy="0"/>
          </a:xfrm>
          <a:prstGeom prst="line">
            <a:avLst/>
          </a:prstGeom>
          <a:ln w="1905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900416" y="1828800"/>
            <a:ext cx="566928" cy="4754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46136" y="1901952"/>
            <a:ext cx="475488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>
                <a:solidFill>
                  <a:srgbClr val="233142"/>
                </a:solidFill>
                <a:latin typeface="Aptos"/>
              </a:rPr>
              <a:t>x3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0416" y="2788920"/>
            <a:ext cx="566928" cy="475488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46136" y="2862072"/>
            <a:ext cx="475488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>
                <a:solidFill>
                  <a:srgbClr val="233142"/>
                </a:solidFill>
                <a:latin typeface="Aptos"/>
              </a:rPr>
              <a:t>h3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251192" y="2304288"/>
            <a:ext cx="932688" cy="484632"/>
          </a:xfrm>
          <a:prstGeom prst="line">
            <a:avLst/>
          </a:prstGeom>
          <a:ln w="15240">
            <a:solidFill>
              <a:srgbClr val="5E7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467344" y="3026664"/>
            <a:ext cx="182880" cy="0"/>
          </a:xfrm>
          <a:prstGeom prst="line">
            <a:avLst/>
          </a:prstGeom>
          <a:ln w="1905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650224" y="1828800"/>
            <a:ext cx="566928" cy="4754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95944" y="1901952"/>
            <a:ext cx="475488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>
                <a:solidFill>
                  <a:srgbClr val="233142"/>
                </a:solidFill>
                <a:latin typeface="Aptos"/>
              </a:rPr>
              <a:t>x4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50224" y="2788920"/>
            <a:ext cx="566928" cy="475488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95944" y="2862072"/>
            <a:ext cx="475488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>
                <a:solidFill>
                  <a:srgbClr val="233142"/>
                </a:solidFill>
                <a:latin typeface="Aptos"/>
              </a:rPr>
              <a:t>h4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534656" y="2304288"/>
            <a:ext cx="1399032" cy="484632"/>
          </a:xfrm>
          <a:prstGeom prst="line">
            <a:avLst/>
          </a:prstGeom>
          <a:ln w="15240">
            <a:solidFill>
              <a:srgbClr val="5E7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217152" y="3026664"/>
            <a:ext cx="182880" cy="0"/>
          </a:xfrm>
          <a:prstGeom prst="line">
            <a:avLst/>
          </a:prstGeom>
          <a:ln w="1905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400032" y="1828800"/>
            <a:ext cx="566928" cy="4754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445752" y="1901952"/>
            <a:ext cx="475488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>
                <a:solidFill>
                  <a:srgbClr val="233142"/>
                </a:solidFill>
                <a:latin typeface="Aptos"/>
              </a:rPr>
              <a:t>x5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00032" y="2788920"/>
            <a:ext cx="566928" cy="475488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445752" y="2862072"/>
            <a:ext cx="475488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>
                <a:solidFill>
                  <a:srgbClr val="233142"/>
                </a:solidFill>
                <a:latin typeface="Aptos"/>
              </a:rPr>
              <a:t>h5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818120" y="2304288"/>
            <a:ext cx="1865376" cy="484632"/>
          </a:xfrm>
          <a:prstGeom prst="line">
            <a:avLst/>
          </a:prstGeom>
          <a:ln w="15240">
            <a:solidFill>
              <a:srgbClr val="5E7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400800" y="3566160"/>
            <a:ext cx="39319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500" b="0">
                <a:solidFill>
                  <a:srgbClr val="5E778F"/>
                </a:solidFill>
                <a:latin typeface="Aptos"/>
              </a:rPr>
              <a:t>Information flows through time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RNN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Why simple RNNs struggle with long dependencies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418320" cy="221195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During training, gradients must travel through many time steps.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They may become very small or very large.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makes long-range relationships difficult to learn.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LSTM and GRU architectures were introduced to improve memory and gradient flow.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LSTM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Long Short-Term Memory — intuitive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486400" cy="3763146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LSTM introduces a memory cell and gates.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gates decide what information to keep, forget and output.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gives the model more control over long-term information flow.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LSTMs became widely used for biomedical time series before Transformers became common.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74519"/>
            <a:ext cx="3657600" cy="713232"/>
          </a:xfrm>
          <a:prstGeom prst="roundRect">
            <a:avLst/>
          </a:prstGeom>
          <a:solidFill>
            <a:srgbClr val="FCE8E8"/>
          </a:solidFill>
          <a:ln>
            <a:solidFill>
              <a:srgbClr val="FC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8816" y="1965960"/>
            <a:ext cx="340156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Forget 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2240279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What should be discarded?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788920"/>
            <a:ext cx="3657600" cy="713232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8816" y="2880360"/>
            <a:ext cx="340156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Input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3154679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What new information should be stored?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703320"/>
            <a:ext cx="3657600" cy="713232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28816" y="3794759"/>
            <a:ext cx="340156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Output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4069080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What information should be exposed?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GRU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A simpler gated recurrent unit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326880" cy="1824154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GRU uses gating ideas similar to LSTM but with a simpler structure.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It often requires fewer parameters.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It can still capture longer dependencies than a basic RNN.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 practice, LSTM and GRU are alternative recurrent architectures.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BIOMEDICAL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Sequential models for ECG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486400" cy="3763146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Input: a temporal window of ECG samples.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model processes the waveform in order.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It may learn rhythm, beat morphology and temporal dependencies.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Tasks include arrhythmia detection, rhythm classification and event prediction.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965960"/>
            <a:ext cx="3566160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0255" y="2057400"/>
            <a:ext cx="331012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Sequence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5" y="2331720"/>
            <a:ext cx="3310128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ECG samples over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926080"/>
            <a:ext cx="3566160" cy="749808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0255" y="3017520"/>
            <a:ext cx="331012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0255" y="3291840"/>
            <a:ext cx="3310128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RNN / LSTM / GRU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3886200"/>
            <a:ext cx="3566160" cy="749808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0255" y="3977639"/>
            <a:ext cx="331012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5" y="4251960"/>
            <a:ext cx="3310128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rhythm class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BIOMEDICAL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Sequential models for CGM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486400" cy="337534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Input: recent glucose values and possibly insulin, meals or activity.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sequence model summarizes recent history.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target may be glucose 15, 30 or 60 minutes in the future.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turns CGM forecasting into a sequence-to-value problem.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965960"/>
            <a:ext cx="3566160" cy="749808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0255" y="2057400"/>
            <a:ext cx="331012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History window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5" y="2331720"/>
            <a:ext cx="3310128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past 60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926080"/>
            <a:ext cx="3566160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0255" y="3017520"/>
            <a:ext cx="331012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Prediction horizon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0255" y="3291840"/>
            <a:ext cx="3310128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future 30 minutes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1D CNNS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Convolution can also be applied to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326880" cy="221195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Convolution is not limited to 2D images.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1D convolutional filter scans along time.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It can detect local waveform motifs efficiently.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1D CNNs are often used for ECG, EEG, PPG and other physiological signals.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ARCHITECTURE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1D CNN vs recurrent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10512"/>
            <a:ext cx="457200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865376"/>
            <a:ext cx="4425696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1D CNN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206240" cy="1375185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Excellent at local temporal patterns.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Parallelizable and often fast.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Long-range context may require deeper or dilated designs.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10512"/>
            <a:ext cx="42062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99632" y="1865376"/>
            <a:ext cx="4059935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RNN / LSTM / GRU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240280"/>
            <a:ext cx="4023360" cy="1084336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Explicit sequential state.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Natural for ordered streams.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Harder to parallelize over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251960"/>
            <a:ext cx="7498079" cy="5486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56816" y="4343400"/>
            <a:ext cx="7242047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Practical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4617720"/>
            <a:ext cx="7242047" cy="128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Both families remain useful; the best choice depends on the dataset and task.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TRANSFORMERS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Why Transformers changed sequence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418320" cy="1890774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dirty="0"/>
              <a:t>Transformers do not rely on recurrence to process sequence context.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dirty="0"/>
              <a:t>They use attention mechanisms to relate different positions directly.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dirty="0"/>
              <a:t>This improves parallel computation during training.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dirty="0"/>
              <a:t>Transformers became dominant in language and increasingly important in biomedical signals and sequences.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Core intuition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486400" cy="3763146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For each position, the model asks: which other positions are most relevant to me?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Attention assigns higher weights to more relevant information.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output is a weighted combination of information from the sequence.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allows direct long-range interactions.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74519"/>
            <a:ext cx="1005840" cy="512064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947672"/>
            <a:ext cx="914400" cy="4023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500" b="1">
                <a:solidFill>
                  <a:srgbClr val="233142"/>
                </a:solidFill>
                <a:latin typeface="Aptos"/>
              </a:rPr>
              <a:t>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834639"/>
            <a:ext cx="1005840" cy="512064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2907791"/>
            <a:ext cx="914400" cy="4023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500" b="1">
                <a:solidFill>
                  <a:srgbClr val="233142"/>
                </a:solidFill>
                <a:latin typeface="Aptos"/>
              </a:rPr>
              <a:t>Keys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794760"/>
            <a:ext cx="1005840" cy="512064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3867912"/>
            <a:ext cx="914400" cy="4023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500" b="1">
                <a:solidFill>
                  <a:srgbClr val="233142"/>
                </a:solidFill>
                <a:latin typeface="Aptos"/>
              </a:rPr>
              <a:t>Values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2679191"/>
            <a:ext cx="1325880" cy="786384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2752344"/>
            <a:ext cx="1234439" cy="6766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500" b="1">
                <a:solidFill>
                  <a:srgbClr val="233142"/>
                </a:solidFill>
                <a:latin typeface="Aptos"/>
              </a:rPr>
              <a:t>Attention
scores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424160" y="2679191"/>
            <a:ext cx="1417320" cy="786384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469880" y="2752344"/>
            <a:ext cx="1325880" cy="6766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500" b="1">
                <a:solidFill>
                  <a:srgbClr val="233142"/>
                </a:solidFill>
                <a:latin typeface="Aptos"/>
              </a:rPr>
              <a:t>Weighted
combination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06640" y="2130552"/>
            <a:ext cx="914400" cy="795528"/>
          </a:xfrm>
          <a:prstGeom prst="line">
            <a:avLst/>
          </a:prstGeom>
          <a:ln w="1905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406640" y="3090672"/>
            <a:ext cx="914400" cy="0"/>
          </a:xfrm>
          <a:prstGeom prst="line">
            <a:avLst/>
          </a:prstGeom>
          <a:ln w="1905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406640" y="3090672"/>
            <a:ext cx="3017520" cy="960119"/>
          </a:xfrm>
          <a:prstGeom prst="line">
            <a:avLst/>
          </a:prstGeom>
          <a:ln w="15240">
            <a:solidFill>
              <a:srgbClr val="5E7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646920" y="3090672"/>
            <a:ext cx="777240" cy="0"/>
          </a:xfrm>
          <a:prstGeom prst="line">
            <a:avLst/>
          </a:prstGeom>
          <a:ln w="2032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SELF-ATTENTION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Query, key and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011680"/>
            <a:ext cx="2971800" cy="141732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2103120"/>
            <a:ext cx="271576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 b="1">
                <a:solidFill>
                  <a:srgbClr val="0D3161"/>
                </a:solidFill>
                <a:latin typeface="Aptos"/>
              </a:rPr>
              <a:t>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377440"/>
            <a:ext cx="2715768" cy="996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What information am I looking for?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011680"/>
            <a:ext cx="2971800" cy="141732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25696" y="2103120"/>
            <a:ext cx="271576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 b="1">
                <a:solidFill>
                  <a:srgbClr val="0D3161"/>
                </a:solidFill>
                <a:latin typeface="Aptos"/>
              </a:rPr>
              <a:t>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5696" y="2377440"/>
            <a:ext cx="2715768" cy="996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What information do I contain?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2011680"/>
            <a:ext cx="2971800" cy="1417320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54696" y="2103120"/>
            <a:ext cx="271576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 b="1">
                <a:solidFill>
                  <a:srgbClr val="0D3161"/>
                </a:solidFill>
                <a:latin typeface="Aptos"/>
              </a:rPr>
              <a:t>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4696" y="2377440"/>
            <a:ext cx="2715768" cy="996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What content should be passed forward?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160520"/>
            <a:ext cx="923544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700" b="1">
                <a:solidFill>
                  <a:srgbClr val="0D3161"/>
                </a:solidFill>
                <a:latin typeface="Aptos"/>
              </a:rPr>
              <a:t>The attention score compares queries and keys, then uses the scores to combine values.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TRANSFORMERS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Multi-head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326880" cy="221195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Transformer usually computes several attention mechanisms in parallel.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Each attention head can focus on a different type of relationship.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head outputs are combined into a richer representation.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is called multi-head attention.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TRANSFORMERS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Positional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418320" cy="2599751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Attention alone does not inherently know the order of sequence elements.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Transformers therefore add positional information.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tells the model which token or sample comes first, second and so 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Position is crucial for text, ECG, CGM and biological sequences.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TRANSFORMER 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Simplified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148840"/>
            <a:ext cx="2148840" cy="10058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2240280"/>
            <a:ext cx="189280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500" b="1">
                <a:solidFill>
                  <a:srgbClr val="0D3161"/>
                </a:solidFill>
                <a:latin typeface="Aptos"/>
              </a:rPr>
              <a:t>Input embeddings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514600"/>
            <a:ext cx="189280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50">
                <a:solidFill>
                  <a:srgbClr val="233142"/>
                </a:solidFill>
                <a:latin typeface="Aptos"/>
              </a:defRPr>
            </a:pPr>
            <a:r>
              <a:t>Numeric representation of tokens or signal segments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17520" y="2651760"/>
            <a:ext cx="457200" cy="0"/>
          </a:xfrm>
          <a:prstGeom prst="line">
            <a:avLst/>
          </a:prstGeom>
          <a:ln w="2286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74720" y="2148840"/>
            <a:ext cx="2148840" cy="100584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02736" y="2240280"/>
            <a:ext cx="189280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500" b="1">
                <a:solidFill>
                  <a:srgbClr val="0D3161"/>
                </a:solidFill>
                <a:latin typeface="Aptos"/>
              </a:rPr>
              <a:t>Self-attention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2736" y="2514600"/>
            <a:ext cx="189280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50">
                <a:solidFill>
                  <a:srgbClr val="233142"/>
                </a:solidFill>
                <a:latin typeface="Aptos"/>
              </a:defRPr>
            </a:pPr>
            <a:r>
              <a:t>Relate positions across the sequence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23560" y="2651760"/>
            <a:ext cx="457200" cy="0"/>
          </a:xfrm>
          <a:prstGeom prst="line">
            <a:avLst/>
          </a:prstGeom>
          <a:ln w="2286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080760" y="2148840"/>
            <a:ext cx="2148840" cy="1005840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08776" y="2240280"/>
            <a:ext cx="189280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500" b="1">
                <a:solidFill>
                  <a:srgbClr val="0D3161"/>
                </a:solidFill>
                <a:latin typeface="Aptos"/>
              </a:rPr>
              <a:t>Feed-forward network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514600"/>
            <a:ext cx="189280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50">
                <a:solidFill>
                  <a:srgbClr val="233142"/>
                </a:solidFill>
                <a:latin typeface="Aptos"/>
              </a:defRPr>
            </a:pPr>
            <a:r>
              <a:t>Transform each position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0" y="2651760"/>
            <a:ext cx="457200" cy="0"/>
          </a:xfrm>
          <a:prstGeom prst="line">
            <a:avLst/>
          </a:prstGeom>
          <a:ln w="2286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686800" y="2148840"/>
            <a:ext cx="2148840" cy="100584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14816" y="2240280"/>
            <a:ext cx="189280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500" b="1">
                <a:solidFill>
                  <a:srgbClr val="0D3161"/>
                </a:solidFill>
                <a:latin typeface="Aptos"/>
              </a:rPr>
              <a:t>Output representation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14816" y="2514600"/>
            <a:ext cx="189280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50">
                <a:solidFill>
                  <a:srgbClr val="233142"/>
                </a:solidFill>
                <a:latin typeface="Aptos"/>
              </a:defRPr>
            </a:pPr>
            <a:r>
              <a:t>Used for classification, prediction or generation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BIOMEDICAL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Transformers for clinical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486400" cy="4150945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Clinical notes are sequences of words or </a:t>
            </a:r>
            <a:r>
              <a:rPr sz="2400" dirty="0" err="1"/>
              <a:t>subword</a:t>
            </a:r>
            <a:r>
              <a:rPr sz="2400" dirty="0"/>
              <a:t> tokens.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Transformers create contextual representations: a word meaning depends on surrounding text.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Applications include document classification, information extraction and clinical summarization.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Domain-specific language models can be adapted to biomedical 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965960"/>
            <a:ext cx="3566160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0255" y="2057400"/>
            <a:ext cx="331012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5" y="2331720"/>
            <a:ext cx="3310128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clinical note 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926080"/>
            <a:ext cx="3566160" cy="749808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0255" y="3017520"/>
            <a:ext cx="331012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Transformer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0255" y="3291840"/>
            <a:ext cx="3310128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context-aware representations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3886200"/>
            <a:ext cx="3566160" cy="749808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0255" y="3977639"/>
            <a:ext cx="331012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5" y="4251960"/>
            <a:ext cx="3310128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classification / extraction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BIOMEDICAL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Transformers for ECG and CGM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326880" cy="2651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Signals can be divided into samples, patches or windows and converted into embeddings.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Self-attention can connect distant time points directly.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may help capture long-range patterns that are difficult for simple recurrent models.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Applications include ECG classification and glucose forecasting.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BIOMEDICAL 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Transformers for DNA, RNA and proteins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418320" cy="337534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Biological sequences can be tokenized into nucleotides, amino acids or k-</a:t>
            </a:r>
            <a:r>
              <a:rPr sz="2400" dirty="0" err="1"/>
              <a:t>mers</a:t>
            </a:r>
            <a:r>
              <a:rPr sz="2400" dirty="0"/>
              <a:t>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Transformers can model interactions between distant sequence positions.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supports representation learning, functional prediction and sequence classification.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architecture treats biological sequences as structured ordered data.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REPRESENTATION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Embeddings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326880" cy="2599751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An embedding is a learned numeric vector representing an input element or whole sample.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CNNs learn image feature embeddings.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RNNs and Transformers learn sequence embeddings.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Embeddings can be reused for classification, clustering, retrieval or transfer learning.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TRANSFER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Why pretrained models are useful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486400" cy="337534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Large models can first be trained on broad datasets.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learned representations can then be adapted to a smaller biomedical dataset.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is called transfer learning.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It is especially useful when labeled medical data are limited.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965960"/>
            <a:ext cx="3566160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0255" y="2057400"/>
            <a:ext cx="331012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Pretraining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5" y="2331720"/>
            <a:ext cx="3310128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learn general patterns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926080"/>
            <a:ext cx="3566160" cy="749808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0255" y="3017520"/>
            <a:ext cx="331012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Fine-tuning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0255" y="3291840"/>
            <a:ext cx="3310128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adapt to medical task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CNN vs recurrent models vs Transformers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10512"/>
            <a:ext cx="338328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865376"/>
            <a:ext cx="3236976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CNN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10512"/>
            <a:ext cx="338328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62272" y="1865376"/>
            <a:ext cx="3236976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RNN / LSTM / GRU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810512"/>
            <a:ext cx="292608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65592" y="1865376"/>
            <a:ext cx="2779776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Transformer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86000"/>
            <a:ext cx="3291840" cy="196596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2377440"/>
            <a:ext cx="303580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Best known for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651760"/>
            <a:ext cx="3035808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Local spatial or temporal patterns</a:t>
            </a:r>
          </a:p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Highly parallel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2286000"/>
            <a:ext cx="3291840" cy="1965960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62855" y="2377440"/>
            <a:ext cx="303580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Best known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5" y="2651760"/>
            <a:ext cx="3035808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Sequential state</a:t>
            </a:r>
          </a:p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Natural temporal processing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286000"/>
            <a:ext cx="2834640" cy="196596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66176" y="2377440"/>
            <a:ext cx="257860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Best known for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2651760"/>
            <a:ext cx="2578608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Long-range attention</a:t>
            </a:r>
          </a:p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Strong parallel 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63440"/>
            <a:ext cx="95097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600" b="1">
                <a:solidFill>
                  <a:srgbClr val="0D3161"/>
                </a:solidFill>
                <a:latin typeface="Aptos"/>
              </a:rPr>
              <a:t>No architecture is universally best: data structure, dataset size and task determine the choice.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COMPUTATIONAL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What changes as architectures become more powerful?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20240"/>
            <a:ext cx="4178807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Data 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194560"/>
            <a:ext cx="4178807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Larger models usually need more data or pretraining.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828800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71616" y="1920240"/>
            <a:ext cx="4178807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Compute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194560"/>
            <a:ext cx="4178807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Transformers and large CNNs can be computationally expensive.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761488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5" y="2852928"/>
            <a:ext cx="4178807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3127248"/>
            <a:ext cx="4178807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Attention can be costly for very long sequences.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2761488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71616" y="2852928"/>
            <a:ext cx="4178807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Interpretability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3127248"/>
            <a:ext cx="4178807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Complex architectures are harder to explain directly.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694176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6695" y="3785615"/>
            <a:ext cx="4178807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Latency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5" y="4059936"/>
            <a:ext cx="4178807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Real-time clinical applications may need smaller models.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CLINICAL PERSPECTIVE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Architecture choice must follow the clinical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418320" cy="3051669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Radiograph classification → CNN is a natural starting point.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ECG rhythm recognition → 1D CNN, recurrent model or Transformer may all be reasonable.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CGM forecasting → temporal model is required.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Clinical text → Transformer is usually the dominant architecture family.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Final choice should be based on rigorous evaluation, not popularity.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COMMON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Important cautions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20240"/>
            <a:ext cx="4178807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Architecture hype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194560"/>
            <a:ext cx="4178807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Newer does not automatically mean better.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828800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71616" y="1920240"/>
            <a:ext cx="4178807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Leakage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194560"/>
            <a:ext cx="4178807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Temporal and patient-level leakage can invalidate results.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761488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5" y="2852928"/>
            <a:ext cx="4178807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Dataset shift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3127248"/>
            <a:ext cx="4178807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Hospital, device or population differences matter.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2761488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71616" y="2852928"/>
            <a:ext cx="4178807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Compute vs benefit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3127248"/>
            <a:ext cx="4178807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Complexity should provide measurable value.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694176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6695" y="3785615"/>
            <a:ext cx="4178807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Explainability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5" y="4059936"/>
            <a:ext cx="4178807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High performance does not remove the need for interpretation.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IN-CLASS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Choose the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509760" cy="29260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1. Detect pneumonia on chest X-rays.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2. Predict hypoglycemia from the last 60 minutes of CGM.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3. Classify an ECG segment as normal or arrhythmic.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4. Extract diagnoses from a clinical note.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5. Predict a property from an amino-acid sequence.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For each task, choose CNN, recurrent model, Transformer or a combination, and explain why.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5554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Take-home messages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9144000" cy="505478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CNNs exploit local spatial structure and are fundamental for medical imaging.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RNNs, LSTMs and GRUs process sequences through a recurrent hidden state.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1D CNNs provide an efficient alternative for local temporal patterns in physiological signals.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Transformers use attention to model long-range relationships without recurrence.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Clinical text, ECG, CGM and biological sequences can all be represented for Transformer-based modeling.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Architecture choice should follow the data structure, clinical task and evaluation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2139</Words>
  <Application>Microsoft Macintosh PowerPoint</Application>
  <PresentationFormat>Widescreen</PresentationFormat>
  <Paragraphs>396</Paragraphs>
  <Slides>38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38</vt:i4>
      </vt:variant>
    </vt:vector>
  </HeadingPairs>
  <TitlesOfParts>
    <vt:vector size="43" baseType="lpstr">
      <vt:lpstr>Aptos</vt:lpstr>
      <vt:lpstr>Aptos Display</vt:lpstr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RANCATI SIMONE</cp:lastModifiedBy>
  <cp:revision>3</cp:revision>
  <dcterms:created xsi:type="dcterms:W3CDTF">2013-01-27T09:14:16Z</dcterms:created>
  <dcterms:modified xsi:type="dcterms:W3CDTF">2026-10-07T20:55:54Z</dcterms:modified>
  <cp:category/>
</cp:coreProperties>
</file>