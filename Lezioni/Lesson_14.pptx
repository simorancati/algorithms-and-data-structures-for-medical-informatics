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9"/>
  </p:normalViewPr>
  <p:slideViewPr>
    <p:cSldViewPr snapToGrid="0" snapToObjects="1">
      <p:cViewPr varScale="1">
        <p:scale>
          <a:sx n="103" d="100"/>
          <a:sy n="103" d="100"/>
        </p:scale>
        <p:origin x="80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212080" cy="60350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17802"/>
            <a:ext cx="5669280" cy="34747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400" b="1" dirty="0">
                <a:solidFill>
                  <a:srgbClr val="276FBF"/>
                </a:solidFill>
                <a:latin typeface="Aptos Display"/>
              </a:rPr>
              <a:t>Lesson 14 — Data Structures in Digital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21228"/>
            <a:ext cx="621792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EHR/EMR, clinical records, tables, JSON/XML, codes, terminologies and HL7/FHIR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736592"/>
            <a:ext cx="47548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24 September 2026 · 14:30–16:30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wide_clean_vector_flat_gradient_illustration_sce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933203"/>
            <a:ext cx="5257800" cy="29590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Digital health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From clinical work to computable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EHR and EMR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Meaning, scope and data organization.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Tables and databases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Patients, encounters, observations and keys.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Semi-structured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JSON and XML in clinical exchange.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399"/>
            <a:ext cx="2907792" cy="1121499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Codes and terminologies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849624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ICD, SNOMED CT, LOINC and medication codes.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Interoperability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HL7 messages, FHIR resources and APIs.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498079" cy="379591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the difference between EMR and EHR in practical terms.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a clinical record as a structured data object.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Interpret core healthcare tables and relationships between them.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Recognize why JSON and XML are used for semi-structured data exchange.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Distinguish diagnostic codes, clinical terminologies and laboratory codes.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the basic idea of HL7/FHIR interoperability.</a:t>
            </a:r>
          </a:p>
        </p:txBody>
      </p:sp>
      <p:pic>
        <p:nvPicPr>
          <p:cNvPr id="7" name="Picture 6" descr="wide_clean_vector_illustration_scene_on_a_pale_blu.png"/>
          <p:cNvPicPr>
            <a:picLocks noChangeAspect="1"/>
          </p:cNvPicPr>
          <p:nvPr/>
        </p:nvPicPr>
        <p:blipFill>
          <a:blip r:embed="rId2"/>
          <a:srcRect l="41120"/>
          <a:stretch>
            <a:fillRect/>
          </a:stretch>
        </p:blipFill>
        <p:spPr>
          <a:xfrm>
            <a:off x="8302750" y="1847087"/>
            <a:ext cx="3587693" cy="342924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data structures matter in digital healthcare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669280" cy="3328347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100" dirty="0"/>
              <a:t>Healthcare software does not only store text: it organizes complex clinical events.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100" dirty="0"/>
              <a:t>The same patient may have diagnoses, visits, laboratory values, medications, images and notes.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100" dirty="0"/>
              <a:t>Safe clinical algorithms require predictable and well-defined data structures.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100" dirty="0"/>
              <a:t>Interoperability requires different systems to understand the same data in the same way.</a:t>
            </a:r>
          </a:p>
        </p:txBody>
      </p:sp>
      <p:pic>
        <p:nvPicPr>
          <p:cNvPr id="7" name="Picture 6" descr="wide_clean_vector_flat_gradient_illustration_scene.png"/>
          <p:cNvPicPr>
            <a:picLocks noChangeAspect="1"/>
          </p:cNvPicPr>
          <p:nvPr/>
        </p:nvPicPr>
        <p:blipFill>
          <a:blip r:embed="rId2"/>
          <a:srcRect l="41751"/>
          <a:stretch>
            <a:fillRect/>
          </a:stretch>
        </p:blipFill>
        <p:spPr>
          <a:xfrm>
            <a:off x="7378714" y="1847088"/>
            <a:ext cx="3750027" cy="36232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DIGITAL HEALTH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Where clinical data come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288036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874519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Clinical documentation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30552"/>
            <a:ext cx="26243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medical history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progress notes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discharge letters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783080"/>
            <a:ext cx="288036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874519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Orders and procedures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130552"/>
            <a:ext cx="26243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laboratory requests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imaging exams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medication 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98664" y="1783080"/>
            <a:ext cx="288036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80" y="1874519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Measurements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130552"/>
            <a:ext cx="26243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vital signs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lab results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wearable sensors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154680"/>
            <a:ext cx="288036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5" y="324612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Administrative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" y="3502152"/>
            <a:ext cx="26243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appointments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wards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billing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encounters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3154680"/>
            <a:ext cx="288036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324612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Imaging and signals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502152"/>
            <a:ext cx="26243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DICOM images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ECG and EEG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monitoring streams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4" y="3154680"/>
            <a:ext cx="288036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80" y="324612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External systems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3502152"/>
            <a:ext cx="26243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pharmacies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regional registries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public health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EMR vs EHR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7091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628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EMR — Electronic Medical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343400" cy="195688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Usually centered on one organization or provider.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Documents care delivered inside that setting.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Often optimized for local clinical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10512"/>
            <a:ext cx="47091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62472" y="1865376"/>
            <a:ext cx="45628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EHR — Electronic Health Record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2267712"/>
            <a:ext cx="4343400" cy="195688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Broader longitudinal view of a patient’s health.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Designed to support sharing across systems.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More strongly connected to interoperability.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343400"/>
            <a:ext cx="7498079" cy="94529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434840"/>
            <a:ext cx="7242047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Teaching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690872"/>
            <a:ext cx="724204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80">
                <a:solidFill>
                  <a:srgbClr val="233142"/>
                </a:solidFill>
                <a:latin typeface="Aptos"/>
              </a:defRPr>
            </a:pPr>
            <a:r>
              <a:t>EMR and EHR are related, but the EHR is usually understood as a broader, more interoperable record.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CLINICAL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patient record as a nested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029200" cy="315468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29384"/>
            <a:ext cx="4700016" cy="286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patient_record = {</a:t>
            </a:r>
          </a:p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  id: 'P001',</a:t>
            </a:r>
          </a:p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  demographics: {...},</a:t>
            </a:r>
          </a:p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  encounters: [...],</a:t>
            </a:r>
          </a:p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  diagnoses: [...],</a:t>
            </a:r>
          </a:p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  medications: [...],</a:t>
            </a:r>
          </a:p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  observations: [...],</a:t>
            </a:r>
          </a:p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  documents: [...]</a:t>
            </a:r>
          </a:p>
          <a:p>
            <a:pPr>
              <a:spcAft>
                <a:spcPts val="100"/>
              </a:spcAft>
              <a:defRPr sz="1360">
                <a:solidFill>
                  <a:srgbClr val="0D3161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874519"/>
            <a:ext cx="438912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Health data are naturally grouped into sections.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section may contain lists of events over time.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Algorithms need predictable fields and stable meanings.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record is therefore more than a text file: it is a structured object.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GRANULARITY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patient to clinical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011680" y="2743200"/>
            <a:ext cx="11430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60520" y="2743200"/>
            <a:ext cx="114300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55080" y="2743200"/>
            <a:ext cx="1142999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49640" y="2743200"/>
            <a:ext cx="100584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2960" y="2240280"/>
            <a:ext cx="141732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331720"/>
            <a:ext cx="116128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50" b="1">
                <a:solidFill>
                  <a:srgbClr val="0D3161"/>
                </a:solidFill>
                <a:latin typeface="Aptos"/>
              </a:rPr>
              <a:t>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87752"/>
            <a:ext cx="11612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identity</a:t>
            </a:r>
          </a:p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demographics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240280"/>
            <a:ext cx="141732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28416" y="2331720"/>
            <a:ext cx="116128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50" b="1">
                <a:solidFill>
                  <a:srgbClr val="0D3161"/>
                </a:solidFill>
                <a:latin typeface="Aptos"/>
              </a:rPr>
              <a:t>Encounter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28416" y="2587752"/>
            <a:ext cx="11612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visit</a:t>
            </a:r>
          </a:p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admission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240280"/>
            <a:ext cx="141732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77255" y="2331720"/>
            <a:ext cx="116128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50" b="1">
                <a:solidFill>
                  <a:srgbClr val="0D3161"/>
                </a:solidFill>
                <a:latin typeface="Aptos"/>
              </a:rPr>
              <a:t>Order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5" y="2587752"/>
            <a:ext cx="11612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test</a:t>
            </a:r>
          </a:p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procedure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43800" y="2240280"/>
            <a:ext cx="141732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71816" y="2331720"/>
            <a:ext cx="116128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50" b="1">
                <a:solidFill>
                  <a:srgbClr val="0D3161"/>
                </a:solidFill>
                <a:latin typeface="Aptos"/>
              </a:rPr>
              <a:t>Observation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71816" y="2587752"/>
            <a:ext cx="11612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result</a:t>
            </a:r>
          </a:p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measurement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240280"/>
            <a:ext cx="1417320" cy="10058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29216" y="2331720"/>
            <a:ext cx="116128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50" b="1">
                <a:solidFill>
                  <a:srgbClr val="0D3161"/>
                </a:solidFill>
                <a:latin typeface="Aptos"/>
              </a:rPr>
              <a:t>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2587752"/>
            <a:ext cx="1161288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note</a:t>
            </a:r>
          </a:p>
          <a:p>
            <a:pPr>
              <a:spcAft>
                <a:spcPts val="100"/>
              </a:spcAft>
              <a:defRPr sz="1150">
                <a:solidFill>
                  <a:srgbClr val="233142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931920"/>
            <a:ext cx="9692640" cy="42062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0">
                <a:solidFill>
                  <a:srgbClr val="233142"/>
                </a:solidFill>
                <a:latin typeface="Aptos"/>
              </a:rPr>
              <a:t>Digital healthcare systems often separate data into entities: patient, encounter, order, observation and document.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Structured, semi-structured and unstructured clinical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2971800" cy="141732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011680"/>
            <a:ext cx="27157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Structured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67712"/>
            <a:ext cx="2715768" cy="9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fixed fields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rows and columns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lab table, diagnosis table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920240"/>
            <a:ext cx="2971800" cy="141732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25696" y="2011680"/>
            <a:ext cx="27157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Semi-structured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5696" y="2267712"/>
            <a:ext cx="2715768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flexible nested fields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JSON, XML, FHIR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920240"/>
            <a:ext cx="2971800" cy="1417320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54696" y="2011680"/>
            <a:ext cx="27157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Unstructured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696" y="2267712"/>
            <a:ext cx="2715768" cy="75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free text or images</a:t>
            </a:r>
          </a:p>
          <a:p>
            <a:pPr marL="285750" indent="-285750">
              <a:spcAft>
                <a:spcPts val="100"/>
              </a:spcAft>
              <a:buFont typeface="Arial" panose="020B0604020202020204" pitchFamily="34" charset="0"/>
              <a:buChar char="•"/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examples: clinical notes, reports, scans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9326880" cy="4023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276FBF"/>
                </a:solidFill>
                <a:latin typeface="Aptos"/>
              </a:rPr>
              <a:t>A real EHR usually contains all three types at the same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RELATIONAL THINKING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Clinical data as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286027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Many healthcare databases use tables to organize structured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Rows represent records, events or observations.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Columns represent attributes with defined types.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Tables are powerful because they support filtering, joining, aggregation and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874519"/>
            <a:ext cx="10058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1929384"/>
            <a:ext cx="85953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874519"/>
            <a:ext cx="7315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25512" y="1929384"/>
            <a:ext cx="58521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874519"/>
            <a:ext cx="7315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57031" y="1929384"/>
            <a:ext cx="58521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15400" y="1874519"/>
            <a:ext cx="10972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88552" y="1929384"/>
            <a:ext cx="9509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331720"/>
            <a:ext cx="10058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441448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50" b="0">
                <a:solidFill>
                  <a:srgbClr val="233142"/>
                </a:solidFill>
                <a:latin typeface="Aptos"/>
              </a:rPr>
              <a:t>P001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331720"/>
            <a:ext cx="73152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0" y="2441448"/>
            <a:ext cx="6400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67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2331720"/>
            <a:ext cx="73152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2441448"/>
            <a:ext cx="6400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F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331720"/>
            <a:ext cx="109728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2441448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Cardiology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807208"/>
            <a:ext cx="10058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2916936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50" b="0">
                <a:solidFill>
                  <a:srgbClr val="233142"/>
                </a:solidFill>
                <a:latin typeface="Aptos"/>
              </a:rPr>
              <a:t>P002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807208"/>
            <a:ext cx="7315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0" y="2916936"/>
            <a:ext cx="6400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54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2807208"/>
            <a:ext cx="7315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9600" y="2916936"/>
            <a:ext cx="6400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2807208"/>
            <a:ext cx="109728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0" y="2916936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3282696"/>
            <a:ext cx="100584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3392424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50" b="0">
                <a:solidFill>
                  <a:srgbClr val="233142"/>
                </a:solidFill>
                <a:latin typeface="Aptos"/>
              </a:rPr>
              <a:t>P003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52360" y="3282696"/>
            <a:ext cx="73152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98080" y="3392424"/>
            <a:ext cx="6400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72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3282696"/>
            <a:ext cx="73152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0" y="3392424"/>
            <a:ext cx="6400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400" y="3282696"/>
            <a:ext cx="1097280" cy="438912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1120" y="3392424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Medicine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patient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18288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929384"/>
            <a:ext cx="16824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874519"/>
            <a:ext cx="20116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70632" y="1929384"/>
            <a:ext cx="18653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birth_date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874519"/>
            <a:ext cx="10972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82312" y="1929384"/>
            <a:ext cx="9509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874519"/>
            <a:ext cx="18288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79592" y="1929384"/>
            <a:ext cx="16824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region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331720"/>
            <a:ext cx="18288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41448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20" b="0">
                <a:solidFill>
                  <a:srgbClr val="233142"/>
                </a:solidFill>
                <a:latin typeface="Aptos"/>
              </a:rPr>
              <a:t>P001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331720"/>
            <a:ext cx="201168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2441448"/>
            <a:ext cx="1920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1959-04-12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2331720"/>
            <a:ext cx="109728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54880" y="2441448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2331720"/>
            <a:ext cx="18288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852160" y="2441448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Lombardy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862072"/>
            <a:ext cx="182880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971800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20" b="0">
                <a:solidFill>
                  <a:srgbClr val="233142"/>
                </a:solidFill>
                <a:latin typeface="Aptos"/>
              </a:rPr>
              <a:t>P002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2862072"/>
            <a:ext cx="201168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2971800"/>
            <a:ext cx="1920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1972-10-04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60" y="2862072"/>
            <a:ext cx="109728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54880" y="2971800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2862072"/>
            <a:ext cx="182880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52160" y="2971800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Lazio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392424"/>
            <a:ext cx="18288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502152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20" b="0">
                <a:solidFill>
                  <a:srgbClr val="233142"/>
                </a:solidFill>
                <a:latin typeface="Aptos"/>
              </a:rPr>
              <a:t>P003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3392424"/>
            <a:ext cx="201168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0" y="3502152"/>
            <a:ext cx="1920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1948-01-28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09160" y="3392424"/>
            <a:ext cx="109728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3502152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806440" y="3392424"/>
            <a:ext cx="18288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852160" y="3502152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20" b="0">
                <a:solidFill>
                  <a:srgbClr val="233142"/>
                </a:solidFill>
                <a:latin typeface="Aptos"/>
              </a:rPr>
              <a:t>Piedmont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55279" y="1874519"/>
            <a:ext cx="2377440" cy="10515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83296" y="1965960"/>
            <a:ext cx="212140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Primary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83296" y="2221991"/>
            <a:ext cx="212140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patient_id uniquely identifies each patient.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955279" y="3246120"/>
            <a:ext cx="2377440" cy="10515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83296" y="3337560"/>
            <a:ext cx="212140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Important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83296" y="3593591"/>
            <a:ext cx="212140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Identifiers must be managed carefully for privacy and linkage.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encounter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18288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929384"/>
            <a:ext cx="16824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encounter_id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874519"/>
            <a:ext cx="16459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70632" y="1929384"/>
            <a:ext cx="149961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74519"/>
            <a:ext cx="16459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16552" y="1929384"/>
            <a:ext cx="149961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874519"/>
            <a:ext cx="18288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62472" y="1929384"/>
            <a:ext cx="16824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2331720"/>
            <a:ext cx="18288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41448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233142"/>
                </a:solidFill>
                <a:latin typeface="Aptos"/>
              </a:rPr>
              <a:t>E001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97480" y="2331720"/>
            <a:ext cx="164592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0" y="2441448"/>
            <a:ext cx="1554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P001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2331720"/>
            <a:ext cx="164592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89120" y="2441448"/>
            <a:ext cx="1554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2026-09-10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20" y="2331720"/>
            <a:ext cx="18288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35040" y="2441448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" y="2862072"/>
            <a:ext cx="182880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2971800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233142"/>
                </a:solidFill>
                <a:latin typeface="Aptos"/>
              </a:rPr>
              <a:t>E002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97480" y="2862072"/>
            <a:ext cx="164592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0" y="2971800"/>
            <a:ext cx="1554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P001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2862072"/>
            <a:ext cx="164592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389120" y="2971800"/>
            <a:ext cx="1554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2026-09-12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89320" y="2862072"/>
            <a:ext cx="182880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971800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Ward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392424"/>
            <a:ext cx="18288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502152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233142"/>
                </a:solidFill>
                <a:latin typeface="Aptos"/>
              </a:rPr>
              <a:t>E003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697480" y="3392424"/>
            <a:ext cx="164592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0" y="3502152"/>
            <a:ext cx="1554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P002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3392424"/>
            <a:ext cx="164592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9120" y="3502152"/>
            <a:ext cx="15544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2026-09-14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89320" y="3392424"/>
            <a:ext cx="18288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35040" y="3502152"/>
            <a:ext cx="17373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Outpatient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01000" y="1874519"/>
            <a:ext cx="246888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29016" y="1965960"/>
            <a:ext cx="221284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Foreign 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9016" y="2221991"/>
            <a:ext cx="22128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patient_id links each encounter to the patient table.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3246120"/>
            <a:ext cx="246888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29016" y="3337560"/>
            <a:ext cx="221284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Clinical meaning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29016" y="3593591"/>
            <a:ext cx="22128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An encounter is a context in which care is delivered.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CORE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observation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10972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929384"/>
            <a:ext cx="9509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obs_id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874519"/>
            <a:ext cx="14630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01952" y="1929384"/>
            <a:ext cx="131673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patient_id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39" y="1874519"/>
            <a:ext cx="173736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64991" y="1929384"/>
            <a:ext cx="159105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74519"/>
            <a:ext cx="10058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02352" y="1929384"/>
            <a:ext cx="85953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value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74519"/>
            <a:ext cx="10058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08192" y="1929384"/>
            <a:ext cx="85953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unit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331720"/>
            <a:ext cx="109728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2441448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40" b="0">
                <a:solidFill>
                  <a:srgbClr val="233142"/>
                </a:solidFill>
                <a:latin typeface="Aptos"/>
              </a:rPr>
              <a:t>O001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28800" y="2331720"/>
            <a:ext cx="146304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74519" y="2441448"/>
            <a:ext cx="13716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P001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39" y="2331720"/>
            <a:ext cx="173736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37559" y="2441448"/>
            <a:ext cx="164591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glucose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2331720"/>
            <a:ext cx="100584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441448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110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35040" y="2331720"/>
            <a:ext cx="100584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59" y="2441448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mg/dL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62072"/>
            <a:ext cx="109728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77240" y="2971800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40" b="0">
                <a:solidFill>
                  <a:srgbClr val="233142"/>
                </a:solidFill>
                <a:latin typeface="Aptos"/>
              </a:rPr>
              <a:t>O002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28800" y="2862072"/>
            <a:ext cx="146304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74519" y="2971800"/>
            <a:ext cx="13716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P001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39" y="2862072"/>
            <a:ext cx="173736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337559" y="2971800"/>
            <a:ext cx="164591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heart_rate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0" y="2862072"/>
            <a:ext cx="100584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74920" y="2971800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82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35040" y="2862072"/>
            <a:ext cx="100584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80759" y="2971800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bpm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392424"/>
            <a:ext cx="109728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" y="3502152"/>
            <a:ext cx="100583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40" b="0">
                <a:solidFill>
                  <a:srgbClr val="233142"/>
                </a:solidFill>
                <a:latin typeface="Aptos"/>
              </a:rPr>
              <a:t>O003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3392424"/>
            <a:ext cx="146304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874519" y="3502152"/>
            <a:ext cx="13716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P002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39" y="3392424"/>
            <a:ext cx="173736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7559" y="3502152"/>
            <a:ext cx="1645919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HbA1c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29200" y="3392424"/>
            <a:ext cx="100584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74920" y="3502152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7.2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3392424"/>
            <a:ext cx="100584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80759" y="3502152"/>
            <a:ext cx="91440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40" b="0">
                <a:solidFill>
                  <a:srgbClr val="233142"/>
                </a:solidFill>
                <a:latin typeface="Aptos"/>
              </a:rPr>
              <a:t>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43800" y="1965960"/>
            <a:ext cx="283464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71816" y="2057400"/>
            <a:ext cx="257860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Observation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71816" y="2313432"/>
            <a:ext cx="2578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measured fact about the patient at a time or in a context.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43800" y="3063240"/>
            <a:ext cx="283464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71816" y="3154680"/>
            <a:ext cx="257860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fields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71816" y="3410712"/>
            <a:ext cx="2578608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code, value, unit and timestamp are essential.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RELATIONAL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Connecting tables with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743200"/>
            <a:ext cx="118872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86400" y="2743200"/>
            <a:ext cx="118872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22960" y="2176272"/>
            <a:ext cx="2011680" cy="10515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267712"/>
            <a:ext cx="175564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523744"/>
            <a:ext cx="17556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patient_id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age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sex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176272"/>
            <a:ext cx="164592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5655" y="2267712"/>
            <a:ext cx="138988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Encounter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5" y="2523744"/>
            <a:ext cx="138988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encounter_id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patient_id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2176272"/>
            <a:ext cx="192024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48855" y="2267712"/>
            <a:ext cx="166420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48855" y="2523744"/>
            <a:ext cx="166420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obs_id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patient_id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069080"/>
            <a:ext cx="93268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0">
                <a:solidFill>
                  <a:srgbClr val="233142"/>
                </a:solidFill>
                <a:latin typeface="Aptos"/>
              </a:rPr>
              <a:t>Keys allow the system to reconstruct a longitudinal patient record from multiple specialized tables.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TIME IN CLINICAL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Timestamps are part of the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events occur over time and must be ordered correctly.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measurement without time may be difficult to interpret.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value can have different meaning depending on when it was measured.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Time fields support trends, windows, alerts and longitudinal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20240"/>
            <a:ext cx="3840480" cy="77724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74536" y="2011680"/>
            <a:ext cx="358444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74536" y="2267712"/>
            <a:ext cx="3584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2026-09-24 08:15 · glucose = 62 mg/dL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2926080"/>
            <a:ext cx="384048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74536" y="3017520"/>
            <a:ext cx="358444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Algorithmic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3273552"/>
            <a:ext cx="358444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detect low value, compute trend, trigger alert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SEMI-STRUCTURED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JSON: JavaScript Object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JSON stores data as name–value pairs and nested objects.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human-readable and widely used in web APIs.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flexible enough to represent complex clinical resources.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Many FHIR resources can be represented in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023360" cy="237744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1975104"/>
            <a:ext cx="369417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60">
                <a:solidFill>
                  <a:srgbClr val="0D3161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160">
                <a:solidFill>
                  <a:srgbClr val="0D3161"/>
                </a:solidFill>
                <a:latin typeface="Courier New"/>
              </a:defRPr>
            </a:pPr>
            <a:r>
              <a:t>  "patient_id": "P001",</a:t>
            </a:r>
          </a:p>
          <a:p>
            <a:pPr>
              <a:spcAft>
                <a:spcPts val="100"/>
              </a:spcAft>
              <a:defRPr sz="1160">
                <a:solidFill>
                  <a:srgbClr val="0D3161"/>
                </a:solidFill>
                <a:latin typeface="Courier New"/>
              </a:defRPr>
            </a:pPr>
            <a:r>
              <a:t>  "observation": {</a:t>
            </a:r>
          </a:p>
          <a:p>
            <a:pPr>
              <a:spcAft>
                <a:spcPts val="100"/>
              </a:spcAft>
              <a:defRPr sz="1160">
                <a:solidFill>
                  <a:srgbClr val="0D3161"/>
                </a:solidFill>
                <a:latin typeface="Courier New"/>
              </a:defRPr>
            </a:pPr>
            <a:r>
              <a:t>    "code": "glucose",</a:t>
            </a:r>
          </a:p>
          <a:p>
            <a:pPr>
              <a:spcAft>
                <a:spcPts val="100"/>
              </a:spcAft>
              <a:defRPr sz="1160">
                <a:solidFill>
                  <a:srgbClr val="0D3161"/>
                </a:solidFill>
                <a:latin typeface="Courier New"/>
              </a:defRPr>
            </a:pPr>
            <a:r>
              <a:t>    "value": 110,</a:t>
            </a:r>
          </a:p>
          <a:p>
            <a:pPr>
              <a:spcAft>
                <a:spcPts val="100"/>
              </a:spcAft>
              <a:defRPr sz="1160">
                <a:solidFill>
                  <a:srgbClr val="0D3161"/>
                </a:solidFill>
                <a:latin typeface="Courier New"/>
              </a:defRPr>
            </a:pPr>
            <a:r>
              <a:t>    "unit": "mg/dL"</a:t>
            </a:r>
          </a:p>
          <a:p>
            <a:pPr>
              <a:spcAft>
                <a:spcPts val="100"/>
              </a:spcAft>
              <a:defRPr sz="1160">
                <a:solidFill>
                  <a:srgbClr val="0D3161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160">
                <a:solidFill>
                  <a:srgbClr val="0D3161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SEMI-STRUCTURED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XML: Extensible Markup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30352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XML represents data using nested tags.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has been used extensively in document exchange and healthcare messaging.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XML can be very explicit but also verbose.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Some healthcare interoperability standards can be represented in XML.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4023360" cy="237744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1975104"/>
            <a:ext cx="3694176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50">
                <a:solidFill>
                  <a:srgbClr val="0D3161"/>
                </a:solidFill>
                <a:latin typeface="Courier New"/>
              </a:defRPr>
            </a:pPr>
            <a:r>
              <a:t>&lt;Observation&gt;</a:t>
            </a:r>
          </a:p>
          <a:p>
            <a:pPr>
              <a:spcAft>
                <a:spcPts val="100"/>
              </a:spcAft>
              <a:defRPr sz="1150">
                <a:solidFill>
                  <a:srgbClr val="0D3161"/>
                </a:solidFill>
                <a:latin typeface="Courier New"/>
              </a:defRPr>
            </a:pPr>
            <a:r>
              <a:t>  &lt;PatientId&gt;P001&lt;/PatientId&gt;</a:t>
            </a:r>
          </a:p>
          <a:p>
            <a:pPr>
              <a:spcAft>
                <a:spcPts val="100"/>
              </a:spcAft>
              <a:defRPr sz="1150">
                <a:solidFill>
                  <a:srgbClr val="0D3161"/>
                </a:solidFill>
                <a:latin typeface="Courier New"/>
              </a:defRPr>
            </a:pPr>
            <a:r>
              <a:t>  &lt;Code&gt;glucose&lt;/Code&gt;</a:t>
            </a:r>
          </a:p>
          <a:p>
            <a:pPr>
              <a:spcAft>
                <a:spcPts val="100"/>
              </a:spcAft>
              <a:defRPr sz="1150">
                <a:solidFill>
                  <a:srgbClr val="0D3161"/>
                </a:solidFill>
                <a:latin typeface="Courier New"/>
              </a:defRPr>
            </a:pPr>
            <a:r>
              <a:t>  &lt;Value unit="mg/dL"&gt;110&lt;/Value&gt;</a:t>
            </a:r>
          </a:p>
          <a:p>
            <a:pPr>
              <a:spcAft>
                <a:spcPts val="100"/>
              </a:spcAft>
              <a:defRPr sz="1150">
                <a:solidFill>
                  <a:srgbClr val="0D3161"/>
                </a:solidFill>
                <a:latin typeface="Courier New"/>
              </a:defRPr>
            </a:pPr>
            <a:r>
              <a:t>&lt;/Observation&gt;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JSON vs XML in clinical exchange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01168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83664"/>
            <a:ext cx="186537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Aspect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828800"/>
            <a:ext cx="36576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53512" y="1883664"/>
            <a:ext cx="35112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828800"/>
            <a:ext cx="36576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1883664"/>
            <a:ext cx="35112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XML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286000"/>
            <a:ext cx="201168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95728"/>
            <a:ext cx="1920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233142"/>
                </a:solidFill>
                <a:latin typeface="Aptos"/>
              </a:rPr>
              <a:t>Style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0360" y="2286000"/>
            <a:ext cx="36576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2395728"/>
            <a:ext cx="35661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objects and arrays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2286000"/>
            <a:ext cx="36576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0" y="2395728"/>
            <a:ext cx="35661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nested tags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2816352"/>
            <a:ext cx="201168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2926080"/>
            <a:ext cx="1920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233142"/>
                </a:solidFill>
                <a:latin typeface="Aptos"/>
              </a:rPr>
              <a:t>Readability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2816352"/>
            <a:ext cx="365760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2926080"/>
            <a:ext cx="35661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compact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816352"/>
            <a:ext cx="365760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80" y="2926080"/>
            <a:ext cx="35661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explicit but verbose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3346704"/>
            <a:ext cx="201168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3456432"/>
            <a:ext cx="1920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233142"/>
                </a:solidFill>
                <a:latin typeface="Aptos"/>
              </a:rPr>
              <a:t>Common use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3346704"/>
            <a:ext cx="36576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0" y="3456432"/>
            <a:ext cx="35661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APIs and FHIR JSON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346704"/>
            <a:ext cx="3657600" cy="493775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456432"/>
            <a:ext cx="35661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messages and documents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" y="3877056"/>
            <a:ext cx="201168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3986784"/>
            <a:ext cx="192024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300" b="0">
                <a:solidFill>
                  <a:srgbClr val="233142"/>
                </a:solidFill>
                <a:latin typeface="Aptos"/>
              </a:rPr>
              <a:t>Structure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80360" y="3877056"/>
            <a:ext cx="365760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0" y="3986784"/>
            <a:ext cx="35661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flexible nesting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37960" y="3877056"/>
            <a:ext cx="3657600" cy="493775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0" y="3986784"/>
            <a:ext cx="35661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0">
                <a:solidFill>
                  <a:srgbClr val="233142"/>
                </a:solidFill>
                <a:latin typeface="Aptos"/>
              </a:rPr>
              <a:t>formal document structure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4617720"/>
            <a:ext cx="80467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82495" y="4709159"/>
            <a:ext cx="779068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Teaching 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82495" y="4965192"/>
            <a:ext cx="779068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Both formats solve the same general problem: exchanging structured information between systems.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CLINICAL 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free text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66928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Humans can understand many ways to write the same concept.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Computers need stable identifiers and controlled meanings.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Codes support search, billing, analytics, decision support and interoperability.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However, codes must be chosen and interpreted carefully.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65960"/>
            <a:ext cx="3566160" cy="68580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57400"/>
            <a:ext cx="33101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313432"/>
            <a:ext cx="3310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heart attack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80360"/>
            <a:ext cx="3566160" cy="68580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971800"/>
            <a:ext cx="33101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Standardized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27832"/>
            <a:ext cx="3310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myocardial infarction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794760"/>
            <a:ext cx="3566160" cy="6858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5976" y="3886200"/>
            <a:ext cx="33101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 b="1">
                <a:solidFill>
                  <a:srgbClr val="0D3161"/>
                </a:solidFill>
                <a:latin typeface="Aptos"/>
              </a:rPr>
              <a:t>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4142232"/>
            <a:ext cx="3310128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500">
                <a:solidFill>
                  <a:srgbClr val="233142"/>
                </a:solidFill>
                <a:latin typeface="Aptos"/>
              </a:defRPr>
            </a:pPr>
            <a:r>
              <a:t>system-specific identifier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CLINICAL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Classification vs terminology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6634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51713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Classification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429768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Groups concepts into categories.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Often used for reporting, statistics or reimbursement.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ICD diagnostic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Terminology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67712"/>
            <a:ext cx="4023360" cy="1666034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Represents clinical concepts with more detailed meaning.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Often used to encode clinical content.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SNOMED CT concepts.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4297680"/>
            <a:ext cx="7863840" cy="56692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73936" y="4389120"/>
            <a:ext cx="760780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4645152"/>
            <a:ext cx="76078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Both are important, but they serve different purposes.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CODING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Common examples in healthcare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880360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50" b="1">
                <a:solidFill>
                  <a:srgbClr val="0D3161"/>
                </a:solidFill>
                <a:latin typeface="Aptos"/>
              </a:rPr>
              <a:t>ICD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2624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diagnoses and classification of diseases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828800"/>
            <a:ext cx="2880360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50" b="1">
                <a:solidFill>
                  <a:srgbClr val="0D3161"/>
                </a:solidFill>
                <a:latin typeface="Aptos"/>
              </a:rPr>
              <a:t>SNOMED 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176272"/>
            <a:ext cx="2624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clinical terminology for detailed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98664" y="1828800"/>
            <a:ext cx="2880360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80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50" b="1">
                <a:solidFill>
                  <a:srgbClr val="0D3161"/>
                </a:solidFill>
                <a:latin typeface="Aptos"/>
              </a:rPr>
              <a:t>LOINC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176272"/>
            <a:ext cx="2624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laboratory tests and clinical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90672"/>
            <a:ext cx="2880360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5" y="3182112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50" b="1">
                <a:solidFill>
                  <a:srgbClr val="0D3161"/>
                </a:solidFill>
                <a:latin typeface="Aptos"/>
              </a:rPr>
              <a:t>Medication codes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" y="3438144"/>
            <a:ext cx="2624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drug vocabularies and medication identification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3090672"/>
            <a:ext cx="2880360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3182112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50" b="1">
                <a:solidFill>
                  <a:srgbClr val="0D3161"/>
                </a:solidFill>
                <a:latin typeface="Aptos"/>
              </a:rPr>
              <a:t>Procedure codes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438144"/>
            <a:ext cx="2624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procedures, interventions and activities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4" y="3090672"/>
            <a:ext cx="2880360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80" y="3182112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50" b="1">
                <a:solidFill>
                  <a:srgbClr val="0D3161"/>
                </a:solidFill>
                <a:latin typeface="Aptos"/>
              </a:rPr>
              <a:t>Local codes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3438144"/>
            <a:ext cx="2624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site-specific identifiers that may require mapping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DIAGNOSTIC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How diagnoses become computable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diagnosis table usually stores patient ID, encounter context, code and date.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code system must be specified, not only the code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same text label can map differently depending on the coding system.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Analytics often start by selecting patients with specific diagnosis codes.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965960"/>
            <a:ext cx="1143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2" y="2020824"/>
            <a:ext cx="9966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965960"/>
            <a:ext cx="9144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2672" y="2020824"/>
            <a:ext cx="76809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965960"/>
            <a:ext cx="7315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77072" y="2020824"/>
            <a:ext cx="58521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1965960"/>
            <a:ext cx="118872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08592" y="2020824"/>
            <a:ext cx="1042416" cy="21945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423160"/>
            <a:ext cx="1143000" cy="466344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2532888"/>
            <a:ext cx="10515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50" b="0">
                <a:solidFill>
                  <a:srgbClr val="233142"/>
                </a:solidFill>
                <a:latin typeface="Aptos"/>
              </a:rPr>
              <a:t>P001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2423160"/>
            <a:ext cx="914400" cy="466344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2532888"/>
            <a:ext cx="8229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ICD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423160"/>
            <a:ext cx="731520" cy="466344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49640" y="2532888"/>
            <a:ext cx="6400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E11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423160"/>
            <a:ext cx="1188720" cy="466344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81160" y="2532888"/>
            <a:ext cx="10972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2026-09-10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46520" y="2926080"/>
            <a:ext cx="11430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92240" y="3035808"/>
            <a:ext cx="10515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250" b="0">
                <a:solidFill>
                  <a:srgbClr val="233142"/>
                </a:solidFill>
                <a:latin typeface="Aptos"/>
              </a:rPr>
              <a:t>P002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2926080"/>
            <a:ext cx="91440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35240" y="3035808"/>
            <a:ext cx="82296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ICD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03920" y="2926080"/>
            <a:ext cx="73152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49640" y="3035808"/>
            <a:ext cx="6400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I10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926080"/>
            <a:ext cx="1188720" cy="466344"/>
          </a:xfrm>
          <a:prstGeom prst="roundRect">
            <a:avLst/>
          </a:prstGeom>
          <a:solidFill>
            <a:srgbClr val="FFFFFF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81160" y="3035808"/>
            <a:ext cx="1097280" cy="16459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50" b="0">
                <a:solidFill>
                  <a:srgbClr val="233142"/>
                </a:solidFill>
                <a:latin typeface="Aptos"/>
              </a:rPr>
              <a:t>2026-09-11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LABORATORY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observation codes and units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66928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laboratory value is not complete without its test identity and unit.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Different laboratories may use different local names.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Standard codes allow systems to understand that two records refer to the same type of test.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Units must be checked because values are not comparable if units differ.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920240"/>
            <a:ext cx="3657600" cy="777240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2011680"/>
            <a:ext cx="34015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267712"/>
            <a:ext cx="3401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value = 7.2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880360"/>
            <a:ext cx="3657600" cy="77724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971800"/>
            <a:ext cx="34015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Better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3227832"/>
            <a:ext cx="340156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HbA1c · value = 7.2 · unit =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840480"/>
            <a:ext cx="3657600" cy="5943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5976" y="3931920"/>
            <a:ext cx="34015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Best 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4187952"/>
            <a:ext cx="34015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include code system, code, value, unit and time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MEDICATION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 medication order as a structured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5029200" cy="306324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929384"/>
            <a:ext cx="4700016" cy="277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0D3161"/>
                </a:solidFill>
                <a:latin typeface="Courier New"/>
              </a:defRPr>
            </a:pPr>
            <a:r>
              <a:t>medication_order = {</a:t>
            </a:r>
          </a:p>
          <a:p>
            <a:pPr>
              <a:spcAft>
                <a:spcPts val="100"/>
              </a:spcAft>
              <a:defRPr sz="1280">
                <a:solidFill>
                  <a:srgbClr val="0D3161"/>
                </a:solidFill>
                <a:latin typeface="Courier New"/>
              </a:defRPr>
            </a:pPr>
            <a:r>
              <a:t>  patient_id: 'P001',</a:t>
            </a:r>
          </a:p>
          <a:p>
            <a:pPr>
              <a:spcAft>
                <a:spcPts val="100"/>
              </a:spcAft>
              <a:defRPr sz="1280">
                <a:solidFill>
                  <a:srgbClr val="0D3161"/>
                </a:solidFill>
                <a:latin typeface="Courier New"/>
              </a:defRPr>
            </a:pPr>
            <a:r>
              <a:t>  drug_code: '...',</a:t>
            </a:r>
          </a:p>
          <a:p>
            <a:pPr>
              <a:spcAft>
                <a:spcPts val="100"/>
              </a:spcAft>
              <a:defRPr sz="1280">
                <a:solidFill>
                  <a:srgbClr val="0D3161"/>
                </a:solidFill>
                <a:latin typeface="Courier New"/>
              </a:defRPr>
            </a:pPr>
            <a:r>
              <a:t>  dose: '500 mg',</a:t>
            </a:r>
          </a:p>
          <a:p>
            <a:pPr>
              <a:spcAft>
                <a:spcPts val="100"/>
              </a:spcAft>
              <a:defRPr sz="1280">
                <a:solidFill>
                  <a:srgbClr val="0D3161"/>
                </a:solidFill>
                <a:latin typeface="Courier New"/>
              </a:defRPr>
            </a:pPr>
            <a:r>
              <a:t>  route: 'oral',</a:t>
            </a:r>
          </a:p>
          <a:p>
            <a:pPr>
              <a:spcAft>
                <a:spcPts val="100"/>
              </a:spcAft>
              <a:defRPr sz="1280">
                <a:solidFill>
                  <a:srgbClr val="0D3161"/>
                </a:solidFill>
                <a:latin typeface="Courier New"/>
              </a:defRPr>
            </a:pPr>
            <a:r>
              <a:t>  frequency: 'twice daily',</a:t>
            </a:r>
          </a:p>
          <a:p>
            <a:pPr>
              <a:spcAft>
                <a:spcPts val="100"/>
              </a:spcAft>
              <a:defRPr sz="1280">
                <a:solidFill>
                  <a:srgbClr val="0D3161"/>
                </a:solidFill>
                <a:latin typeface="Courier New"/>
              </a:defRPr>
            </a:pPr>
            <a:r>
              <a:t>  start_date: '2026-09-24'</a:t>
            </a:r>
          </a:p>
          <a:p>
            <a:pPr>
              <a:spcAft>
                <a:spcPts val="100"/>
              </a:spcAft>
              <a:defRPr sz="1280">
                <a:solidFill>
                  <a:srgbClr val="0D3161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4389120" cy="292342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Medication records need multiple fields, not only a drug name.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Dose, route, frequency and time are clinically essential.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Standardized drug identifiers help avoid ambiguity.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TERMINOLOGY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Local codes and standard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360" y="2788920"/>
            <a:ext cx="105156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675120" y="2788920"/>
            <a:ext cx="1051559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68680" y="2240280"/>
            <a:ext cx="2011680" cy="10515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5" y="2331720"/>
            <a:ext cx="175564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Local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587752"/>
            <a:ext cx="175564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GLU_FAST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local lab system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2240280"/>
            <a:ext cx="260604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05655" y="2331720"/>
            <a:ext cx="235000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Mapping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05655" y="2587752"/>
            <a:ext cx="235000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local code → standard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2240280"/>
            <a:ext cx="2148840" cy="10515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00416" y="2331720"/>
            <a:ext cx="189280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 dirty="0">
                <a:solidFill>
                  <a:srgbClr val="0D3161"/>
                </a:solidFill>
                <a:latin typeface="Aptos"/>
              </a:rPr>
              <a:t>Standard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0416" y="2587752"/>
            <a:ext cx="189280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shared meaning</a:t>
            </a:r>
          </a:p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across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23360"/>
            <a:ext cx="94183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800" b="1">
                <a:solidFill>
                  <a:srgbClr val="276FBF"/>
                </a:solidFill>
                <a:latin typeface="Aptos"/>
              </a:rPr>
              <a:t>Mapping is one of the most important practical tasks in health-data integration.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INTEROPERABILITY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The problem: systems must exchange meaning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18343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Hospitals, laboratories, imaging systems and regional platforms may all store data differently.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Interoperability means that systems can exchange and use information correctly.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It requires both technical exchange and semantic agreement.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dirty="0"/>
              <a:t>Standards define how data are structured, transported and interpreted.</a:t>
            </a:r>
          </a:p>
        </p:txBody>
      </p:sp>
      <p:pic>
        <p:nvPicPr>
          <p:cNvPr id="7" name="Picture 6" descr="wide_clean_vector_illustration_scene_on_a_pale_b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783080"/>
            <a:ext cx="4389120" cy="247019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INTEROPERABILITY STANDARDS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HL7: exchanging healthcare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HL7 is a family of standards for healthcare data exchange.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Traditional HL7 messages are widely used in hospital integration.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Messages can transmit events such as admissions, discharges, orders and results.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key idea is to define a common structure for communication between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2011680"/>
            <a:ext cx="365760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20255" y="2103120"/>
            <a:ext cx="34015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 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5" y="235915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new laboratory result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926080"/>
            <a:ext cx="365760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5" y="3017520"/>
            <a:ext cx="34015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0255" y="327355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laboratory information 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3840480"/>
            <a:ext cx="3657600" cy="7315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0255" y="3931920"/>
            <a:ext cx="34015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Receiver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5" y="4187952"/>
            <a:ext cx="340156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electronic health record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FHIR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Fast Healthcare Interoperability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669280" cy="4538743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FHIR organizes healthcare information into modular resources.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resource is a structured representation of a clinical or administrative concept.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Examples include Patient, Encounter, Observation, Condition and </a:t>
            </a:r>
            <a:r>
              <a:rPr sz="2400" dirty="0" err="1"/>
              <a:t>MedicationRequest</a:t>
            </a:r>
            <a:r>
              <a:rPr sz="2400" dirty="0"/>
              <a:t>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FHIR is often exchanged using modern web technologies and formats such as JSON.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37960" y="1828800"/>
            <a:ext cx="3566160" cy="64008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65976" y="1920240"/>
            <a:ext cx="33101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Patient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65976" y="2176272"/>
            <a:ext cx="33101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who the data are about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633472"/>
            <a:ext cx="3566160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65976" y="2724912"/>
            <a:ext cx="33101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Observation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976" y="2980944"/>
            <a:ext cx="33101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measured clinical fact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438144"/>
            <a:ext cx="3566160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65976" y="3529584"/>
            <a:ext cx="33101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Condition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5976" y="3785615"/>
            <a:ext cx="33101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diagnosis or clinical problem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242816"/>
            <a:ext cx="3566160" cy="6400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65976" y="4334255"/>
            <a:ext cx="33101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MedicationRequest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4590288"/>
            <a:ext cx="3310128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50">
                <a:solidFill>
                  <a:srgbClr val="233142"/>
                </a:solidFill>
                <a:latin typeface="Aptos"/>
              </a:defRPr>
            </a:pPr>
            <a:r>
              <a:t>ordered medication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FHIR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Observation resource: simplified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5257800" cy="3246120"/>
          </a:xfrm>
          <a:prstGeom prst="roundRect">
            <a:avLst/>
          </a:prstGeom>
          <a:solidFill>
            <a:srgbClr val="F6F9FD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883664"/>
            <a:ext cx="4928616" cy="2953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"resourceType": "Observation",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"status": "final",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"code": { ... },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"subject": {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  "reference": "Patient/P001"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},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"valueQuantity": {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  "value": 110,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  "unit": "mg/dL"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070">
                <a:solidFill>
                  <a:srgbClr val="0D3161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2062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resource declares what kind of object it is.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subject links the observation to a patient.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value has both number and unit.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5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structure is designed for exchange between systems.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Mapping EHR tables to FHIR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43200" y="2834640"/>
            <a:ext cx="1097280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400800" y="2834640"/>
            <a:ext cx="1097279" cy="0"/>
          </a:xfrm>
          <a:prstGeom prst="line">
            <a:avLst/>
          </a:prstGeom>
          <a:ln w="22860">
            <a:solidFill>
              <a:srgbClr val="34AD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68680" y="2286000"/>
            <a:ext cx="1965960" cy="1051560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96695" y="2377440"/>
            <a:ext cx="17099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Local EHR table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2633472"/>
            <a:ext cx="170992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patient_id</a:t>
            </a:r>
          </a:p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lab_code</a:t>
            </a:r>
          </a:p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value</a:t>
            </a:r>
          </a:p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286000"/>
            <a:ext cx="2514600" cy="105156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14215" y="2377440"/>
            <a:ext cx="22585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Mapping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4215" y="2633472"/>
            <a:ext cx="22585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field mapping</a:t>
            </a:r>
          </a:p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code mapping</a:t>
            </a:r>
          </a:p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unit checking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286000"/>
            <a:ext cx="2057400" cy="1051560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71816" y="2377440"/>
            <a:ext cx="180136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FHIR resource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71816" y="2633472"/>
            <a:ext cx="1801368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Observation</a:t>
            </a:r>
          </a:p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Patient reference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9509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700" b="0">
                <a:solidFill>
                  <a:srgbClr val="233142"/>
                </a:solidFill>
                <a:latin typeface="Aptos"/>
              </a:rPr>
              <a:t>Interoperability requires transforming local structures into shared structures without losing meaning.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DATA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Structured data can still be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880360" cy="896112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Missingness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required field absent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828800"/>
            <a:ext cx="2880360" cy="896112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Invalid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17627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negative age or impossible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98664" y="1828800"/>
            <a:ext cx="2880360" cy="896112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80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Wrong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17627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mg/dL vs mmol/L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63240"/>
            <a:ext cx="2880360" cy="896112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5" y="315468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Duplicate records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" y="341071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same observation entered twice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3063240"/>
            <a:ext cx="2880360" cy="896112"/>
          </a:xfrm>
          <a:prstGeom prst="roundRect">
            <a:avLst/>
          </a:prstGeom>
          <a:solidFill>
            <a:srgbClr val="FCE8E8"/>
          </a:solidFill>
          <a:ln>
            <a:solidFill>
              <a:srgbClr val="FCE8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315468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Coding errors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41071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wrong diagnosis or local code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4" y="3063240"/>
            <a:ext cx="2880360" cy="896112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80" y="315468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Time inconsistencies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341071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event recorded in wrong order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HEALTHCARE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Privacy and security are part of the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Clinical data are sensitive and must be protected.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Identifiers should be managed carefully and access should be controlled.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Audit trails record who accessed or modified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Data structures should support traceability, not only storage.</a:t>
            </a:r>
          </a:p>
        </p:txBody>
      </p:sp>
      <p:pic>
        <p:nvPicPr>
          <p:cNvPr id="7" name="Picture 6" descr="wide_clean_vector_illustration_scene_on_a_pale_bl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828800"/>
            <a:ext cx="4023360" cy="226434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DESIGN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Questions before designing a healthcare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2880360" cy="8961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What is the entity?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patient, encounter, observation, medication, document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672" y="1828800"/>
            <a:ext cx="2880360" cy="8961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61688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What is the identifier?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217627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primary key and link to other entities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98664" y="1828800"/>
            <a:ext cx="2880360" cy="8961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26680" y="192024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What is the time field?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80" y="217627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timestamp, start/end date or episode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063240"/>
            <a:ext cx="2880360" cy="8961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6695" y="315468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Which code system?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5" y="341071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ICD, SNOMED CT, LOINC or local 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33672" y="3063240"/>
            <a:ext cx="2880360" cy="8961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61688" y="315468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What is the unit?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61688" y="341071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especially for measurements and doses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98664" y="3063240"/>
            <a:ext cx="2880360" cy="89611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26680" y="3154680"/>
            <a:ext cx="2624328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20" b="1">
                <a:solidFill>
                  <a:srgbClr val="0D3161"/>
                </a:solidFill>
                <a:latin typeface="Aptos"/>
              </a:rPr>
              <a:t>How is it exchanged?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80" y="3410712"/>
            <a:ext cx="2624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80">
                <a:solidFill>
                  <a:srgbClr val="233142"/>
                </a:solidFill>
                <a:latin typeface="Aptos"/>
              </a:defRPr>
            </a:pPr>
            <a:r>
              <a:t>table, JSON, XML, HL7 or FHIR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Design a clinical observation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13232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Design the data structure for a glucose measurement.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Include patient identifier, timestamp, code, value, unit and source device.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Decide whether you would store it in a table, JSON object or FHIR-like resource.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how the structure would support an alert algorithm.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6596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7616" y="2057400"/>
            <a:ext cx="1847087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2313432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fields + representation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7616" y="3108960"/>
            <a:ext cx="1847087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364991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069080"/>
            <a:ext cx="21031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7616" y="4160520"/>
            <a:ext cx="1847087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416552"/>
            <a:ext cx="18470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clinical meaning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the main difference between EMR and EHR?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50098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EHR is broader and more interoperable.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Why do we need clinical codes?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To make clinical meaning computable.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does JSON represent well?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4564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Nested semi-structured data.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011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a FHIR resource?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4564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modular healthcare data structure for exchange.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4754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382726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Digital healthcare depends on well-designed data structures.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EHR and EMR systems organize patients, encounters, observations, diagnoses, medications and documents.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Tables are essential for structured data; JSON and XML support semi-structured exchange.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Codes and terminologies give clinical concepts computable meaning.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HL7/FHIR interoperability helps different systems exchange healthcare data more consistently.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2348</Words>
  <Application>Microsoft Macintosh PowerPoint</Application>
  <PresentationFormat>Widescreen</PresentationFormat>
  <Paragraphs>533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2026-09-24T19:46:46Z</dcterms:modified>
  <cp:category/>
</cp:coreProperties>
</file>