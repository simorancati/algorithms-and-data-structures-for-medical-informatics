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1"/>
  </p:normalViewPr>
  <p:slideViewPr>
    <p:cSldViewPr snapToGrid="0" snapToObjects="1">
      <p:cViewPr varScale="1">
        <p:scale>
          <a:sx n="103" d="100"/>
          <a:sy n="103" d="100"/>
        </p:scale>
        <p:origin x="8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5303520" cy="621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03908"/>
            <a:ext cx="54864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 dirty="0">
                <a:solidFill>
                  <a:srgbClr val="276FBF"/>
                </a:solidFill>
                <a:latin typeface="Aptos Display"/>
              </a:rPr>
              <a:t>Lesson 23 — Laboratory: Building a Complete Biomedical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4340"/>
            <a:ext cx="566928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0" dirty="0">
                <a:solidFill>
                  <a:srgbClr val="5E778F"/>
                </a:solidFill>
                <a:latin typeface="Aptos"/>
              </a:rPr>
              <a:t>Clinical dataset → data structure → preprocessing → algorithm → training → prediction →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808755"/>
            <a:ext cx="493776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21 October 2026 · 09:30–11:30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a_clean_modern_vector_flat_illustration_with_a_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29745"/>
            <a:ext cx="5488973" cy="30891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Laboratory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Define the clinical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472182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What exactly are we predicting?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Inspect the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240279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Rows, columns, types and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Preprocess safely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40279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Missing values, encoding and scaling.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918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Train a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6616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Baseline algorithm and reproducible pipeline.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918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Generate predictions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56616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Classes and probabilities.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6616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Metrics, errors and clinical interpretation.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LABORATORY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47088"/>
            <a:ext cx="7315200" cy="2743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Build a complete supervised-learning pipeline from a clinical table.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Separate features from the target correctly.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Apply preprocessing without data leakage.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Train and compare at least two baseline models.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Generate class predictions and probabilities.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Evaluate the model with clinically meaningful metrics.</a:t>
            </a:r>
          </a:p>
        </p:txBody>
      </p:sp>
      <p:pic>
        <p:nvPicPr>
          <p:cNvPr id="7" name="Picture 6" descr="wide_clean_medical_biotech_concept_illustration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1989987"/>
            <a:ext cx="3728234" cy="20982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LABORATORY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Clinical deterioration within 24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669280" cy="2651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Illustrative task: predict whether a hospitalized patient will clinically deteriorate within the next 24 hours.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Target: deterioration = 1, no deterioration = 0.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Inputs: demographic, vital-sign and laboratory variables measured before the prediction time.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This is a binary classification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20240"/>
            <a:ext cx="3474720" cy="82296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11696" y="2011680"/>
            <a:ext cx="321868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Clinical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1696" y="2286000"/>
            <a:ext cx="321868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Who may need closer monitoring?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971800"/>
            <a:ext cx="3474720" cy="8229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11696" y="3063240"/>
            <a:ext cx="321868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ML formulation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1696" y="3337560"/>
            <a:ext cx="321868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Binary classification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COMPLETE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pipeline we will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240280"/>
            <a:ext cx="1508760" cy="8961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12527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06040"/>
            <a:ext cx="1252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clinical table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30552" y="2688336"/>
            <a:ext cx="338328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96312" y="2240280"/>
            <a:ext cx="1508760" cy="896112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24328" y="2331720"/>
            <a:ext cx="12527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2606040"/>
            <a:ext cx="1252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X + 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05072" y="2688336"/>
            <a:ext cx="338328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70831" y="2240280"/>
            <a:ext cx="1508760" cy="896112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7" y="2331720"/>
            <a:ext cx="12527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Preprocess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7" y="2606040"/>
            <a:ext cx="1252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impute / encode / scale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79592" y="2688336"/>
            <a:ext cx="338328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45351" y="2240280"/>
            <a:ext cx="1508760" cy="896112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7" y="2331720"/>
            <a:ext cx="12527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7" y="2606040"/>
            <a:ext cx="1252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train algorithm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54112" y="2688336"/>
            <a:ext cx="338328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19871" y="2240280"/>
            <a:ext cx="1508760" cy="8961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2331720"/>
            <a:ext cx="12527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606040"/>
            <a:ext cx="1252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class + probability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28632" y="2688336"/>
            <a:ext cx="338327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94392" y="2240280"/>
            <a:ext cx="1508760" cy="896112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22408" y="2331720"/>
            <a:ext cx="12527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22408" y="2606040"/>
            <a:ext cx="1252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metrics +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77639"/>
            <a:ext cx="941832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 b="1">
                <a:solidFill>
                  <a:srgbClr val="0D3161"/>
                </a:solidFill>
                <a:latin typeface="Aptos"/>
              </a:rPr>
              <a:t>Every step must be reproducible and must preserve the separation between training and test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Illustrative clinical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4173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37943"/>
            <a:ext cx="127101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patient_id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783080"/>
            <a:ext cx="16916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04872" y="1837943"/>
            <a:ext cx="154533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783080"/>
            <a:ext cx="16002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33672" y="1837943"/>
            <a:ext cx="14538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heart_rate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17830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71032" y="1837943"/>
            <a:ext cx="163677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SpO₂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783080"/>
            <a:ext cx="150876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91272" y="1837943"/>
            <a:ext cx="136245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CRP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1783080"/>
            <a:ext cx="16916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37192" y="1837943"/>
            <a:ext cx="154533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deterioration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331720"/>
            <a:ext cx="141732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2432303"/>
            <a:ext cx="134416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P001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2331720"/>
            <a:ext cx="169164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68296" y="2432303"/>
            <a:ext cx="161848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72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2331720"/>
            <a:ext cx="160020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97096" y="2432303"/>
            <a:ext cx="1527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105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2331720"/>
            <a:ext cx="178308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34456" y="2432303"/>
            <a:ext cx="170992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90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2331720"/>
            <a:ext cx="150876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54696" y="2432303"/>
            <a:ext cx="143560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18.2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2331720"/>
            <a:ext cx="1691640" cy="475488"/>
          </a:xfrm>
          <a:prstGeom prst="roundRect">
            <a:avLst/>
          </a:prstGeom>
          <a:solidFill>
            <a:srgbClr val="FCE8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0615" y="2432303"/>
            <a:ext cx="161848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898648"/>
            <a:ext cx="141732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" y="2999232"/>
            <a:ext cx="134416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P002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2898648"/>
            <a:ext cx="169164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68296" y="2999232"/>
            <a:ext cx="161848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48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2898648"/>
            <a:ext cx="160020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97096" y="2999232"/>
            <a:ext cx="1527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78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2898648"/>
            <a:ext cx="178308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34456" y="2999232"/>
            <a:ext cx="170992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97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2898648"/>
            <a:ext cx="150876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54696" y="2999232"/>
            <a:ext cx="143560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2.4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64040" y="2898648"/>
            <a:ext cx="1691640" cy="475488"/>
          </a:xfrm>
          <a:prstGeom prst="roundRect">
            <a:avLst/>
          </a:prstGeom>
          <a:solidFill>
            <a:srgbClr val="ECF8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00615" y="2999232"/>
            <a:ext cx="161848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3465576"/>
            <a:ext cx="141732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" y="3566160"/>
            <a:ext cx="134416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P003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31720" y="3465576"/>
            <a:ext cx="169164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68296" y="3566160"/>
            <a:ext cx="161848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65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60520" y="3465576"/>
            <a:ext cx="160020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97096" y="3566160"/>
            <a:ext cx="1527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96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97880" y="3465576"/>
            <a:ext cx="178308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34456" y="3566160"/>
            <a:ext cx="170992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93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18120" y="3465576"/>
            <a:ext cx="150876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54696" y="3566160"/>
            <a:ext cx="143560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11.8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64040" y="3465576"/>
            <a:ext cx="1691640" cy="475488"/>
          </a:xfrm>
          <a:prstGeom prst="roundRect">
            <a:avLst/>
          </a:prstGeom>
          <a:solidFill>
            <a:srgbClr val="FCE8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500615" y="3566160"/>
            <a:ext cx="161848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" y="4032504"/>
            <a:ext cx="141732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" y="4133088"/>
            <a:ext cx="134416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P004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31720" y="4032504"/>
            <a:ext cx="169164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368296" y="4133088"/>
            <a:ext cx="161848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34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60520" y="4032504"/>
            <a:ext cx="160020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97096" y="4133088"/>
            <a:ext cx="1527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72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897880" y="4032504"/>
            <a:ext cx="178308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34456" y="4133088"/>
            <a:ext cx="170992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98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18120" y="4032504"/>
            <a:ext cx="150876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54696" y="4133088"/>
            <a:ext cx="143560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1.2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464040" y="4032504"/>
            <a:ext cx="1691640" cy="475488"/>
          </a:xfrm>
          <a:prstGeom prst="roundRect">
            <a:avLst/>
          </a:prstGeom>
          <a:solidFill>
            <a:srgbClr val="ECF8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500615" y="4133088"/>
            <a:ext cx="161848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2960" y="4599431"/>
            <a:ext cx="141732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9536" y="4700016"/>
            <a:ext cx="134416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P005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331720" y="4599431"/>
            <a:ext cx="169164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368296" y="4700016"/>
            <a:ext cx="161848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81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60520" y="4599431"/>
            <a:ext cx="160020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197096" y="4700016"/>
            <a:ext cx="1527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110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897880" y="4599431"/>
            <a:ext cx="178308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34456" y="4700016"/>
            <a:ext cx="170992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91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818120" y="4599431"/>
            <a:ext cx="150876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854696" y="4700016"/>
            <a:ext cx="143560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—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464040" y="4599431"/>
            <a:ext cx="1691640" cy="475488"/>
          </a:xfrm>
          <a:prstGeom prst="roundRect">
            <a:avLst/>
          </a:prstGeom>
          <a:solidFill>
            <a:srgbClr val="FCE8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500615" y="4700016"/>
            <a:ext cx="161848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does one row represent?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2651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One row should correspond to one prediction unit.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In this lab, one row represents one patient at one prediction time.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Columns contain features available before that time.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The target column contains the outcome we want to predict.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20240"/>
            <a:ext cx="356616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0255" y="201168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5" y="2286000"/>
            <a:ext cx="3310128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one patient observation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880360"/>
            <a:ext cx="3566160" cy="7772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0255" y="297180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5" y="3246120"/>
            <a:ext cx="3310128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age, heart rate, SpO₂, CRP,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840480"/>
            <a:ext cx="3566160" cy="7772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0255" y="393192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5" y="4206240"/>
            <a:ext cx="3310128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deterioration within 24 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TARGET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precise target comes before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651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The outcome must have a clinically meaningful definition.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The prediction horizon must be explicit: here, the next 24 hours.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The target must be determined independently of future information used as input.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Ambiguous target definitions produce ambiguous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FEATURE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can the model know at prediction time?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Allowed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8288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Age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Current vital signs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Laboratory values already available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Past diagnoses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Not allowed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8288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Outcome recorded later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Treatment started after deterioration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Future laboratory results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Post-event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97680"/>
            <a:ext cx="7498079" cy="54864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389120"/>
            <a:ext cx="724204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663440"/>
            <a:ext cx="7242047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Use only information that would truly exist when the prediction is made.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FIRST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Always inspect before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5212080" cy="23317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2002536"/>
            <a:ext cx="4882896" cy="2075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import pandas as pd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endParaRPr/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df = pd.read_csv("clinical_data.csv")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endParaRPr/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print(df.shape)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print(df.head())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print(df.dtypes)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print(df.isna().mean())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3931920" cy="21031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How many rows and columns?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Which columns are numeric or categorical?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How much missingness exists?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Is the target balanced?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SEPARATE INPUTS AND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X and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4937760" cy="169164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2048256"/>
            <a:ext cx="4608576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X = df.drop(columns=[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    "patient_id",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    "deterioration"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])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endParaRPr/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t>y = df["deterioration"]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920240"/>
            <a:ext cx="4297680" cy="19202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X contains the model inputs.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y contains the correct answer.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Identifiers are usually excluded from the predictive feature matrix.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TRAIN/TEST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Create an untouched final test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5303520" cy="21031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2002536"/>
            <a:ext cx="4974336" cy="184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from sklearn.model_selection import train_test_split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endParaRPr/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X_train, X_test, y_train, y_test = train_test_split(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X, y,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test_size=0.20,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stratify=y,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random_state=42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3657600" cy="7772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8816" y="2057400"/>
            <a:ext cx="34015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Training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2331720"/>
            <a:ext cx="3401568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80% — model development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71800"/>
            <a:ext cx="3657600" cy="77724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8816" y="3063240"/>
            <a:ext cx="34015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Test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3337560"/>
            <a:ext cx="3401568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20% — final evaluation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LEAKAGE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Split before learning preprocessing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651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Imputation values must be learned from training data only.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Scaling parameters must be learned from training data only.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Feature selection must be learned from training data only.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The test set must never influence these steps.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MISSING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Step 1 — identify missingness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2651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Clinical datasets frequently contain missing measurements.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Missingness may differ strongly across variables.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The strategy should depend on variable type and clinical meaning.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For a baseline pipeline, simple imputation is a reasonable starting 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920240"/>
            <a:ext cx="356616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201168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Numeric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28600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median imputation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880360"/>
            <a:ext cx="3566160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297180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Categorical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24612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most frequent / explicit missing category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CATEGORICAL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Step 2 —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2651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Models require numeric representations.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A categorical variable such as sex or ward type cannot usually be passed as raw text.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One-hot encoding creates one binary column per category.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Encoding must be fitted using training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65960"/>
            <a:ext cx="35661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0255" y="205740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Raw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5" y="233172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ward = ICU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926080"/>
            <a:ext cx="356616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0255" y="301752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One-hot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5" y="329184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ICU=1 · Ward=0 · ER=0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NUMERIC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Step 3 —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2651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Variables may have very different ranges.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Scaling is important for algorithms such as logistic regression and k-NN.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Standardization transforms values using the training mean and standard deviation.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Tree-based models usually need scaling much less.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920240"/>
            <a:ext cx="35661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201168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Before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28600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age ≈ 20–90</a:t>
            </a:r>
          </a:p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CRP ≈ 0–200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017520"/>
            <a:ext cx="356616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310896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After standardization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383279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variables on comparable numerical scale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SAFE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ColumnTransformer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59"/>
            <a:ext cx="5669280" cy="4749937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865376"/>
            <a:ext cx="5340096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from sklearn.compose import ColumnTransformer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from sklearn.pipeline import Pipeline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from sklearn.impute import SimpleImputer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from sklearn.preprocessing import StandardScaler, OneHotEncoder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endParaRPr/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num_pipe = Pipeline([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    ("imputer", SimpleImputer(strategy="median")),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    ("scaler", StandardScaler())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])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endParaRPr/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cat_pipe = Pipeline([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    ("imputer", SimpleImputer(strategy="most_frequent")),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    ("onehot", OneHotEncoder(handle_unknown="ignore"))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])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endParaRPr/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preprocess = ColumnTransformer([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    ("num", num_pipe, numeric_cols),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    ("cat", cat_pipe, categorical_cols)</a:t>
            </a:r>
          </a:p>
          <a:p>
            <a:pPr>
              <a:spcAft>
                <a:spcPts val="0"/>
              </a:spcAft>
              <a:defRPr sz="1230">
                <a:solidFill>
                  <a:srgbClr val="0D3161"/>
                </a:solidFill>
                <a:latin typeface="Courier New"/>
              </a:defRPr>
            </a:pPr>
            <a:r>
              <a:t>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920240"/>
            <a:ext cx="3749039" cy="1645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Different preprocessing for different column types.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Everything is learned only from training data when placed inside a pipeline.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ALGORITHM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Start with a strong, interpretable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8288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Simple baseline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Outputs probabilities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Coefficients are interpretable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Needs scaling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8288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Nonlinear relationships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Feature interactions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Little need for scaling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Less directly interpretable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BUILD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Preprocessing +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5303520" cy="2413276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2002536"/>
            <a:ext cx="4974336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sklearn.linear_model</a:t>
            </a:r>
            <a:r>
              <a:rPr dirty="0"/>
              <a:t> import LogisticRegression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endParaRPr dirty="0"/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rPr dirty="0"/>
              <a:t>model = Pipeline([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rPr dirty="0"/>
              <a:t>    ("preprocess", preprocess),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rPr dirty="0"/>
              <a:t>    ("classifier", LogisticRegression(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rPr dirty="0"/>
              <a:t>        </a:t>
            </a:r>
            <a:r>
              <a:rPr dirty="0" err="1"/>
              <a:t>max_iter</a:t>
            </a:r>
            <a:r>
              <a:rPr dirty="0"/>
              <a:t>=1000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rPr dirty="0"/>
              <a:t>    ))</a:t>
            </a:r>
          </a:p>
          <a:p>
            <a:pPr>
              <a:spcAft>
                <a:spcPts val="0"/>
              </a:spcAft>
              <a:defRPr sz="1400">
                <a:solidFill>
                  <a:srgbClr val="0D3161"/>
                </a:solidFill>
                <a:latin typeface="Courier New"/>
              </a:defRPr>
            </a:pPr>
            <a:r>
              <a:rPr dirty="0"/>
              <a:t>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3931920" cy="18288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One object now contains every required step.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The same preprocessing is applied consistently at training and prediction time.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Fit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011680"/>
            <a:ext cx="438912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16151" y="2139696"/>
            <a:ext cx="4059935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800">
                <a:solidFill>
                  <a:srgbClr val="0D3161"/>
                </a:solidFill>
                <a:latin typeface="Courier New"/>
              </a:defRPr>
            </a:pPr>
            <a:r>
              <a:t>model.fit(X_train, y_train)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874519"/>
            <a:ext cx="4389120" cy="22860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The pipeline learns imputation values.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It learns scaling and encoding parameters.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Then the classifier learns its weights.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The test set remains untouched.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WHAT TRAINING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Inside model.fit(...)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2148840" cy="10058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1. Fit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training data only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651760"/>
            <a:ext cx="45720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2148840"/>
            <a:ext cx="2148840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2736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2. Transform X_train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create clean numeric matrix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23560" y="2651760"/>
            <a:ext cx="45720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80760" y="2148840"/>
            <a:ext cx="2148840" cy="100584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08776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3. Fit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learn predictive parameters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0" y="2651760"/>
            <a:ext cx="45720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0" y="2148840"/>
            <a:ext cx="2148840" cy="10058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14816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4. Store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ready for unseen patients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Generate class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4572000" cy="123444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0432" y="2093976"/>
            <a:ext cx="4242816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800">
                <a:solidFill>
                  <a:srgbClr val="0D3161"/>
                </a:solidFill>
                <a:latin typeface="Courier New"/>
              </a:defRPr>
            </a:pPr>
            <a:r>
              <a:t>y_pred = model.predict(X_test)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874519"/>
            <a:ext cx="4297680" cy="21945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The pipeline automatically preprocesses X_test using training-derived parameters.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The classifier then assigns class 0 or class 1.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No manual preprocessing of the test set is needed.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Generate probabilities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4754880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0432" y="2093976"/>
            <a:ext cx="442569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0D3161"/>
                </a:solidFill>
                <a:latin typeface="Courier New"/>
              </a:defRPr>
            </a:pPr>
            <a:r>
              <a:t>y_prob = model.predict_proba(X_test)[:,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74519"/>
            <a:ext cx="4206240" cy="21945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Probabilities are useful for ranking risk.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They allow threshold selection.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They are required for ROC-AUC and calibration analysis.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719072"/>
            <a:ext cx="448056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22191" y="1773936"/>
            <a:ext cx="433425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Predicted deterioration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07792"/>
            <a:ext cx="13258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 b="1">
                <a:solidFill>
                  <a:srgbClr val="0D3161"/>
                </a:solidFill>
                <a:latin typeface="Aptos"/>
              </a:rPr>
              <a:t>Actual outcome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331720"/>
            <a:ext cx="2057400" cy="8686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11296" y="2423160"/>
            <a:ext cx="18013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2697479"/>
            <a:ext cx="1801368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deteriorated and predicted high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331720"/>
            <a:ext cx="2057400" cy="86868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97296" y="2423160"/>
            <a:ext cx="18013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FN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2697479"/>
            <a:ext cx="1801368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deteriorated but predicted low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474720"/>
            <a:ext cx="2057400" cy="86868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11296" y="3566160"/>
            <a:ext cx="18013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FP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840480"/>
            <a:ext cx="1801368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stable but predicted high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3474720"/>
            <a:ext cx="2057400" cy="8686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97296" y="3566160"/>
            <a:ext cx="18013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TN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3840480"/>
            <a:ext cx="1801368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stable and predicted low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468880"/>
            <a:ext cx="23774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0">
                <a:solidFill>
                  <a:srgbClr val="5E778F"/>
                </a:solidFill>
                <a:latin typeface="Aptos"/>
              </a:rPr>
              <a:t>In clinical deterioration prediction, false negatives may be especially important.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Core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9456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Overall fraction of correct predictions.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Sensitivity /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9456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Among deteriorating patients, how many are detected?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Specificity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9456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Among stable patients, how many are recognized?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18688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9300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Among predicted high-risk patients, how many deteriorate?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18688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F1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9300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Balance precision and recall.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18688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ROC-AUC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9300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Discrimination across thresholds.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EVALUATION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Compute the main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760720" cy="32461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865376"/>
            <a:ext cx="5431536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from sklearn.metrics import (</a:t>
            </a:r>
          </a:p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    accuracy_score,</a:t>
            </a:r>
          </a:p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    recall_score,</a:t>
            </a:r>
          </a:p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    precision_score,</a:t>
            </a:r>
          </a:p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    f1_score,</a:t>
            </a:r>
          </a:p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    roc_auc_score,</a:t>
            </a:r>
          </a:p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    confusion_matrix</a:t>
            </a:r>
          </a:p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endParaRPr/>
          </a:p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print("Accuracy:", accuracy_score(y_test, y_pred))</a:t>
            </a:r>
          </a:p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print("Sensitivity:", recall_score(y_test, y_pred))</a:t>
            </a:r>
          </a:p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print("Precision:", precision_score(y_test, y_pred))</a:t>
            </a:r>
          </a:p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print("F1:", f1_score(y_test, y_pred))</a:t>
            </a:r>
          </a:p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print("ROC-AUC:", roc_auc_score(y_test, y_prob))</a:t>
            </a:r>
          </a:p>
          <a:p>
            <a:pPr>
              <a:spcAft>
                <a:spcPts val="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print(confusion_matrix(y_test, y_pred))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965960"/>
            <a:ext cx="3474720" cy="1645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Specificity can be derived from TN and FP.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Always interpret numbers in the context of the clinical task.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0.50 is not automatically the clinically best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2651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Lowering the threshold usually increases sensitivity.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But more patients may be flagged as high risk, increasing false positives.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Raising the threshold does the opposite.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Clinical priorities should guide threshold selection.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65960"/>
            <a:ext cx="356616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0255" y="205740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Screening-style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5" y="233172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favor sensitivity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926080"/>
            <a:ext cx="3566160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0255" y="301752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Resource-limited escalation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5" y="329184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may require higher precision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CLASS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Check the target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920240"/>
            <a:ext cx="4480560" cy="11887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" y="2048256"/>
            <a:ext cx="415137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0D3161"/>
                </a:solidFill>
                <a:latin typeface="Courier New"/>
              </a:defRPr>
            </a:pPr>
            <a:r>
              <a:t>print(y.value_counts())</a:t>
            </a:r>
          </a:p>
          <a:p>
            <a:pPr>
              <a:spcAft>
                <a:spcPts val="0"/>
              </a:spcAft>
              <a:defRPr sz="1600">
                <a:solidFill>
                  <a:srgbClr val="0D3161"/>
                </a:solidFill>
                <a:latin typeface="Courier New"/>
              </a:defRPr>
            </a:pPr>
            <a:r>
              <a:t>print(y.value_counts(normalize=True))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828800"/>
            <a:ext cx="4389120" cy="23774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If deterioration is rare, accuracy may be misleading.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Use stratified splitting.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Inspect sensitivity, precision, F1 and ROC-AUC.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Potentially consider class weights.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CLASS WEIGHTING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simple strategy for imbalance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920240"/>
            <a:ext cx="4663440" cy="150876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" y="2048256"/>
            <a:ext cx="4334255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0D3161"/>
                </a:solidFill>
                <a:latin typeface="Courier New"/>
              </a:defRPr>
            </a:pPr>
            <a:r>
              <a:t>LogisticRegression(</a:t>
            </a:r>
          </a:p>
          <a:p>
            <a:pPr>
              <a:spcAft>
                <a:spcPts val="0"/>
              </a:spcAft>
              <a:defRPr sz="1600">
                <a:solidFill>
                  <a:srgbClr val="0D3161"/>
                </a:solidFill>
                <a:latin typeface="Courier New"/>
              </a:defRPr>
            </a:pPr>
            <a:r>
              <a:t>    class_weight="balanced",</a:t>
            </a:r>
          </a:p>
          <a:p>
            <a:pPr>
              <a:spcAft>
                <a:spcPts val="0"/>
              </a:spcAft>
              <a:defRPr sz="1600">
                <a:solidFill>
                  <a:srgbClr val="0D3161"/>
                </a:solidFill>
                <a:latin typeface="Courier New"/>
              </a:defRPr>
            </a:pPr>
            <a:r>
              <a:t>    max_iter=1000</a:t>
            </a:r>
          </a:p>
          <a:p>
            <a:pPr>
              <a:spcAft>
                <a:spcPts val="0"/>
              </a:spcAft>
              <a:defRPr sz="1600">
                <a:solidFill>
                  <a:srgbClr val="0D3161"/>
                </a:solidFill>
                <a:latin typeface="Courier New"/>
              </a:defRPr>
            </a:pPr>
            <a: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74519"/>
            <a:ext cx="4297680" cy="20116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The minority class receives more influence during training.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This does not guarantee better clinical performance.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Always compare using the same validation protocol.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Evaluate stability during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5394960" cy="3175686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956816"/>
            <a:ext cx="5065776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from sklearn.model_selection import cross_val_score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endParaRPr/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scores = cross_val_score(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model,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X_train,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y_train,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cv=5,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scoring="roc_auc"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endParaRPr/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print(scores)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print(scores.mean())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3749039" cy="1645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Cross-validation uses only the training portion.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233142"/>
                </a:solidFill>
                <a:latin typeface="Aptos"/>
              </a:defRPr>
            </a:pPr>
            <a:r>
              <a:t>The final test set remains untouched until model selection is complete.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COMPARE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Logistic regression vs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8288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Interpretable baseline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Linear decision boundary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Fast training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Useful probability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8288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Nonlinear model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Feature interactions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Robust baseline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Global feature importance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315968"/>
            <a:ext cx="7498079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407407"/>
            <a:ext cx="724204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681728"/>
            <a:ext cx="7242047" cy="109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Choose the model using validation evidence, then evaluate once on the final test set.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Use the same preprocessing and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651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Both algorithms must receive the same training and validation data.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Use the same metric for comparison.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Do not tune one model more extensively than the other.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Keep the final test set independent from all model-selection decisions.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Look at the mistakes, not only the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743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Which deteriorating patients were missed?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Do false negatives share specific characteristics?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Are errors concentrated in older patients, one ward or one device?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Could missingness or measurement quality explain some failures?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Error analysis can reveal problems that a global metric hides.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Understand what drives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463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Inspect coefficients.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Direction and magnitude summarize associations used by the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463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Inspect feature importance.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Use explainability methods when deeper analysis is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160520"/>
            <a:ext cx="7498079" cy="56692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51959"/>
            <a:ext cx="724204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Important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26280"/>
            <a:ext cx="7242047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Model importance is not the same as causal clinical importance.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Save the entire fitted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965960"/>
            <a:ext cx="4572000" cy="137160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" y="2093976"/>
            <a:ext cx="424281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0D3161"/>
                </a:solidFill>
                <a:latin typeface="Courier New"/>
              </a:defRPr>
            </a:pPr>
            <a:r>
              <a:t>import joblib</a:t>
            </a:r>
          </a:p>
          <a:p>
            <a:pPr>
              <a:spcAft>
                <a:spcPts val="0"/>
              </a:spcAft>
              <a:defRPr sz="1600">
                <a:solidFill>
                  <a:srgbClr val="0D3161"/>
                </a:solidFill>
                <a:latin typeface="Courier New"/>
              </a:defRPr>
            </a:pPr>
            <a:endParaRPr/>
          </a:p>
          <a:p>
            <a:pPr>
              <a:spcAft>
                <a:spcPts val="0"/>
              </a:spcAft>
              <a:defRPr sz="1600">
                <a:solidFill>
                  <a:srgbClr val="0D3161"/>
                </a:solidFill>
                <a:latin typeface="Courier New"/>
              </a:defRPr>
            </a:pPr>
            <a:r>
              <a:t>joblib.dump(</a:t>
            </a:r>
          </a:p>
          <a:p>
            <a:pPr>
              <a:spcAft>
                <a:spcPts val="0"/>
              </a:spcAft>
              <a:defRPr sz="1600">
                <a:solidFill>
                  <a:srgbClr val="0D3161"/>
                </a:solidFill>
                <a:latin typeface="Courier New"/>
              </a:defRPr>
            </a:pPr>
            <a:r>
              <a:t>    model,</a:t>
            </a:r>
          </a:p>
          <a:p>
            <a:pPr>
              <a:spcAft>
                <a:spcPts val="0"/>
              </a:spcAft>
              <a:defRPr sz="1600">
                <a:solidFill>
                  <a:srgbClr val="0D3161"/>
                </a:solidFill>
                <a:latin typeface="Courier New"/>
              </a:defRPr>
            </a:pPr>
            <a:r>
              <a:t>    "deterioration_pipeline.joblib"</a:t>
            </a:r>
          </a:p>
          <a:p>
            <a:pPr>
              <a:spcAft>
                <a:spcPts val="0"/>
              </a:spcAft>
              <a:defRPr sz="1600">
                <a:solidFill>
                  <a:srgbClr val="0D3161"/>
                </a:solidFill>
                <a:latin typeface="Courier New"/>
              </a:defRPr>
            </a:pPr>
            <a: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874519"/>
            <a:ext cx="4389120" cy="22860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Saving only the classifier is not enough.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The preprocessing steps must travel with the model.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33142"/>
                </a:solidFill>
                <a:latin typeface="Aptos"/>
              </a:defRPr>
            </a:pPr>
            <a:r>
              <a:t>A fitted pipeline can later process a new patient consistently.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Predict one new patient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5577840" cy="23317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956816"/>
            <a:ext cx="5248655" cy="2075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new_patient = pd.DataFrame([{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"age": 74,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"heart_rate": 108,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"SpO2": 91,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"CRP": 16.5,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"ward": "Medical"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}])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endParaRPr/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risk = model.predict_proba(new_patient)[:, 1]</a:t>
            </a:r>
          </a:p>
          <a:p>
            <a:pPr>
              <a:spcAft>
                <a:spcPts val="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print(risk)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2057400"/>
            <a:ext cx="3246120" cy="86868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0296" y="2148840"/>
            <a:ext cx="299008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Example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0296" y="2423160"/>
            <a:ext cx="2990087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Risk = 0.81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246120"/>
            <a:ext cx="324612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0">
                <a:solidFill>
                  <a:srgbClr val="5E778F"/>
                </a:solidFill>
                <a:latin typeface="Aptos"/>
              </a:rPr>
              <a:t>A probability is a model estimate—not a clinical diagnosis by itself.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DEPLOYMENT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model is only one component of a clinical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Input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94560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Are required variables present and plausible?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Model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94560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Run the saved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852928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Decision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127248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Translate probability into an action rule.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852928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Clinical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127248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Present result clearly to the user.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94176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785615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059936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Track performance and data drift over time.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HANDS-ON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Your laboratory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926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Load the provided clinical CSV.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Identify numeric, categorical and target columns.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Create an 80/20 stratified train/test split.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Build a preprocessing + logistic regression pipeline.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Evaluate sensitivity, precision, F1 and ROC-AUC.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Train one alternative model and compare the validation results.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LABORATORY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Before you consider the pipeline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Question defined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9456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Target and horizon are explicit.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Data separated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9456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Features and target are correct.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Leakage prevented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9456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Preprocessing is training-only.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18688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Pipeline reproducible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9300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All transformations are inside one object.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18688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Metrics appropriate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9300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Imbalance and clinical priorities are considered.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18688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Errors inspected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9300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You understand where the model fails.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144000" cy="2926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A biomedical ML workflow starts with a precise clinical question, not with an algorithm.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The dataset must be represented as well-defined samples, features and targets.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Preprocessing must be learned from training data only to avoid leakage.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A pipeline combines preprocessing and modeling into one reproducible object.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Prediction quality should be evaluated with metrics that reflect the clinical task and class imbalance.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000">
                <a:solidFill>
                  <a:srgbClr val="233142"/>
                </a:solidFill>
                <a:latin typeface="Aptos"/>
              </a:defRPr>
            </a:pPr>
            <a:r>
              <a:t>The final goal is not merely a high score, but a robust and interpretable workflow that can generalize to new patients.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2462</Words>
  <Application>Microsoft Macintosh PowerPoint</Application>
  <PresentationFormat>Widescreen</PresentationFormat>
  <Paragraphs>507</Paragraphs>
  <Slides>40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4</cp:revision>
  <dcterms:created xsi:type="dcterms:W3CDTF">2013-01-27T09:14:16Z</dcterms:created>
  <dcterms:modified xsi:type="dcterms:W3CDTF">2026-10-07T20:57:41Z</dcterms:modified>
  <cp:category/>
</cp:coreProperties>
</file>