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89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14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1261872"/>
            <a:ext cx="6903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05456"/>
            <a:ext cx="6537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E778F"/>
                </a:solidFill>
                <a:latin typeface="Aptos"/>
              </a:rPr>
              <a:t>Lesson 2 — Pseudocode, flowcharts and programming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10128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76FBF"/>
                </a:solidFill>
                <a:latin typeface="Aptos"/>
              </a:rPr>
              <a:t>ITS · Medical Informatics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3931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33142"/>
                </a:solidFill>
                <a:latin typeface="Aptos"/>
              </a:rPr>
              <a:t>14 September 2026 · 11:30–13:30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49884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33142"/>
                </a:solidFill>
                <a:latin typeface="Aptos"/>
              </a:rPr>
              <a:t>Prof: Simone Rancati, PhD
Contact: simone.rancati01@universitadipavia.it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20040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7" y="1508760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PSEUDOCODE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331720"/>
            <a:ext cx="320040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7" y="2423160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FLOWCHART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246120"/>
            <a:ext cx="3200400" cy="6583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7" y="3337560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D3161"/>
                </a:solidFill>
                <a:latin typeface="Aptos"/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3159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34ADC1"/>
                </a:solidFill>
                <a:latin typeface="Aptos"/>
              </a:rPr>
              <a:t>same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619963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E778F"/>
                </a:solidFill>
                <a:latin typeface="Aptos"/>
              </a:rPr>
              <a:t>Algorithms and Data Structures for Medical Informatics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LESSON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Today’s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1.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Pseudocode and flowcharts.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2.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Ordered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3.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IF / ELSE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896" y="16824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4.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6" y="19933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FOR and WHILE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By the end of the lesson, students should be able to represent a biomedical algorithm in pseudocode and as a flowchart, recognize the three basic control structures and translate a simple algorithm into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3161"/>
                </a:solidFill>
                <a:latin typeface="Aptos"/>
              </a:rPr>
              <a:t>Main teaching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98755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D3161"/>
                </a:solidFill>
                <a:latin typeface="Aptos"/>
              </a:rPr>
              <a:t>How can we describe the same clinical logic before and after writing 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766560" cy="37943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the difference between pseudocode, a flowchart and executable code.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 sequence, selection and iteration correctly.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Read and trace simple healthcare algorithms.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Design a BMI algorithm and a heart-rate classifier.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Create a simple clinical alert algorithm.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Translate an algorithm from pseudocode into Python-like code.</a:t>
            </a:r>
          </a:p>
        </p:txBody>
      </p:sp>
      <p:pic>
        <p:nvPicPr>
          <p:cNvPr id="7" name="Immagine 6" descr="How to format learning objectives to improve student learning | Talking Teaching">
            <a:extLst>
              <a:ext uri="{FF2B5EF4-FFF2-40B4-BE49-F238E27FC236}">
                <a16:creationId xmlns:a16="http://schemas.microsoft.com/office/drawing/2014/main" id="{C66A376E-40C3-C540-A0AC-EC3A6DD04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161" y="1417320"/>
            <a:ext cx="3794372" cy="37943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WHY REPRESENT ALGORITHMS?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Reason before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5760720" cy="335354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Programming syntax can distract from the underlying logic.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Pseudocode expresses the procedure in a language-independent way.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Flowcharts make execution paths visible.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Code is the executable implementation.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Designing first makes errors easier to find before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37360"/>
            <a:ext cx="3840480" cy="8229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6328" y="182880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2121408"/>
            <a:ext cx="3621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Describe the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834640"/>
            <a:ext cx="3840480" cy="822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96328" y="292608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Flowchart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3218688"/>
            <a:ext cx="3621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Visualize the control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931920"/>
            <a:ext cx="3840480" cy="82296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6328" y="4023359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4315968"/>
            <a:ext cx="3621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Execute the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ONE PROBLEM, THREE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Clinical example: BMI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3246120" cy="3154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91640"/>
            <a:ext cx="30266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Pseudocode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984248"/>
            <a:ext cx="3026663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233142"/>
                </a:solidFill>
                <a:latin typeface="Aptos"/>
              </a:rPr>
              <a:t>READ weight
READ height
BMI ← weight / height²
IF BMI &lt; 18.5 THEN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154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91640"/>
            <a:ext cx="30266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Flowchart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26663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Start → read data → compute BMI → decision →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246120" cy="31546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7" y="1691640"/>
            <a:ext cx="30266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1984248"/>
            <a:ext cx="3026663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def bmi_category(...):
    bmi = ...
    if bmi &lt; 18.5:
        return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D3161"/>
                </a:solidFill>
                <a:latin typeface="Aptos"/>
              </a:rPr>
              <a:t>The representation changes; the algorithmic logic should remain the same.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LANGUAGE-INDEPENDENT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What is pseudocode?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Pseudocode is a structured description of algorithmic logic written for humans rather than a specific programming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301752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651760"/>
            <a:ext cx="2798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44368"/>
            <a:ext cx="279806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The steps should be easy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017520" cy="12344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651760"/>
            <a:ext cx="2798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944368"/>
            <a:ext cx="279806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Use IF, ELSE, FOR, WHILE and RETURN 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3017520" cy="12344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2651760"/>
            <a:ext cx="2798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Language-independent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944368"/>
            <a:ext cx="2798063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Focus on logic, not Python or Java syntax.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0D3161"/>
                </a:solidFill>
                <a:latin typeface="Aptos"/>
              </a:rPr>
              <a:t>Good pseudocode is precise enough that another person can implement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PSEUDOCODE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 simple style for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4892040" cy="352044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591056"/>
            <a:ext cx="4599431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Algorithm Name(input)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Input: required data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Output: returned result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READ input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COMPUTE value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IF condition THEN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action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ELSE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alternative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RETURN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114800" cy="260013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one action per line.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Indent nested logic.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 explicit inputs and outputs.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Prefer precise conditions.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Keep names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CONTROL STRUCTURE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Sequence means executing instructions in a fixed order, one after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514600"/>
            <a:ext cx="21488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606040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898648"/>
            <a:ext cx="19293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Read weight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03580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2514600"/>
            <a:ext cx="21488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2606040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898648"/>
            <a:ext cx="19293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Read height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03580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2514600"/>
            <a:ext cx="21488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606040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898648"/>
            <a:ext cx="19293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Compute BMI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03920" y="303580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514600"/>
            <a:ext cx="21488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62288" y="2606040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898648"/>
            <a:ext cx="192938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33142"/>
                </a:solidFill>
                <a:latin typeface="Aptos"/>
              </a:rPr>
              <a:t>Display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0D3161"/>
                </a:solidFill>
                <a:latin typeface="Aptos"/>
              </a:rPr>
              <a:t>Changing the order can change the result or make the algorithm invalid.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SEQUENCE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BMI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554480"/>
            <a:ext cx="4754880" cy="301752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1682495"/>
            <a:ext cx="4462272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r>
              <a:t>Algorithm ComputeBMI(weight, height)</a:t>
            </a:r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r>
              <a:t>Input: weight in kg, height in m</a:t>
            </a:r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r>
              <a:t>Output: BMI</a:t>
            </a:r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r>
              <a:t>BMI ← weight / (height × height)</a:t>
            </a:r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233142"/>
                </a:solidFill>
                <a:latin typeface="Aptos Mono"/>
              </a:defRPr>
            </a:pPr>
            <a:r>
              <a:t>RETURN BMI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3749039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828800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Example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21408"/>
            <a:ext cx="35295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weight = 72 kg
height = 1.75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834640"/>
            <a:ext cx="3749039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926080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218688"/>
            <a:ext cx="35295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72 / 1.75²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31920"/>
            <a:ext cx="3749039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4023359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315968"/>
            <a:ext cx="352958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BMI ≈ 23.5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VISUALIZING A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BMI flowchart: calculation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4617720" y="1417320"/>
            <a:ext cx="2926080" cy="566928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27448" y="1453896"/>
            <a:ext cx="270662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0D3161"/>
                </a:solidFill>
                <a:latin typeface="Aptos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474720" cy="658368"/>
          </a:xfrm>
          <a:prstGeom prst="parallelogram">
            <a:avLst/>
          </a:prstGeom>
          <a:solidFill>
            <a:srgbClr val="F6F9FD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2331720"/>
            <a:ext cx="33284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Read weight and height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291840"/>
            <a:ext cx="3840480" cy="658368"/>
          </a:xfrm>
          <a:prstGeom prst="roundRect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33672" y="3337560"/>
            <a:ext cx="36941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BMI = weight / height²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474720" cy="658368"/>
          </a:xfrm>
          <a:prstGeom prst="parallelogram">
            <a:avLst/>
          </a:prstGeom>
          <a:solidFill>
            <a:srgbClr val="F6F9FD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4343400"/>
            <a:ext cx="33284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Display BMI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0" y="5212080"/>
            <a:ext cx="2468880" cy="502920"/>
          </a:xfrm>
          <a:prstGeom prst="ellipse">
            <a:avLst/>
          </a:prstGeom>
          <a:solidFill>
            <a:srgbClr val="F6F9FD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5248656"/>
            <a:ext cx="224942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984248"/>
            <a:ext cx="0" cy="30175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944368"/>
            <a:ext cx="0" cy="34747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950208"/>
            <a:ext cx="0" cy="34747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956048"/>
            <a:ext cx="0" cy="25603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CONTROL STRUCTURE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Selection chooses among alternative paths according to a condition.</a:t>
            </a:r>
          </a:p>
        </p:txBody>
      </p:sp>
      <p:sp>
        <p:nvSpPr>
          <p:cNvPr id="7" name="Diamond 6"/>
          <p:cNvSpPr/>
          <p:nvPr/>
        </p:nvSpPr>
        <p:spPr>
          <a:xfrm>
            <a:off x="4617720" y="2103120"/>
            <a:ext cx="2834640" cy="141732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82312" y="2377439"/>
            <a:ext cx="250545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heart_rate &gt; 100?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4160520"/>
            <a:ext cx="2743200" cy="621792"/>
          </a:xfrm>
          <a:prstGeom prst="parallelogram">
            <a:avLst/>
          </a:prstGeom>
          <a:solidFill>
            <a:srgbClr val="FCE8E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90472" y="4206240"/>
            <a:ext cx="259689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160520"/>
            <a:ext cx="2743200" cy="621792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4206240"/>
            <a:ext cx="259689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Continue / NORMAL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160520" y="2807208"/>
            <a:ext cx="457200" cy="135331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52360" y="2807208"/>
            <a:ext cx="640080" cy="1353312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33375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SELECTION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Heart-rate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5074920" cy="342900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636776"/>
            <a:ext cx="4782312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Algorithm ClassifyHeartRate(hr)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Input: heart rate in bpm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Output: category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IF hr &lt; 60 THEN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RETURN "LOW"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ELSE IF hr &gt; 100 THEN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RETURN "HIGH"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ELSE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RETURN "NORMAL"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3749039" cy="6858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737360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55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29968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51760"/>
            <a:ext cx="3749039" cy="6858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743200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78 bpm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035808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3749039" cy="68580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749039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112 bpm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041648"/>
            <a:ext cx="3529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09160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Teaching thresholds for algorithm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SELECTION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IF, ELSE IF and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3063240" cy="3429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Single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84248"/>
            <a:ext cx="2843784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33142"/>
                </a:solidFill>
                <a:latin typeface="Aptos"/>
              </a:rPr>
              <a:t>IF temperature &gt; 38 THEN
    alert = true
END 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600200"/>
            <a:ext cx="3063240" cy="34290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IF /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84248"/>
            <a:ext cx="2843784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33142"/>
                </a:solidFill>
                <a:latin typeface="Aptos"/>
              </a:rPr>
              <a:t>IF SpO₂ &lt; 92 THEN
    status = "LOW"
ELSE
    status = "OK"
END 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063240" cy="342900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7" y="1691640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Multiple branches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984248"/>
            <a:ext cx="2843784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33142"/>
                </a:solidFill>
                <a:latin typeface="Aptos"/>
              </a:rPr>
              <a:t>IF hr &lt; 60 THEN LOW
ELSE IF hr &gt; 100 THEN HIGH
ELSE NORMAL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MULTIPLE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Combining conditions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486400" cy="2912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AND requires all linked conditions to be true.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OR requires at least one linked condition to be true.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Conditions should be written explicitly.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rules should separate data validation from decision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91640"/>
            <a:ext cx="3931920" cy="224028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5704" y="1819656"/>
            <a:ext cx="363931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IF temperature &gt; 38 AND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heart_rate &gt; 100 THEN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alert = true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2519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This is a logical example, not a clinical guideline.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VISUALIZING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Heart-rate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1234440"/>
            <a:ext cx="2697480" cy="530352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8888" y="1271016"/>
            <a:ext cx="2478024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Receive heart rate</a:t>
            </a:r>
          </a:p>
        </p:txBody>
      </p:sp>
      <p:sp>
        <p:nvSpPr>
          <p:cNvPr id="8" name="Diamond 7"/>
          <p:cNvSpPr/>
          <p:nvPr/>
        </p:nvSpPr>
        <p:spPr>
          <a:xfrm>
            <a:off x="4617720" y="2057400"/>
            <a:ext cx="2834640" cy="12801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2331720"/>
            <a:ext cx="2505456" cy="73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hr &lt; 60?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743200"/>
            <a:ext cx="2377440" cy="566928"/>
          </a:xfrm>
          <a:prstGeom prst="parallelogram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23113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LOW</a:t>
            </a:r>
          </a:p>
        </p:txBody>
      </p:sp>
      <p:sp>
        <p:nvSpPr>
          <p:cNvPr id="12" name="Diamond 11"/>
          <p:cNvSpPr/>
          <p:nvPr/>
        </p:nvSpPr>
        <p:spPr>
          <a:xfrm>
            <a:off x="4617720" y="3703320"/>
            <a:ext cx="2834640" cy="12801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2312" y="3977639"/>
            <a:ext cx="2505456" cy="73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hr &gt; 100?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041648"/>
            <a:ext cx="2423160" cy="566928"/>
          </a:xfrm>
          <a:prstGeom prst="parallelogram">
            <a:avLst/>
          </a:prstGeom>
          <a:solidFill>
            <a:srgbClr val="FCE8E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4087368"/>
            <a:ext cx="22768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5303520"/>
            <a:ext cx="2468880" cy="502920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73752" y="5349240"/>
            <a:ext cx="232257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NORMAL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3328" y="1764792"/>
            <a:ext cx="0" cy="29260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429000" y="2697480"/>
            <a:ext cx="1188720" cy="329184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53328" y="3337560"/>
            <a:ext cx="0" cy="36576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2360" y="4343400"/>
            <a:ext cx="960120" cy="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3328" y="4983480"/>
            <a:ext cx="0" cy="32004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3320" y="26700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015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09651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02920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6F9B5B7-2BA4-7E28-5C3B-F0BAF582929E}"/>
              </a:ext>
            </a:extLst>
          </p:cNvPr>
          <p:cNvSpPr/>
          <p:nvPr/>
        </p:nvSpPr>
        <p:spPr>
          <a:xfrm>
            <a:off x="5485931" y="428361"/>
            <a:ext cx="1046871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Start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450657ED-A3F4-B551-9275-DD3CF066F757}"/>
              </a:ext>
            </a:extLst>
          </p:cNvPr>
          <p:cNvSpPr/>
          <p:nvPr/>
        </p:nvSpPr>
        <p:spPr>
          <a:xfrm>
            <a:off x="1716844" y="3621024"/>
            <a:ext cx="1046871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141C2DF9-47DB-500C-755C-0F7A1192DDCD}"/>
              </a:ext>
            </a:extLst>
          </p:cNvPr>
          <p:cNvSpPr/>
          <p:nvPr/>
        </p:nvSpPr>
        <p:spPr>
          <a:xfrm>
            <a:off x="5529892" y="6126480"/>
            <a:ext cx="1046871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76B0D763-BED0-F2EA-5907-E58330A0D57A}"/>
              </a:ext>
            </a:extLst>
          </p:cNvPr>
          <p:cNvSpPr/>
          <p:nvPr/>
        </p:nvSpPr>
        <p:spPr>
          <a:xfrm>
            <a:off x="9100624" y="4905756"/>
            <a:ext cx="1046871" cy="4754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End</a:t>
            </a:r>
          </a:p>
        </p:txBody>
      </p:sp>
      <p:cxnSp>
        <p:nvCxnSpPr>
          <p:cNvPr id="31" name="Connector 17">
            <a:extLst>
              <a:ext uri="{FF2B5EF4-FFF2-40B4-BE49-F238E27FC236}">
                <a16:creationId xmlns:a16="http://schemas.microsoft.com/office/drawing/2014/main" id="{25E7BE24-2D6D-27B9-CDF6-BCB422AD72B2}"/>
              </a:ext>
            </a:extLst>
          </p:cNvPr>
          <p:cNvCxnSpPr/>
          <p:nvPr/>
        </p:nvCxnSpPr>
        <p:spPr>
          <a:xfrm>
            <a:off x="6035040" y="903849"/>
            <a:ext cx="0" cy="29260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7">
            <a:extLst>
              <a:ext uri="{FF2B5EF4-FFF2-40B4-BE49-F238E27FC236}">
                <a16:creationId xmlns:a16="http://schemas.microsoft.com/office/drawing/2014/main" id="{031F2654-F687-B16C-2470-592327261A1A}"/>
              </a:ext>
            </a:extLst>
          </p:cNvPr>
          <p:cNvCxnSpPr/>
          <p:nvPr/>
        </p:nvCxnSpPr>
        <p:spPr>
          <a:xfrm>
            <a:off x="2244499" y="3294654"/>
            <a:ext cx="0" cy="29260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7">
            <a:extLst>
              <a:ext uri="{FF2B5EF4-FFF2-40B4-BE49-F238E27FC236}">
                <a16:creationId xmlns:a16="http://schemas.microsoft.com/office/drawing/2014/main" id="{81CAAC5C-E12D-F9F3-29F2-65950412B3D3}"/>
              </a:ext>
            </a:extLst>
          </p:cNvPr>
          <p:cNvCxnSpPr/>
          <p:nvPr/>
        </p:nvCxnSpPr>
        <p:spPr>
          <a:xfrm>
            <a:off x="6037032" y="5806440"/>
            <a:ext cx="0" cy="29260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7">
            <a:extLst>
              <a:ext uri="{FF2B5EF4-FFF2-40B4-BE49-F238E27FC236}">
                <a16:creationId xmlns:a16="http://schemas.microsoft.com/office/drawing/2014/main" id="{8636119F-FCBE-D7B8-5FB1-999E9765CF4A}"/>
              </a:ext>
            </a:extLst>
          </p:cNvPr>
          <p:cNvCxnSpPr/>
          <p:nvPr/>
        </p:nvCxnSpPr>
        <p:spPr>
          <a:xfrm>
            <a:off x="9616556" y="4581144"/>
            <a:ext cx="0" cy="29260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CONTROL STRUCTURE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33142"/>
                </a:solidFill>
                <a:latin typeface="Aptos"/>
              </a:rPr>
              <a:t>Iteration repeats a block of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31720"/>
            <a:ext cx="416052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423160"/>
            <a:ext cx="3941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715768"/>
            <a:ext cx="39410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Use when processing each element of a known collection.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331720"/>
            <a:ext cx="416052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2423160"/>
            <a:ext cx="3941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WHILE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715768"/>
            <a:ext cx="3941063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Use while a condition remains true and the number of repetitions is not fixed.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D3161"/>
                </a:solidFill>
                <a:latin typeface="Aptos"/>
              </a:rPr>
              <a:t>Repeated biomedical measurements naturally lead to loops.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ITERATION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FOR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5029200" cy="306324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728216"/>
            <a:ext cx="4736592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count_high = 0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FOR each value IN heart_rates: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    IF value &gt; 100 THEN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        count_high = count_high + 1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60">
                <a:solidFill>
                  <a:srgbClr val="233142"/>
                </a:solidFill>
                <a:latin typeface="Aptos Mono"/>
              </a:defRPr>
            </a:pPr>
            <a:r>
              <a:t>RETURN count_high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3749039" cy="2536015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Visits every element once.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Collection size is finite.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counter stores intermediate state.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pattern appears in signal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ITERATION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WHILE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5074920" cy="324612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682495"/>
            <a:ext cx="4782312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WHILE monitor_is_connected: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value = READ heart_rate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IF value &gt; 100 THEN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    DISPLAY "ALERT"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450">
                <a:solidFill>
                  <a:srgbClr val="233142"/>
                </a:solidFill>
                <a:latin typeface="Aptos Mono"/>
              </a:defRPr>
            </a:pPr>
            <a:r>
              <a:t>END WHILE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840480" cy="328942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Useful when data continue to arrive.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number of iterations is not known in advance.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condition must eventually become false.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2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Otherwise the loop may never terminate.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LOOP +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Count abnormal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149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Example input: heart_rates = [72, 104, 98, 112, 76]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65960"/>
            <a:ext cx="4983480" cy="288036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2093976"/>
            <a:ext cx="469087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count_alert = 0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FOR each hr IN heart_rates: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    IF hr &gt; 100 THEN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        count_alert = count_alert + 1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    END IF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END FOR</a:t>
            </a:r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40">
                <a:solidFill>
                  <a:srgbClr val="233142"/>
                </a:solidFill>
                <a:latin typeface="Aptos Mono"/>
              </a:defRPr>
            </a:pPr>
            <a:r>
              <a:t>RETURN count_alert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240280"/>
            <a:ext cx="338328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233172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Values checked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624328"/>
            <a:ext cx="31638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246120"/>
            <a:ext cx="338328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76288" y="333756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Values &gt;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630168"/>
            <a:ext cx="31638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104, 112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251960"/>
            <a:ext cx="338328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434340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636008"/>
            <a:ext cx="316382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count_alert =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FLOWCHART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Common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2377440" cy="566928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682496"/>
            <a:ext cx="215798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Start /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Terminal symbol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00200"/>
            <a:ext cx="2560320" cy="658368"/>
          </a:xfrm>
          <a:prstGeom prst="roundRect">
            <a:avLst/>
          </a:prstGeom>
          <a:solidFill>
            <a:srgbClr val="F6F9FD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2" y="1645920"/>
            <a:ext cx="2414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Compute / Assign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Process</a:t>
            </a:r>
          </a:p>
        </p:txBody>
      </p:sp>
      <p:sp>
        <p:nvSpPr>
          <p:cNvPr id="12" name="Diamond 11"/>
          <p:cNvSpPr/>
          <p:nvPr/>
        </p:nvSpPr>
        <p:spPr>
          <a:xfrm>
            <a:off x="8474612" y="1371600"/>
            <a:ext cx="2560320" cy="123444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39204" y="1645920"/>
            <a:ext cx="223113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0D3161"/>
                </a:solidFill>
                <a:latin typeface="Aptos"/>
              </a:rPr>
              <a:t>Condition?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4612" y="2697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Decision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4709160" y="3794760"/>
            <a:ext cx="2651760" cy="731520"/>
          </a:xfrm>
          <a:prstGeom prst="parallelogram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3931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Input /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634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>
                <a:solidFill>
                  <a:srgbClr val="5E778F"/>
                </a:solidFill>
                <a:latin typeface="Aptos"/>
              </a:rPr>
              <a:t>Read or display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arallelogramma 21">
            <a:extLst>
              <a:ext uri="{FF2B5EF4-FFF2-40B4-BE49-F238E27FC236}">
                <a16:creationId xmlns:a16="http://schemas.microsoft.com/office/drawing/2014/main" id="{338FFA48-6928-06B2-7C75-B8987498F1DF}"/>
              </a:ext>
            </a:extLst>
          </p:cNvPr>
          <p:cNvSpPr/>
          <p:nvPr/>
        </p:nvSpPr>
        <p:spPr>
          <a:xfrm>
            <a:off x="4220308" y="2057400"/>
            <a:ext cx="3692769" cy="594360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FLOWCHART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Follow the arrows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21</a:t>
            </a:r>
          </a:p>
        </p:txBody>
      </p:sp>
      <p:sp>
        <p:nvSpPr>
          <p:cNvPr id="6" name="Oval 5"/>
          <p:cNvSpPr/>
          <p:nvPr/>
        </p:nvSpPr>
        <p:spPr>
          <a:xfrm>
            <a:off x="4617720" y="1280160"/>
            <a:ext cx="2880360" cy="530352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27448" y="1316736"/>
            <a:ext cx="2660904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237936"/>
            <a:ext cx="3374136" cy="233288"/>
          </a:xfrm>
          <a:prstGeom prst="parallelogram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0D3161"/>
                </a:solidFill>
                <a:latin typeface="Aptos"/>
              </a:rPr>
              <a:t>Read temperature</a:t>
            </a:r>
          </a:p>
        </p:txBody>
      </p:sp>
      <p:sp>
        <p:nvSpPr>
          <p:cNvPr id="10" name="Diamond 9"/>
          <p:cNvSpPr/>
          <p:nvPr/>
        </p:nvSpPr>
        <p:spPr>
          <a:xfrm>
            <a:off x="4617720" y="2971800"/>
            <a:ext cx="2880360" cy="123444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3246120"/>
            <a:ext cx="255117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temp &gt; 38?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9120"/>
            <a:ext cx="2743200" cy="566928"/>
          </a:xfrm>
          <a:prstGeom prst="parallelogram">
            <a:avLst/>
          </a:prstGeom>
          <a:solidFill>
            <a:srgbClr val="FCE8E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" y="4434840"/>
            <a:ext cx="25968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Alert = 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389120"/>
            <a:ext cx="2743200" cy="566928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4434840"/>
            <a:ext cx="25968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Alert = FALSE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53328" y="1810512"/>
            <a:ext cx="0" cy="24688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53328" y="2651760"/>
            <a:ext cx="0" cy="32004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86200" y="3593592"/>
            <a:ext cx="731520" cy="106984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98079" y="3593592"/>
            <a:ext cx="685800" cy="1069848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0" y="3749039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749039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  <p:sp>
        <p:nvSpPr>
          <p:cNvPr id="23" name="Oval 5">
            <a:extLst>
              <a:ext uri="{FF2B5EF4-FFF2-40B4-BE49-F238E27FC236}">
                <a16:creationId xmlns:a16="http://schemas.microsoft.com/office/drawing/2014/main" id="{1140B913-81BC-D17B-2C2A-395782CBB55C}"/>
              </a:ext>
            </a:extLst>
          </p:cNvPr>
          <p:cNvSpPr/>
          <p:nvPr/>
        </p:nvSpPr>
        <p:spPr>
          <a:xfrm>
            <a:off x="1042416" y="5394961"/>
            <a:ext cx="2880360" cy="530352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7726AD6B-C95F-67E9-BB5C-F1C2C1714268}"/>
              </a:ext>
            </a:extLst>
          </p:cNvPr>
          <p:cNvSpPr txBox="1"/>
          <p:nvPr/>
        </p:nvSpPr>
        <p:spPr>
          <a:xfrm>
            <a:off x="1152144" y="5563956"/>
            <a:ext cx="266090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1250" b="1" dirty="0">
                <a:solidFill>
                  <a:srgbClr val="0D3161"/>
                </a:solidFill>
                <a:latin typeface="Aptos"/>
              </a:rPr>
              <a:t>End</a:t>
            </a:r>
            <a:endParaRPr sz="1250" b="1" dirty="0">
              <a:solidFill>
                <a:srgbClr val="0D3161"/>
              </a:solidFill>
              <a:latin typeface="Aptos"/>
            </a:endParaRPr>
          </a:p>
        </p:txBody>
      </p:sp>
      <p:sp>
        <p:nvSpPr>
          <p:cNvPr id="25" name="Oval 5">
            <a:extLst>
              <a:ext uri="{FF2B5EF4-FFF2-40B4-BE49-F238E27FC236}">
                <a16:creationId xmlns:a16="http://schemas.microsoft.com/office/drawing/2014/main" id="{71950C9C-CC6B-FBB6-7630-127BD86CD9E4}"/>
              </a:ext>
            </a:extLst>
          </p:cNvPr>
          <p:cNvSpPr/>
          <p:nvPr/>
        </p:nvSpPr>
        <p:spPr>
          <a:xfrm>
            <a:off x="8183879" y="5394961"/>
            <a:ext cx="2880360" cy="530352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9ECA4722-0627-D250-744C-1E1F781AA59B}"/>
              </a:ext>
            </a:extLst>
          </p:cNvPr>
          <p:cNvSpPr txBox="1"/>
          <p:nvPr/>
        </p:nvSpPr>
        <p:spPr>
          <a:xfrm>
            <a:off x="8293607" y="5563956"/>
            <a:ext cx="266090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1250" b="1" dirty="0">
                <a:solidFill>
                  <a:srgbClr val="0D3161"/>
                </a:solidFill>
                <a:latin typeface="Aptos"/>
              </a:rPr>
              <a:t>End</a:t>
            </a:r>
            <a:endParaRPr sz="1250" b="1" dirty="0">
              <a:solidFill>
                <a:srgbClr val="0D3161"/>
              </a:solidFill>
              <a:latin typeface="Aptos"/>
            </a:endParaRPr>
          </a:p>
        </p:txBody>
      </p:sp>
      <p:cxnSp>
        <p:nvCxnSpPr>
          <p:cNvPr id="27" name="Connector 16">
            <a:extLst>
              <a:ext uri="{FF2B5EF4-FFF2-40B4-BE49-F238E27FC236}">
                <a16:creationId xmlns:a16="http://schemas.microsoft.com/office/drawing/2014/main" id="{716B7CC0-7DC2-8FB6-2278-8F2445FA3D95}"/>
              </a:ext>
            </a:extLst>
          </p:cNvPr>
          <p:cNvCxnSpPr/>
          <p:nvPr/>
        </p:nvCxnSpPr>
        <p:spPr>
          <a:xfrm>
            <a:off x="2477789" y="5016306"/>
            <a:ext cx="0" cy="32004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6">
            <a:extLst>
              <a:ext uri="{FF2B5EF4-FFF2-40B4-BE49-F238E27FC236}">
                <a16:creationId xmlns:a16="http://schemas.microsoft.com/office/drawing/2014/main" id="{A7107BE4-0A20-4D77-033F-1A24AA61385C}"/>
              </a:ext>
            </a:extLst>
          </p:cNvPr>
          <p:cNvCxnSpPr>
            <a:cxnSpLocks/>
          </p:cNvCxnSpPr>
          <p:nvPr/>
        </p:nvCxnSpPr>
        <p:spPr>
          <a:xfrm>
            <a:off x="9628867" y="5016306"/>
            <a:ext cx="0" cy="320040"/>
          </a:xfrm>
          <a:prstGeom prst="line">
            <a:avLst/>
          </a:prstGeom>
          <a:ln w="1778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FLOWCHART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Missing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 decision should define every relevant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Crossing arrows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Keep flow direction visually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08760"/>
            <a:ext cx="310896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Vague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Use precise conditions and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83279"/>
            <a:ext cx="3108960" cy="13258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Too much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Show logic, not every implementation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383279"/>
            <a:ext cx="3108960" cy="13258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No termination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Loops need a clear stopping condition.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383279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Wrong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Check &lt;, ≤, &gt; and ≥ carefully.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COMPLETE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BMI category: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5166360" cy="4455942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545336"/>
            <a:ext cx="487375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Algorithm </a:t>
            </a:r>
            <a:r>
              <a:rPr dirty="0" err="1"/>
              <a:t>BMI_Category</a:t>
            </a:r>
            <a:r>
              <a:rPr dirty="0"/>
              <a:t>(weight, height)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Input: weight in kg, height in m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Output: BMI category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endParaRPr dirty="0"/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IF height &lt;= 0 THEN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    RETURN "INVALID"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END IF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endParaRPr dirty="0"/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BMI ← weight / (height × height)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endParaRPr dirty="0"/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IF BMI &lt; 18.5 THEN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    RETURN "UNDER"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ELSE IF BMI &lt; 25 THEN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    RETURN "NORMAL"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ELSE IF BMI &lt; 30 THEN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    RETURN "OVER"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ELSE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    RETURN "HIGH"</a:t>
            </a:r>
          </a:p>
          <a:p>
            <a:pPr>
              <a:spcAft>
                <a:spcPts val="0"/>
              </a:spcAft>
              <a:defRPr sz="1350">
                <a:solidFill>
                  <a:srgbClr val="233142"/>
                </a:solidFill>
                <a:latin typeface="Aptos Mono"/>
              </a:defRPr>
            </a:pPr>
            <a:r>
              <a:rPr dirty="0"/>
              <a:t>END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3749039" cy="37302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58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Validation comes first.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58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Calculation uses sequence.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58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Classification uses selection.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58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Thresholds are simplified for teaching.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58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returns one category.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COMPLETE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BMI category: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24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1143000"/>
            <a:ext cx="2651760" cy="502920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8888" y="1179576"/>
            <a:ext cx="24323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74519"/>
            <a:ext cx="3566160" cy="566928"/>
          </a:xfrm>
          <a:prstGeom prst="parallelogram">
            <a:avLst/>
          </a:prstGeom>
          <a:solidFill>
            <a:srgbClr val="F6F9FD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1920239"/>
            <a:ext cx="34198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Read weight and height</a:t>
            </a:r>
          </a:p>
        </p:txBody>
      </p:sp>
      <p:sp>
        <p:nvSpPr>
          <p:cNvPr id="10" name="Diamond 9"/>
          <p:cNvSpPr/>
          <p:nvPr/>
        </p:nvSpPr>
        <p:spPr>
          <a:xfrm>
            <a:off x="4617720" y="2697480"/>
            <a:ext cx="2834640" cy="114300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971800"/>
            <a:ext cx="2505456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height &lt;= 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108960"/>
            <a:ext cx="2606040" cy="530352"/>
          </a:xfrm>
          <a:prstGeom prst="parallelogram">
            <a:avLst/>
          </a:prstGeom>
          <a:solidFill>
            <a:srgbClr val="FCE8E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3154679"/>
            <a:ext cx="24597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INVALID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108960"/>
            <a:ext cx="2788920" cy="530352"/>
          </a:xfrm>
          <a:prstGeom prst="roundRect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3154679"/>
            <a:ext cx="264261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Compute BMI</a:t>
            </a:r>
          </a:p>
        </p:txBody>
      </p:sp>
      <p:sp>
        <p:nvSpPr>
          <p:cNvPr id="16" name="Diamond 15"/>
          <p:cNvSpPr/>
          <p:nvPr/>
        </p:nvSpPr>
        <p:spPr>
          <a:xfrm>
            <a:off x="8092440" y="3977639"/>
            <a:ext cx="2788920" cy="10515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4251959"/>
            <a:ext cx="2459736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BMI &lt; 25?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5303520"/>
            <a:ext cx="2331720" cy="457200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5349240"/>
            <a:ext cx="218541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NORMAL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6940" y="5303520"/>
            <a:ext cx="2148840" cy="457200"/>
          </a:xfrm>
          <a:prstGeom prst="roundRect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16668" y="5349240"/>
            <a:ext cx="200253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Continue category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1645920"/>
            <a:ext cx="0" cy="228599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2441448"/>
            <a:ext cx="0" cy="256032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566160" y="3273552"/>
            <a:ext cx="1051560" cy="109728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52360" y="3273552"/>
            <a:ext cx="640080" cy="109728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82328" y="3639312"/>
            <a:ext cx="0" cy="338327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 flipH="1">
            <a:off x="7909560" y="4754878"/>
            <a:ext cx="648286" cy="548642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</p:cNvCxnSpPr>
          <p:nvPr/>
        </p:nvCxnSpPr>
        <p:spPr>
          <a:xfrm>
            <a:off x="10351008" y="4764023"/>
            <a:ext cx="279009" cy="481232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39" y="3090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09067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  <p:sp>
        <p:nvSpPr>
          <p:cNvPr id="34" name="Oval 5">
            <a:extLst>
              <a:ext uri="{FF2B5EF4-FFF2-40B4-BE49-F238E27FC236}">
                <a16:creationId xmlns:a16="http://schemas.microsoft.com/office/drawing/2014/main" id="{EC3D4708-8F4E-4EB5-46BD-050AF665427D}"/>
              </a:ext>
            </a:extLst>
          </p:cNvPr>
          <p:cNvSpPr/>
          <p:nvPr/>
        </p:nvSpPr>
        <p:spPr>
          <a:xfrm>
            <a:off x="1192651" y="4000499"/>
            <a:ext cx="1992306" cy="502920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3DD2135D-7D50-294E-D684-B6CF52799417}"/>
              </a:ext>
            </a:extLst>
          </p:cNvPr>
          <p:cNvSpPr txBox="1"/>
          <p:nvPr/>
        </p:nvSpPr>
        <p:spPr>
          <a:xfrm>
            <a:off x="1275091" y="4155779"/>
            <a:ext cx="182742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1250" b="1" dirty="0">
                <a:solidFill>
                  <a:srgbClr val="0D3161"/>
                </a:solidFill>
                <a:latin typeface="Aptos"/>
              </a:rPr>
              <a:t>End</a:t>
            </a:r>
            <a:endParaRPr sz="1250" b="1" dirty="0">
              <a:solidFill>
                <a:srgbClr val="0D3161"/>
              </a:solidFill>
              <a:latin typeface="Aptos"/>
            </a:endParaRP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4931EA32-E8A7-B513-2CBB-24DFD9E8B2B3}"/>
              </a:ext>
            </a:extLst>
          </p:cNvPr>
          <p:cNvSpPr/>
          <p:nvPr/>
        </p:nvSpPr>
        <p:spPr>
          <a:xfrm>
            <a:off x="6821967" y="6149337"/>
            <a:ext cx="1992306" cy="502920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6">
            <a:extLst>
              <a:ext uri="{FF2B5EF4-FFF2-40B4-BE49-F238E27FC236}">
                <a16:creationId xmlns:a16="http://schemas.microsoft.com/office/drawing/2014/main" id="{230AD755-3D21-C165-53C0-E17AC609A77B}"/>
              </a:ext>
            </a:extLst>
          </p:cNvPr>
          <p:cNvSpPr txBox="1"/>
          <p:nvPr/>
        </p:nvSpPr>
        <p:spPr>
          <a:xfrm>
            <a:off x="6904408" y="6304617"/>
            <a:ext cx="182742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1250" b="1" dirty="0">
                <a:solidFill>
                  <a:srgbClr val="0D3161"/>
                </a:solidFill>
                <a:latin typeface="Aptos"/>
              </a:rPr>
              <a:t>End</a:t>
            </a:r>
            <a:endParaRPr sz="1250" b="1" dirty="0">
              <a:solidFill>
                <a:srgbClr val="0D3161"/>
              </a:solidFill>
              <a:latin typeface="Aptos"/>
            </a:endParaRPr>
          </a:p>
        </p:txBody>
      </p:sp>
      <p:cxnSp>
        <p:nvCxnSpPr>
          <p:cNvPr id="38" name="Connector 23">
            <a:extLst>
              <a:ext uri="{FF2B5EF4-FFF2-40B4-BE49-F238E27FC236}">
                <a16:creationId xmlns:a16="http://schemas.microsoft.com/office/drawing/2014/main" id="{CC381834-F671-9CF7-26EF-31A0730D4E6B}"/>
              </a:ext>
            </a:extLst>
          </p:cNvPr>
          <p:cNvCxnSpPr>
            <a:cxnSpLocks/>
            <a:stCxn id="12" idx="3"/>
            <a:endCxn id="34" idx="0"/>
          </p:cNvCxnSpPr>
          <p:nvPr/>
        </p:nvCxnSpPr>
        <p:spPr>
          <a:xfrm flipH="1">
            <a:off x="2188804" y="3639312"/>
            <a:ext cx="8042" cy="361187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3">
            <a:extLst>
              <a:ext uri="{FF2B5EF4-FFF2-40B4-BE49-F238E27FC236}">
                <a16:creationId xmlns:a16="http://schemas.microsoft.com/office/drawing/2014/main" id="{AC34665D-4DCF-84B8-288B-75DA2D1408CE}"/>
              </a:ext>
            </a:extLst>
          </p:cNvPr>
          <p:cNvCxnSpPr>
            <a:cxnSpLocks/>
          </p:cNvCxnSpPr>
          <p:nvPr/>
        </p:nvCxnSpPr>
        <p:spPr>
          <a:xfrm flipH="1">
            <a:off x="7901518" y="5743134"/>
            <a:ext cx="8042" cy="361187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COMPLETE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Heart-rate classifier: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5212080" cy="370332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545336"/>
            <a:ext cx="4919472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Algorithm HeartRateStatus(hr)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Input: heart rate in bpm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Output: status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IF hr IS MISSING THEN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RETURN "MISSING"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IF hr &lt; 60 THEN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RETURN "LOW"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ELSE IF hr &gt; 100 THEN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RETURN "HIGH"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ELSE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    RETURN "NORMAL"</a:t>
            </a:r>
          </a:p>
          <a:p>
            <a:pPr>
              <a:spcAft>
                <a:spcPts val="0"/>
              </a:spcAft>
              <a:defRPr sz="140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3657600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3408" y="178308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Missing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3408" y="207568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Handled before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365760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283464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Normal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312724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Threshold checks follow.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794760"/>
            <a:ext cx="365760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3886200"/>
            <a:ext cx="3438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4178808"/>
            <a:ext cx="3438144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One explicit status label.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FROM PSEUDOCODE TO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Python-like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5486400" cy="3840480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1545336"/>
            <a:ext cx="51937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def heart_rate_status(hr):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if hr is None: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    return "MISSING"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if hr &lt; 60: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    return "LOW"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elif hr &gt; 100: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    return "HIGH"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else: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        return "NORMAL"</a:t>
            </a:r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420">
                <a:solidFill>
                  <a:srgbClr val="233142"/>
                </a:solidFill>
                <a:latin typeface="Aptos Mono"/>
              </a:defRPr>
            </a:pPr>
            <a:r>
              <a:t>print(heart_rate_status(78))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600200"/>
            <a:ext cx="3657600" cy="410695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Same logical order as pseudocode.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Python adds concrete syntax.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Indentation defines blocks.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function is executable.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Tests verify expected behavior.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COMPLETE EXAMPLE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A simple clinical alert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Teaching scenario: generate an alert when any predefined signal is abnormal.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5303520" cy="3584448"/>
          </a:xfrm>
          <a:prstGeom prst="roundRect">
            <a:avLst/>
          </a:prstGeom>
          <a:solidFill>
            <a:srgbClr val="F6F9FD"/>
          </a:solidFill>
          <a:ln>
            <a:solidFill>
              <a:srgbClr val="C6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3" y="2048256"/>
            <a:ext cx="5010912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alert = false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IF SpO2 &lt; 92 THEN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    alert = true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IF heart_rate &gt; 120 THEN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    alert = true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IF temperature &gt; 38.5 THEN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    alert = true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END IF</a:t>
            </a:r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endParaRPr/>
          </a:p>
          <a:p>
            <a:pPr>
              <a:spcAft>
                <a:spcPts val="0"/>
              </a:spcAft>
              <a:defRPr sz="1380">
                <a:solidFill>
                  <a:srgbClr val="233142"/>
                </a:solidFill>
                <a:latin typeface="Aptos Mono"/>
              </a:defRPr>
            </a:pPr>
            <a:r>
              <a:t>RETURN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Why write the rules separately?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3657600" cy="212083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Easy to inspect.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Easy to test.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Easy to modify.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5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One abnormal signal is sufficient.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563270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0" b="0" dirty="0">
                <a:solidFill>
                  <a:srgbClr val="5E778F"/>
                </a:solidFill>
                <a:latin typeface="Aptos"/>
              </a:rPr>
              <a:t>Illustrative thresholds only.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COMPLETE EXAMPLE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0D3161"/>
                </a:solidFill>
                <a:latin typeface="Aptos Display"/>
              </a:rPr>
              <a:t>Clinical alert: flowchart</a:t>
            </a:r>
            <a:r>
              <a:rPr lang="it-IT" sz="2600" b="1" dirty="0">
                <a:solidFill>
                  <a:srgbClr val="0D3161"/>
                </a:solidFill>
                <a:latin typeface="Aptos Display"/>
              </a:rPr>
              <a:t> (Finding the </a:t>
            </a:r>
            <a:r>
              <a:rPr lang="it-IT" sz="2600" b="1" dirty="0" err="1">
                <a:solidFill>
                  <a:srgbClr val="0D3161"/>
                </a:solidFill>
                <a:latin typeface="Aptos Display"/>
              </a:rPr>
              <a:t>mistakes</a:t>
            </a:r>
            <a:r>
              <a:rPr lang="it-IT" sz="2600" b="1" dirty="0">
                <a:solidFill>
                  <a:srgbClr val="0D3161"/>
                </a:solidFill>
                <a:latin typeface="Aptos Display"/>
              </a:rPr>
              <a:t>)</a:t>
            </a:r>
            <a:endParaRPr sz="2600" b="1" dirty="0">
              <a:solidFill>
                <a:srgbClr val="0D3161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28</a:t>
            </a:r>
          </a:p>
        </p:txBody>
      </p:sp>
      <p:sp>
        <p:nvSpPr>
          <p:cNvPr id="6" name="Oval 5"/>
          <p:cNvSpPr/>
          <p:nvPr/>
        </p:nvSpPr>
        <p:spPr>
          <a:xfrm>
            <a:off x="4709160" y="1051560"/>
            <a:ext cx="2697480" cy="502920"/>
          </a:xfrm>
          <a:prstGeom prst="ellipse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8888" y="1088136"/>
            <a:ext cx="247802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Start</a:t>
            </a:r>
          </a:p>
        </p:txBody>
      </p:sp>
      <p:sp>
        <p:nvSpPr>
          <p:cNvPr id="8" name="Diamond 7"/>
          <p:cNvSpPr/>
          <p:nvPr/>
        </p:nvSpPr>
        <p:spPr>
          <a:xfrm>
            <a:off x="4663440" y="1828800"/>
            <a:ext cx="2788920" cy="10515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31" y="2103120"/>
            <a:ext cx="2459736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SpO₂ &lt; 92?</a:t>
            </a:r>
          </a:p>
        </p:txBody>
      </p:sp>
      <p:sp>
        <p:nvSpPr>
          <p:cNvPr id="10" name="Diamond 9"/>
          <p:cNvSpPr/>
          <p:nvPr/>
        </p:nvSpPr>
        <p:spPr>
          <a:xfrm>
            <a:off x="4663440" y="3200400"/>
            <a:ext cx="2788920" cy="10515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1" y="3474720"/>
            <a:ext cx="2459736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HR &gt; 120?</a:t>
            </a:r>
          </a:p>
        </p:txBody>
      </p:sp>
      <p:sp>
        <p:nvSpPr>
          <p:cNvPr id="12" name="Diamond 11"/>
          <p:cNvSpPr/>
          <p:nvPr/>
        </p:nvSpPr>
        <p:spPr>
          <a:xfrm>
            <a:off x="4663440" y="4572000"/>
            <a:ext cx="2788920" cy="1051560"/>
          </a:xfrm>
          <a:prstGeom prst="diamond">
            <a:avLst/>
          </a:prstGeom>
          <a:solidFill>
            <a:srgbClr val="FFF5E1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1" y="4846320"/>
            <a:ext cx="2459736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Temp &gt; 38.5?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057400"/>
            <a:ext cx="2331720" cy="530352"/>
          </a:xfrm>
          <a:prstGeom prst="parallelogram">
            <a:avLst/>
          </a:prstGeom>
          <a:solidFill>
            <a:srgbClr val="FCE8E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5672" y="210312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ALERT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846320"/>
            <a:ext cx="2331720" cy="530352"/>
          </a:xfrm>
          <a:prstGeom prst="parallelogram">
            <a:avLst/>
          </a:prstGeom>
          <a:solidFill>
            <a:srgbClr val="ECF8EF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4892040"/>
            <a:ext cx="218541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D3161"/>
                </a:solidFill>
                <a:latin typeface="Aptos"/>
              </a:rPr>
              <a:t>Return NO ALERT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3328" y="1554480"/>
            <a:ext cx="0" cy="274320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52360" y="2322576"/>
            <a:ext cx="1280160" cy="36576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53328" y="2880360"/>
            <a:ext cx="0" cy="320040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52360" y="2560320"/>
            <a:ext cx="1280160" cy="1170432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3328" y="4251960"/>
            <a:ext cx="0" cy="320040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 flipV="1">
            <a:off x="7452360" y="2606039"/>
            <a:ext cx="1353312" cy="2496313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53328" y="5120640"/>
            <a:ext cx="2679192" cy="502920"/>
          </a:xfrm>
          <a:prstGeom prst="line">
            <a:avLst/>
          </a:prstGeom>
          <a:ln w="1651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8120" y="21305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E778F"/>
                </a:solidFill>
                <a:latin typeface="Aptos"/>
              </a:rPr>
              <a:t>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COMBINING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Sequence + selection +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2240280" cy="14630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214884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441448"/>
            <a:ext cx="202082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Sequence
Read patient values.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76148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2057400"/>
            <a:ext cx="2240280" cy="14630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4884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441448"/>
            <a:ext cx="202082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Iteration
Visit each measurement.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76148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2057400"/>
            <a:ext cx="2240280" cy="14630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214884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441448"/>
            <a:ext cx="202082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Selection
Check whether the value is abnormal.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2761488"/>
            <a:ext cx="475488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98280" y="2057400"/>
            <a:ext cx="2240280" cy="14630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7" y="214884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3161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2441448"/>
            <a:ext cx="202082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Sequence
Update a counter or alert flag.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43400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D3161"/>
                </a:solidFill>
                <a:latin typeface="Aptos"/>
              </a:rPr>
              <a:t>Most useful programs combine all three basic control structures.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TRACE BEFORE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Manual trace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691640"/>
            <a:ext cx="1508760" cy="502920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783080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D3161"/>
                </a:solidFill>
                <a:latin typeface="Aptos"/>
              </a:rPr>
              <a:t>Input 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91640"/>
            <a:ext cx="1554480" cy="502920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178308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D3161"/>
                </a:solidFill>
                <a:latin typeface="Aptos"/>
              </a:rPr>
              <a:t>hr &lt; 60?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1645920" cy="502920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4648" y="178308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D3161"/>
                </a:solidFill>
                <a:latin typeface="Aptos"/>
              </a:rPr>
              <a:t>hr &gt; 100?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91640"/>
            <a:ext cx="1874519" cy="502920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6367" y="1783080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423160"/>
            <a:ext cx="150876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2514600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423160"/>
            <a:ext cx="155448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44368" y="251460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423160"/>
            <a:ext cx="164592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648" y="251460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423160"/>
            <a:ext cx="1874519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7" y="2514600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017520"/>
            <a:ext cx="150876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3108960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78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017520"/>
            <a:ext cx="155448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310896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017520"/>
            <a:ext cx="164592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84648" y="310896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017520"/>
            <a:ext cx="1874519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7" y="3108960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NORMAL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3611880"/>
            <a:ext cx="150876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3703320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112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3611880"/>
            <a:ext cx="155448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44368" y="370332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611880"/>
            <a:ext cx="164592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84648" y="370332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TRUE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3611880"/>
            <a:ext cx="1874519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16367" y="3703320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206240"/>
            <a:ext cx="150876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" y="4297679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60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40" y="4206240"/>
            <a:ext cx="155448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44368" y="4297679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74920" y="4206240"/>
            <a:ext cx="164592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84648" y="4297679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4206240"/>
            <a:ext cx="1874519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16367" y="4297679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NORMAL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" y="4800600"/>
            <a:ext cx="150876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" y="4892040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100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34640" y="4800600"/>
            <a:ext cx="155448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44368" y="489204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74920" y="4800600"/>
            <a:ext cx="1645920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84648" y="489204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FALSE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0" y="4800600"/>
            <a:ext cx="1874519" cy="4572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16367" y="4892040"/>
            <a:ext cx="16550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>
                <a:solidFill>
                  <a:srgbClr val="0D3161"/>
                </a:solidFill>
                <a:latin typeface="Aptos"/>
              </a:rPr>
              <a:t>NORMAL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6920" y="2103120"/>
            <a:ext cx="1600200" cy="2651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D3161"/>
                </a:solidFill>
                <a:latin typeface="Aptos"/>
              </a:rPr>
              <a:t>Tracing reveals boundary cases before code is executed.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SAFE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Validation and edge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108960" cy="13258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Missing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What if heart rate is absent?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108960" cy="13258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Impossible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What if BMI height is 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08760"/>
            <a:ext cx="3108960" cy="13258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7" y="1600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Boundary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1892807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What happens exactly at 60 or 100 bpm?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83279"/>
            <a:ext cx="3108960" cy="13258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Wrong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Are values in the expected unit?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383279"/>
            <a:ext cx="310896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Sensor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Should unrealistic spikes be accepted?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3383279"/>
            <a:ext cx="3108960" cy="13258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347472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Termination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3767328"/>
            <a:ext cx="28895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Can a WHILE loop continue forever?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GUIDED CLASSROOM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Design a small healthcare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33142"/>
                </a:solidFill>
                <a:latin typeface="Aptos"/>
              </a:rPr>
              <a:t>Problem: given one patient’s temperature and heart rate, return “REVIEW” or “NO REVIEW”.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40280"/>
            <a:ext cx="2880360" cy="13716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26609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Define input and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240280"/>
            <a:ext cx="2880360" cy="13716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233172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624328"/>
            <a:ext cx="26609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Write two explicit decision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240280"/>
            <a:ext cx="2880360" cy="137160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0648" y="233172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624328"/>
            <a:ext cx="26609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Draw the flowchart.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9784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Work in pairs for 8 minutes. Then compare whether your pseudocode and flowchart describe exactly the same logic.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INDIVIDUAL OR PAIR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Mini-lab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6400800" cy="37943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Choose one task: BMI category, heart-rate status or clinical alert.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the input and expected output.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Write pseudocode using at least two control structures.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Draw the equivalent flowchart.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Translate the algorithm into Python-like code.</a:t>
            </a: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Test one normal case, one boundary case and one invalid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828800"/>
            <a:ext cx="288036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19288" y="192024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Assessment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2212848"/>
            <a:ext cx="266090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Clarity and consistency across all three representations.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24612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3337560"/>
            <a:ext cx="26609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3630168"/>
            <a:ext cx="266090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15–20 minutes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76FBF"/>
                </a:solidFill>
                <a:latin typeface="Aptos"/>
              </a:rPr>
              <a:t>LESSON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D3161"/>
                </a:solidFill>
                <a:latin typeface="Aptos Display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E778F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858000" cy="453495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Pseudocode describes algorithmic logic independently of programming syntax.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Flowcharts make sequence, decisions and loops visible.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Sequence executes steps in order.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Selection chooses among alternative paths.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Iteration repeats a block of instructions.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program is the executable implementation of the same underlying algorithm.</a:t>
            </a:r>
          </a:p>
          <a:p>
            <a:pPr marL="285750" indent="-285750">
              <a:lnSpc>
                <a:spcPct val="102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healthcare, inputs, boundaries, missing data and assumptions must be explicit.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57400"/>
            <a:ext cx="251460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39327" y="2148840"/>
            <a:ext cx="2295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3161"/>
                </a:solidFill>
                <a:latin typeface="Aptos"/>
              </a:rPr>
              <a:t>Next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441448"/>
            <a:ext cx="22951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233142"/>
                </a:solidFill>
                <a:latin typeface="Aptos"/>
              </a:rPr>
              <a:t>Algorithm efficiency and computational complexity.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6199632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E778F"/>
                </a:solidFill>
                <a:latin typeface="Aptos"/>
              </a:rPr>
              <a:t>Algorithms and Data Structures for Medical Informatics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2063</Words>
  <Application>Microsoft Macintosh PowerPoint</Application>
  <PresentationFormat>Widescreen</PresentationFormat>
  <Paragraphs>506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Pavia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— Introduction to Algorithms and Data Structures</dc:title>
  <dc:subject>Algorithms and Data Structures for Medical Informatics</dc:subject>
  <dc:creator>Simone Rancati</dc:creator>
  <cp:lastModifiedBy>RANCATI SIMONE</cp:lastModifiedBy>
  <cp:revision>6</cp:revision>
  <dcterms:created xsi:type="dcterms:W3CDTF">2026-08-18T10:10:30Z</dcterms:created>
  <dcterms:modified xsi:type="dcterms:W3CDTF">2026-09-13T08:47:23Z</dcterms:modified>
</cp:coreProperties>
</file>