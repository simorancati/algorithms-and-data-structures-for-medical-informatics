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989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76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147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1261872"/>
            <a:ext cx="6995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505456"/>
            <a:ext cx="6537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E778F"/>
                </a:solidFill>
                <a:latin typeface="Aptos"/>
              </a:rPr>
              <a:t>Lesson 4 — Arrays, vectors, matrices and strings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10128"/>
            <a:ext cx="1600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76FBF"/>
                </a:solidFill>
                <a:latin typeface="Aptos"/>
              </a:rPr>
              <a:t>ITS · Medical Informatics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3931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15 September 2026 · 11:30–13:30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498848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233142"/>
                </a:solidFill>
                <a:latin typeface="Aptos"/>
              </a:rPr>
              <a:t>Prof: Simone Rancati, PhD
Contact: simone.rancati01@universitadipavia.it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252728"/>
            <a:ext cx="26334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D3161"/>
                </a:solidFill>
                <a:latin typeface="Aptos"/>
              </a:rPr>
              <a:t>VECTOR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600200"/>
            <a:ext cx="658368" cy="438912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45552" y="1737360"/>
            <a:ext cx="60350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92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76488" y="1600200"/>
            <a:ext cx="658368" cy="438912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737360"/>
            <a:ext cx="60350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135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34856" y="1600200"/>
            <a:ext cx="658368" cy="438912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62288" y="1737360"/>
            <a:ext cx="60350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181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93224" y="1600200"/>
            <a:ext cx="658368" cy="438912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20656" y="1737360"/>
            <a:ext cx="60350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093976"/>
            <a:ext cx="2633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5E778F"/>
                </a:solidFill>
                <a:latin typeface="Aptos"/>
              </a:rPr>
              <a:t>0   1   2   3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2788920"/>
            <a:ext cx="777240" cy="411480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36992" y="2916936"/>
            <a:ext cx="7223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788920"/>
            <a:ext cx="777240" cy="411480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14232" y="2916936"/>
            <a:ext cx="7223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Glu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2788920"/>
            <a:ext cx="777240" cy="411480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91472" y="2916936"/>
            <a:ext cx="7223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3246120"/>
            <a:ext cx="777240" cy="411480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36992" y="3374136"/>
            <a:ext cx="7223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67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3246120"/>
            <a:ext cx="777240" cy="411480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14232" y="3374136"/>
            <a:ext cx="7223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92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4040" y="3246120"/>
            <a:ext cx="777240" cy="411480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91472" y="3374136"/>
            <a:ext cx="7223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3657600"/>
            <a:ext cx="777240" cy="411480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36992" y="3785615"/>
            <a:ext cx="7223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54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3657600"/>
            <a:ext cx="777240" cy="411480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14232" y="3785615"/>
            <a:ext cx="7223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110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64040" y="3657600"/>
            <a:ext cx="777240" cy="411480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91472" y="3785615"/>
            <a:ext cx="7223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4069080"/>
            <a:ext cx="777240" cy="411480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36992" y="4197096"/>
            <a:ext cx="7223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0" y="4069080"/>
            <a:ext cx="777240" cy="411480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14232" y="4197096"/>
            <a:ext cx="7223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135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64040" y="4069080"/>
            <a:ext cx="777240" cy="411480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91472" y="4197096"/>
            <a:ext cx="7223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82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18120" y="4754880"/>
            <a:ext cx="2834640" cy="65836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27848" y="4846320"/>
            <a:ext cx="26151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STRING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7848" y="5138928"/>
            <a:ext cx="2615184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DNA = "ACGTTAAG"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LESSON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Today’s learning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1. Arrays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Indexed ordered collections.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6824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2. Vectors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933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1D numeric biomedical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6824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3. Matrices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9933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Rows × columns.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54896" y="16824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4. Strings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4896" y="19933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Ordered symbol sequences.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17520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33142"/>
                </a:solidFill>
                <a:latin typeface="Aptos"/>
              </a:rPr>
              <a:t>We will connect each structure to biomedical data: ECG as a vector, a patient dataset as a matrix, DNA as a string and an image as a matrix.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D3161"/>
                </a:solidFill>
                <a:latin typeface="Aptos"/>
              </a:rPr>
              <a:t>Main teaching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02352"/>
            <a:ext cx="98755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D3161"/>
                </a:solidFill>
                <a:latin typeface="Aptos"/>
              </a:rPr>
              <a:t>How does the shape of biomedical data determine the best representation?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949440" cy="304096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Define arrays, vectors, matrices and strings.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Use indices to access individual elements.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Represent repeated measurements as vectors.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Interpret a patient dataset as a matrix.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Represent a DNA sequence as a string.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why a digital image can be represented as a matrix.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Biomedical data have different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760720" cy="335354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2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single measurement is a scalar.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2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signal is an ordered series of values.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2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patient cohort is naturally organized in rows and columns.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2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DNA sequence is an ordered sequence of symbols.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2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grayscale image is a grid of intensity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417320"/>
            <a:ext cx="3657600" cy="7315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50608" y="1508760"/>
            <a:ext cx="3438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ECG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0608" y="1801368"/>
            <a:ext cx="3438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1D vector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404872"/>
            <a:ext cx="3657600" cy="73152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50608" y="2496312"/>
            <a:ext cx="3438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Patient cohort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2788920"/>
            <a:ext cx="3438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2D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3392424"/>
            <a:ext cx="3657600" cy="73152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0608" y="3483864"/>
            <a:ext cx="3438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DNA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3776472"/>
            <a:ext cx="3438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String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4379976"/>
            <a:ext cx="3657600" cy="73152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50608" y="4471416"/>
            <a:ext cx="3438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4764024"/>
            <a:ext cx="3438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2D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DATA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Scalar → vector → matrix → 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2331720" cy="14173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21122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Scalar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50008"/>
            <a:ext cx="2112263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One value
Example: glucose = 110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65960"/>
            <a:ext cx="2331720" cy="141732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2057400"/>
            <a:ext cx="21122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350008"/>
            <a:ext cx="2112263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One ordered axis
Example: ECG samples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965960"/>
            <a:ext cx="2331720" cy="141732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4768" y="2057400"/>
            <a:ext cx="21122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2350008"/>
            <a:ext cx="2112263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Rows × columns
Example: patient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965960"/>
            <a:ext cx="2331720" cy="141732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50807" y="2057400"/>
            <a:ext cx="21122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String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7" y="2350008"/>
            <a:ext cx="2112263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Ordered symbols
Example: DNA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51960"/>
            <a:ext cx="98755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D3161"/>
                </a:solidFill>
                <a:latin typeface="Aptos"/>
              </a:rPr>
              <a:t>The structure should preserve the relationships that matter for the algorithm.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CORE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What is an array?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33142"/>
                </a:solidFill>
                <a:latin typeface="Aptos"/>
              </a:rPr>
              <a:t>An array is an ordered collection of elements that can be accessed by position using an index.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343400"/>
            <a:ext cx="93268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0D3161"/>
                </a:solidFill>
                <a:latin typeface="Aptos"/>
              </a:rPr>
              <a:t>Arrays make repeated values easy to store, traverse and process.</a:t>
            </a:r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2AD377D6-48FF-B2FF-8D18-E30A3FC3B5C0}"/>
              </a:ext>
            </a:extLst>
          </p:cNvPr>
          <p:cNvGrpSpPr/>
          <p:nvPr/>
        </p:nvGrpSpPr>
        <p:grpSpPr>
          <a:xfrm>
            <a:off x="2834639" y="2369423"/>
            <a:ext cx="6309361" cy="1482121"/>
            <a:chOff x="1874519" y="2350008"/>
            <a:chExt cx="6309361" cy="1482121"/>
          </a:xfrm>
        </p:grpSpPr>
        <p:sp>
          <p:nvSpPr>
            <p:cNvPr id="7" name="TextBox 6"/>
            <p:cNvSpPr txBox="1"/>
            <p:nvPr/>
          </p:nvSpPr>
          <p:spPr>
            <a:xfrm>
              <a:off x="1874519" y="2350008"/>
              <a:ext cx="6309359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00" b="1">
                  <a:solidFill>
                    <a:srgbClr val="0D3161"/>
                  </a:solidFill>
                  <a:latin typeface="Aptos"/>
                </a:rPr>
                <a:t>glucose_values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874519" y="2697480"/>
              <a:ext cx="1051560" cy="621792"/>
            </a:xfrm>
            <a:prstGeom prst="rect">
              <a:avLst/>
            </a:prstGeom>
            <a:solidFill>
              <a:srgbClr val="F6F9FD"/>
            </a:solidFill>
            <a:ln>
              <a:solidFill>
                <a:srgbClr val="C6D5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901951" y="2834640"/>
              <a:ext cx="996695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33142"/>
                  </a:solidFill>
                  <a:latin typeface="Aptos"/>
                </a:rPr>
                <a:t>92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26079" y="2697480"/>
              <a:ext cx="1051560" cy="621792"/>
            </a:xfrm>
            <a:prstGeom prst="rect">
              <a:avLst/>
            </a:prstGeom>
            <a:solidFill>
              <a:srgbClr val="F6F9FD"/>
            </a:solidFill>
            <a:ln>
              <a:solidFill>
                <a:srgbClr val="C6D5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953511" y="2834640"/>
              <a:ext cx="996695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33142"/>
                  </a:solidFill>
                  <a:latin typeface="Aptos"/>
                </a:rPr>
                <a:t>135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77639" y="2697480"/>
              <a:ext cx="1051560" cy="621792"/>
            </a:xfrm>
            <a:prstGeom prst="rect">
              <a:avLst/>
            </a:prstGeom>
            <a:solidFill>
              <a:srgbClr val="F6F9FD"/>
            </a:solidFill>
            <a:ln>
              <a:solidFill>
                <a:srgbClr val="C6D5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005072" y="2834640"/>
              <a:ext cx="996695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33142"/>
                  </a:solidFill>
                  <a:latin typeface="Aptos"/>
                </a:rPr>
                <a:t>181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029200" y="2697480"/>
              <a:ext cx="1051560" cy="621792"/>
            </a:xfrm>
            <a:prstGeom prst="rect">
              <a:avLst/>
            </a:prstGeom>
            <a:solidFill>
              <a:srgbClr val="F6F9FD"/>
            </a:solidFill>
            <a:ln>
              <a:solidFill>
                <a:srgbClr val="C6D5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56632" y="2834640"/>
              <a:ext cx="996695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33142"/>
                  </a:solidFill>
                  <a:latin typeface="Aptos"/>
                </a:rPr>
                <a:t>68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080759" y="2697480"/>
              <a:ext cx="1051560" cy="621792"/>
            </a:xfrm>
            <a:prstGeom prst="rect">
              <a:avLst/>
            </a:prstGeom>
            <a:solidFill>
              <a:srgbClr val="F6F9FD"/>
            </a:solidFill>
            <a:ln>
              <a:solidFill>
                <a:srgbClr val="C6D5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108192" y="2834640"/>
              <a:ext cx="996695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33142"/>
                  </a:solidFill>
                  <a:latin typeface="Aptos"/>
                </a:rPr>
                <a:t>110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32320" y="2697480"/>
              <a:ext cx="1051560" cy="621792"/>
            </a:xfrm>
            <a:prstGeom prst="rect">
              <a:avLst/>
            </a:prstGeom>
            <a:solidFill>
              <a:srgbClr val="F6F9FD"/>
            </a:solidFill>
            <a:ln>
              <a:solidFill>
                <a:srgbClr val="C6D5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59752" y="2834640"/>
              <a:ext cx="996695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33142"/>
                  </a:solidFill>
                  <a:latin typeface="Aptos"/>
                </a:rPr>
                <a:t>74</a:t>
              </a:r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CCFA49C1-D20F-D218-B8DA-95B148B2AC78}"/>
                </a:ext>
              </a:extLst>
            </p:cNvPr>
            <p:cNvSpPr txBox="1"/>
            <p:nvPr/>
          </p:nvSpPr>
          <p:spPr>
            <a:xfrm>
              <a:off x="2203938" y="344728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0</a:t>
              </a:r>
            </a:p>
          </p:txBody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C02C3E33-E855-011A-AACF-8D23CE3095A4}"/>
                </a:ext>
              </a:extLst>
            </p:cNvPr>
            <p:cNvSpPr txBox="1"/>
            <p:nvPr/>
          </p:nvSpPr>
          <p:spPr>
            <a:xfrm>
              <a:off x="3297809" y="3429000"/>
              <a:ext cx="308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1</a:t>
              </a:r>
            </a:p>
          </p:txBody>
        </p:sp>
        <p:sp>
          <p:nvSpPr>
            <p:cNvPr id="24" name="CasellaDiTesto 23">
              <a:extLst>
                <a:ext uri="{FF2B5EF4-FFF2-40B4-BE49-F238E27FC236}">
                  <a16:creationId xmlns:a16="http://schemas.microsoft.com/office/drawing/2014/main" id="{75F8F9DA-0138-5738-5A5C-13D5440889EE}"/>
                </a:ext>
              </a:extLst>
            </p:cNvPr>
            <p:cNvSpPr txBox="1"/>
            <p:nvPr/>
          </p:nvSpPr>
          <p:spPr>
            <a:xfrm>
              <a:off x="4349370" y="3462004"/>
              <a:ext cx="308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2</a:t>
              </a:r>
            </a:p>
          </p:txBody>
        </p:sp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E5FC9642-1632-D131-6C85-8B0694A8CD9E}"/>
                </a:ext>
              </a:extLst>
            </p:cNvPr>
            <p:cNvSpPr txBox="1"/>
            <p:nvPr/>
          </p:nvSpPr>
          <p:spPr>
            <a:xfrm>
              <a:off x="5350639" y="3462004"/>
              <a:ext cx="308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3</a:t>
              </a:r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C37FE164-CBFB-49D8-AE54-E2E30E1B0952}"/>
                </a:ext>
              </a:extLst>
            </p:cNvPr>
            <p:cNvSpPr txBox="1"/>
            <p:nvPr/>
          </p:nvSpPr>
          <p:spPr>
            <a:xfrm>
              <a:off x="6452490" y="3462797"/>
              <a:ext cx="308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4</a:t>
              </a:r>
            </a:p>
          </p:txBody>
        </p:sp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63662C61-2D47-AF6F-4948-E380CDE89DCB}"/>
                </a:ext>
              </a:extLst>
            </p:cNvPr>
            <p:cNvSpPr txBox="1"/>
            <p:nvPr/>
          </p:nvSpPr>
          <p:spPr>
            <a:xfrm>
              <a:off x="7504050" y="3451129"/>
              <a:ext cx="308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ARRAY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94760"/>
            <a:ext cx="292608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07007" y="3886200"/>
            <a:ext cx="27066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Index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7" y="4178808"/>
            <a:ext cx="270662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heart_rate[0] = 72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3794760"/>
            <a:ext cx="2926080" cy="10515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3886200"/>
            <a:ext cx="27066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Index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178808"/>
            <a:ext cx="270662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heart_rate[3] = 96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2926080" cy="105156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47888" y="3886200"/>
            <a:ext cx="27066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Last element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178808"/>
            <a:ext cx="270662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heart_rate[5] = 88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E778F"/>
                </a:solidFill>
                <a:latin typeface="Aptos"/>
              </a:rPr>
              <a:t>In many programming languages, indexing starts at 0.</a:t>
            </a:r>
          </a:p>
        </p:txBody>
      </p: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D63C3C94-89E3-6881-E4A9-60773A01CD74}"/>
              </a:ext>
            </a:extLst>
          </p:cNvPr>
          <p:cNvGrpSpPr/>
          <p:nvPr/>
        </p:nvGrpSpPr>
        <p:grpSpPr>
          <a:xfrm>
            <a:off x="1801368" y="1578864"/>
            <a:ext cx="7406640" cy="1531619"/>
            <a:chOff x="1097280" y="1618488"/>
            <a:chExt cx="7406640" cy="1531619"/>
          </a:xfrm>
        </p:grpSpPr>
        <p:sp>
          <p:nvSpPr>
            <p:cNvPr id="6" name="TextBox 5"/>
            <p:cNvSpPr txBox="1"/>
            <p:nvPr/>
          </p:nvSpPr>
          <p:spPr>
            <a:xfrm>
              <a:off x="1097280" y="1618488"/>
              <a:ext cx="7406640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00" b="1" dirty="0" err="1">
                  <a:solidFill>
                    <a:srgbClr val="0D3161"/>
                  </a:solidFill>
                  <a:latin typeface="Aptos"/>
                </a:rPr>
                <a:t>heart_rate</a:t>
              </a:r>
              <a:endParaRPr sz="1300" b="1" dirty="0">
                <a:solidFill>
                  <a:srgbClr val="0D3161"/>
                </a:solidFill>
                <a:latin typeface="Apto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97280" y="1965960"/>
              <a:ext cx="1234440" cy="658368"/>
            </a:xfrm>
            <a:prstGeom prst="rect">
              <a:avLst/>
            </a:prstGeom>
            <a:solidFill>
              <a:srgbClr val="F6F9FD"/>
            </a:solidFill>
            <a:ln>
              <a:solidFill>
                <a:srgbClr val="C6D5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24712" y="2103120"/>
              <a:ext cx="1179576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33142"/>
                  </a:solidFill>
                  <a:latin typeface="Aptos"/>
                </a:rPr>
                <a:t>72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331720" y="1965960"/>
              <a:ext cx="1234440" cy="658368"/>
            </a:xfrm>
            <a:prstGeom prst="rect">
              <a:avLst/>
            </a:prstGeom>
            <a:solidFill>
              <a:srgbClr val="F6F9FD"/>
            </a:solidFill>
            <a:ln>
              <a:solidFill>
                <a:srgbClr val="C6D5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59151" y="2103120"/>
              <a:ext cx="1179576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33142"/>
                  </a:solidFill>
                  <a:latin typeface="Aptos"/>
                </a:rPr>
                <a:t>75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566160" y="1965960"/>
              <a:ext cx="1234440" cy="658368"/>
            </a:xfrm>
            <a:prstGeom prst="rect">
              <a:avLst/>
            </a:prstGeom>
            <a:solidFill>
              <a:srgbClr val="F6F9FD"/>
            </a:solidFill>
            <a:ln>
              <a:solidFill>
                <a:srgbClr val="C6D5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93592" y="2103120"/>
              <a:ext cx="1179576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33142"/>
                  </a:solidFill>
                  <a:latin typeface="Aptos"/>
                </a:rPr>
                <a:t>80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00600" y="1965960"/>
              <a:ext cx="1234440" cy="658368"/>
            </a:xfrm>
            <a:prstGeom prst="rect">
              <a:avLst/>
            </a:prstGeom>
            <a:solidFill>
              <a:srgbClr val="F6F9FD"/>
            </a:solidFill>
            <a:ln>
              <a:solidFill>
                <a:srgbClr val="C6D5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828032" y="2103120"/>
              <a:ext cx="1179576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33142"/>
                  </a:solidFill>
                  <a:latin typeface="Aptos"/>
                </a:rPr>
                <a:t>96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035040" y="1965960"/>
              <a:ext cx="1234440" cy="658368"/>
            </a:xfrm>
            <a:prstGeom prst="rect">
              <a:avLst/>
            </a:prstGeom>
            <a:solidFill>
              <a:srgbClr val="F6F9FD"/>
            </a:solidFill>
            <a:ln>
              <a:solidFill>
                <a:srgbClr val="C6D5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62472" y="2103120"/>
              <a:ext cx="1179576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33142"/>
                  </a:solidFill>
                  <a:latin typeface="Aptos"/>
                </a:rPr>
                <a:t>105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269480" y="1965960"/>
              <a:ext cx="1234440" cy="658368"/>
            </a:xfrm>
            <a:prstGeom prst="rect">
              <a:avLst/>
            </a:prstGeom>
            <a:solidFill>
              <a:srgbClr val="F6F9FD"/>
            </a:solidFill>
            <a:ln>
              <a:solidFill>
                <a:srgbClr val="C6D5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96912" y="2103120"/>
              <a:ext cx="1179576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33142"/>
                  </a:solidFill>
                  <a:latin typeface="Aptos"/>
                </a:rPr>
                <a:t>88</a:t>
              </a:r>
            </a:p>
          </p:txBody>
        </p:sp>
        <p:grpSp>
          <p:nvGrpSpPr>
            <p:cNvPr id="36" name="Gruppo 35">
              <a:extLst>
                <a:ext uri="{FF2B5EF4-FFF2-40B4-BE49-F238E27FC236}">
                  <a16:creationId xmlns:a16="http://schemas.microsoft.com/office/drawing/2014/main" id="{80AB36F0-F0BB-C516-F63C-AA588E5CE0A2}"/>
                </a:ext>
              </a:extLst>
            </p:cNvPr>
            <p:cNvGrpSpPr/>
            <p:nvPr/>
          </p:nvGrpSpPr>
          <p:grpSpPr>
            <a:xfrm>
              <a:off x="1379274" y="2746978"/>
              <a:ext cx="6758885" cy="403129"/>
              <a:chOff x="3164058" y="3448415"/>
              <a:chExt cx="5608210" cy="403129"/>
            </a:xfrm>
          </p:grpSpPr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F5A00962-6017-3DEF-254F-7DE29931FDD9}"/>
                  </a:ext>
                </a:extLst>
              </p:cNvPr>
              <p:cNvSpPr txBox="1"/>
              <p:nvPr/>
            </p:nvSpPr>
            <p:spPr>
              <a:xfrm>
                <a:off x="3164058" y="346670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0</a:t>
                </a:r>
              </a:p>
            </p:txBody>
          </p:sp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38E6B837-FC33-89AD-8DE8-4C63930F1D8A}"/>
                  </a:ext>
                </a:extLst>
              </p:cNvPr>
              <p:cNvSpPr txBox="1"/>
              <p:nvPr/>
            </p:nvSpPr>
            <p:spPr>
              <a:xfrm>
                <a:off x="4257929" y="3448415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1</a:t>
                </a:r>
              </a:p>
            </p:txBody>
          </p:sp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DD4409FD-7523-0661-D423-6C8AD1EC17AF}"/>
                  </a:ext>
                </a:extLst>
              </p:cNvPr>
              <p:cNvSpPr txBox="1"/>
              <p:nvPr/>
            </p:nvSpPr>
            <p:spPr>
              <a:xfrm>
                <a:off x="5309490" y="3481419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2</a:t>
                </a:r>
              </a:p>
            </p:txBody>
          </p:sp>
          <p:sp>
            <p:nvSpPr>
              <p:cNvPr id="33" name="CasellaDiTesto 32">
                <a:extLst>
                  <a:ext uri="{FF2B5EF4-FFF2-40B4-BE49-F238E27FC236}">
                    <a16:creationId xmlns:a16="http://schemas.microsoft.com/office/drawing/2014/main" id="{0D9BA43B-25D0-5740-9217-B2266A7D8D5C}"/>
                  </a:ext>
                </a:extLst>
              </p:cNvPr>
              <p:cNvSpPr txBox="1"/>
              <p:nvPr/>
            </p:nvSpPr>
            <p:spPr>
              <a:xfrm>
                <a:off x="6310759" y="3481419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3</a:t>
                </a:r>
              </a:p>
            </p:txBody>
          </p:sp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ED8B287B-2190-3F19-A089-04A7D57EF9E9}"/>
                  </a:ext>
                </a:extLst>
              </p:cNvPr>
              <p:cNvSpPr txBox="1"/>
              <p:nvPr/>
            </p:nvSpPr>
            <p:spPr>
              <a:xfrm>
                <a:off x="7412610" y="3482212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4</a:t>
                </a:r>
              </a:p>
            </p:txBody>
          </p:sp>
          <p:sp>
            <p:nvSpPr>
              <p:cNvPr id="35" name="CasellaDiTesto 34">
                <a:extLst>
                  <a:ext uri="{FF2B5EF4-FFF2-40B4-BE49-F238E27FC236}">
                    <a16:creationId xmlns:a16="http://schemas.microsoft.com/office/drawing/2014/main" id="{5133D6ED-D4F0-76A1-C32C-A4BB165D1868}"/>
                  </a:ext>
                </a:extLst>
              </p:cNvPr>
              <p:cNvSpPr txBox="1"/>
              <p:nvPr/>
            </p:nvSpPr>
            <p:spPr>
              <a:xfrm>
                <a:off x="8464170" y="3470544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5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ARRAY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Common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3108960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16459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9385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Read an element by index.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54480"/>
            <a:ext cx="3108960" cy="13258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16459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9385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Replace the value at an index.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1554480"/>
            <a:ext cx="3108960" cy="132588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7" y="16459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Traverse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7" y="19385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Visit every element in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29000"/>
            <a:ext cx="3108960" cy="132588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7" y="352044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Length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7" y="381304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Count how many elements are stored.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429000"/>
            <a:ext cx="3108960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81728" y="352044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Append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81304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Add a new element at the end.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19" y="3429000"/>
            <a:ext cx="3108960" cy="13258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7" y="352044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381304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Find a value or condition.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Glucose measurements as an array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4937760" cy="3291840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1636776"/>
            <a:ext cx="4645152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glucose = [92, 135, 181, 68, 110]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minimum = glucose[0]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FOR each value IN glucose: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    IF value &lt; minimum THEN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        minimum = value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    END IF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END FOR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RETURN minimum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365760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0528" y="2011680"/>
            <a:ext cx="3438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Input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304288"/>
            <a:ext cx="343814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Array of glucose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26080"/>
            <a:ext cx="365760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3017520"/>
            <a:ext cx="3438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3310128"/>
            <a:ext cx="343814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Traverse all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31920"/>
            <a:ext cx="3657600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4023359"/>
            <a:ext cx="3438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4315968"/>
            <a:ext cx="343814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minimum = 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ONE-DIMENSIONAL NUMERIC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What is a vector?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33142"/>
                </a:solidFill>
                <a:latin typeface="Aptos"/>
              </a:rPr>
              <a:t>A vector is a one-dimensional ordered collection of numeric values. In practice, it can be implemented using an array.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95728"/>
            <a:ext cx="9875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D3161"/>
                </a:solidFill>
                <a:latin typeface="Aptos"/>
              </a:rPr>
              <a:t>ECG amplitude samples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743200"/>
            <a:ext cx="1234440" cy="621792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6152" y="2880360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0.12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2743200"/>
            <a:ext cx="1234440" cy="621792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50592" y="2880360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0.18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743200"/>
            <a:ext cx="1234440" cy="621792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5032" y="2880360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0.09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743200"/>
            <a:ext cx="1234440" cy="621792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19472" y="2880360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-0.04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743200"/>
            <a:ext cx="1234440" cy="621792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53912" y="2880360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0.75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2743200"/>
            <a:ext cx="1234440" cy="621792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88352" y="2880360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-0.35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2743200"/>
            <a:ext cx="1234440" cy="621792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22792" y="2880360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0.21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2743200"/>
            <a:ext cx="1234440" cy="621792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57232" y="2880360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0.15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D3161"/>
                </a:solidFill>
                <a:latin typeface="Aptos"/>
              </a:rPr>
              <a:t>A vector has one main axis: position or time index.</a:t>
            </a:r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590D728C-A6B6-E333-570D-0134C9369AF7}"/>
              </a:ext>
            </a:extLst>
          </p:cNvPr>
          <p:cNvGrpSpPr/>
          <p:nvPr/>
        </p:nvGrpSpPr>
        <p:grpSpPr>
          <a:xfrm>
            <a:off x="1470714" y="3472275"/>
            <a:ext cx="9404462" cy="399344"/>
            <a:chOff x="1470714" y="3472275"/>
            <a:chExt cx="9404462" cy="399344"/>
          </a:xfrm>
        </p:grpSpPr>
        <p:grpSp>
          <p:nvGrpSpPr>
            <p:cNvPr id="32" name="Gruppo 31">
              <a:extLst>
                <a:ext uri="{FF2B5EF4-FFF2-40B4-BE49-F238E27FC236}">
                  <a16:creationId xmlns:a16="http://schemas.microsoft.com/office/drawing/2014/main" id="{FAFB46E9-C489-28FA-5466-05D1C855AF55}"/>
                </a:ext>
              </a:extLst>
            </p:cNvPr>
            <p:cNvGrpSpPr/>
            <p:nvPr/>
          </p:nvGrpSpPr>
          <p:grpSpPr>
            <a:xfrm>
              <a:off x="1470714" y="3472275"/>
              <a:ext cx="6858539" cy="399344"/>
              <a:chOff x="3164058" y="3460082"/>
              <a:chExt cx="4028583" cy="399344"/>
            </a:xfrm>
          </p:grpSpPr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8026D20A-16BA-FDC5-79B7-42DC640008B2}"/>
                  </a:ext>
                </a:extLst>
              </p:cNvPr>
              <p:cNvSpPr txBox="1"/>
              <p:nvPr/>
            </p:nvSpPr>
            <p:spPr>
              <a:xfrm>
                <a:off x="3164058" y="346670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0</a:t>
                </a:r>
              </a:p>
            </p:txBody>
          </p:sp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84B43FCD-99B8-DA92-2163-7C21290B0233}"/>
                  </a:ext>
                </a:extLst>
              </p:cNvPr>
              <p:cNvSpPr txBox="1"/>
              <p:nvPr/>
            </p:nvSpPr>
            <p:spPr>
              <a:xfrm>
                <a:off x="4011278" y="3460082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1</a:t>
                </a:r>
              </a:p>
            </p:txBody>
          </p:sp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CFC1C059-F05D-BBB2-D290-FE76D40F9372}"/>
                  </a:ext>
                </a:extLst>
              </p:cNvPr>
              <p:cNvSpPr txBox="1"/>
              <p:nvPr/>
            </p:nvSpPr>
            <p:spPr>
              <a:xfrm>
                <a:off x="4704449" y="3490094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2</a:t>
                </a:r>
              </a:p>
            </p:txBody>
          </p:sp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FB38B0C0-43D2-53AE-F86D-FE3A3803A3DF}"/>
                  </a:ext>
                </a:extLst>
              </p:cNvPr>
              <p:cNvSpPr txBox="1"/>
              <p:nvPr/>
            </p:nvSpPr>
            <p:spPr>
              <a:xfrm>
                <a:off x="5447911" y="3467631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3</a:t>
                </a:r>
              </a:p>
            </p:txBody>
          </p:sp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F480B1D3-4F58-6E54-174C-D7EE6C8D28FE}"/>
                  </a:ext>
                </a:extLst>
              </p:cNvPr>
              <p:cNvSpPr txBox="1"/>
              <p:nvPr/>
            </p:nvSpPr>
            <p:spPr>
              <a:xfrm>
                <a:off x="6141082" y="3480815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4</a:t>
                </a:r>
              </a:p>
            </p:txBody>
          </p:sp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3C925D18-6EE8-4A3F-F88A-73B2AFB9B1EC}"/>
                  </a:ext>
                </a:extLst>
              </p:cNvPr>
              <p:cNvSpPr txBox="1"/>
              <p:nvPr/>
            </p:nvSpPr>
            <p:spPr>
              <a:xfrm>
                <a:off x="6884543" y="3480815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5</a:t>
                </a:r>
              </a:p>
            </p:txBody>
          </p:sp>
        </p:grp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BA2CDFD9-E592-4072-EB79-EE3035772E54}"/>
                </a:ext>
              </a:extLst>
            </p:cNvPr>
            <p:cNvSpPr txBox="1"/>
            <p:nvPr/>
          </p:nvSpPr>
          <p:spPr>
            <a:xfrm>
              <a:off x="9029422" y="3502287"/>
              <a:ext cx="524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6</a:t>
              </a:r>
            </a:p>
          </p:txBody>
        </p:sp>
        <p:sp>
          <p:nvSpPr>
            <p:cNvPr id="34" name="CasellaDiTesto 33">
              <a:extLst>
                <a:ext uri="{FF2B5EF4-FFF2-40B4-BE49-F238E27FC236}">
                  <a16:creationId xmlns:a16="http://schemas.microsoft.com/office/drawing/2014/main" id="{907105F1-71FC-3E65-BA07-F6E8D89D9274}"/>
                </a:ext>
              </a:extLst>
            </p:cNvPr>
            <p:cNvSpPr txBox="1"/>
            <p:nvPr/>
          </p:nvSpPr>
          <p:spPr>
            <a:xfrm>
              <a:off x="10350649" y="3478896"/>
              <a:ext cx="524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7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ECG as a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1554480"/>
            <a:ext cx="0" cy="2926080"/>
          </a:xfrm>
          <a:prstGeom prst="line">
            <a:avLst/>
          </a:prstGeom>
          <a:ln w="889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68780" y="1554480"/>
            <a:ext cx="0" cy="2926080"/>
          </a:xfrm>
          <a:prstGeom prst="line">
            <a:avLst/>
          </a:prstGeom>
          <a:ln w="889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468880" y="1554480"/>
            <a:ext cx="0" cy="2926080"/>
          </a:xfrm>
          <a:prstGeom prst="line">
            <a:avLst/>
          </a:prstGeom>
          <a:ln w="889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68980" y="1554480"/>
            <a:ext cx="0" cy="2926080"/>
          </a:xfrm>
          <a:prstGeom prst="line">
            <a:avLst/>
          </a:prstGeom>
          <a:ln w="889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69080" y="1554480"/>
            <a:ext cx="0" cy="2926080"/>
          </a:xfrm>
          <a:prstGeom prst="line">
            <a:avLst/>
          </a:prstGeom>
          <a:ln w="889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69180" y="1554480"/>
            <a:ext cx="0" cy="2926080"/>
          </a:xfrm>
          <a:prstGeom prst="line">
            <a:avLst/>
          </a:prstGeom>
          <a:ln w="889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80" y="1554480"/>
            <a:ext cx="0" cy="2926080"/>
          </a:xfrm>
          <a:prstGeom prst="line">
            <a:avLst/>
          </a:prstGeom>
          <a:ln w="889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69380" y="1554480"/>
            <a:ext cx="0" cy="2926080"/>
          </a:xfrm>
          <a:prstGeom prst="line">
            <a:avLst/>
          </a:prstGeom>
          <a:ln w="889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69480" y="1554480"/>
            <a:ext cx="0" cy="2926080"/>
          </a:xfrm>
          <a:prstGeom prst="line">
            <a:avLst/>
          </a:prstGeom>
          <a:ln w="889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8680" y="1554480"/>
            <a:ext cx="6400800" cy="0"/>
          </a:xfrm>
          <a:prstGeom prst="line">
            <a:avLst/>
          </a:prstGeom>
          <a:ln w="889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8680" y="2286000"/>
            <a:ext cx="6400800" cy="0"/>
          </a:xfrm>
          <a:prstGeom prst="line">
            <a:avLst/>
          </a:prstGeom>
          <a:ln w="889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68680" y="3017520"/>
            <a:ext cx="6400800" cy="0"/>
          </a:xfrm>
          <a:prstGeom prst="line">
            <a:avLst/>
          </a:prstGeom>
          <a:ln w="889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8680" y="3749040"/>
            <a:ext cx="6400800" cy="0"/>
          </a:xfrm>
          <a:prstGeom prst="line">
            <a:avLst/>
          </a:prstGeom>
          <a:ln w="889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8680" y="4480560"/>
            <a:ext cx="6400800" cy="0"/>
          </a:xfrm>
          <a:prstGeom prst="line">
            <a:avLst/>
          </a:prstGeom>
          <a:ln w="889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" y="3163824"/>
            <a:ext cx="512064" cy="0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80744" y="2958998"/>
            <a:ext cx="320040" cy="204826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00784" y="2958998"/>
            <a:ext cx="320040" cy="204826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20824" y="3163824"/>
            <a:ext cx="640080" cy="0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660904" y="3163824"/>
            <a:ext cx="384048" cy="204825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044952" y="1788566"/>
            <a:ext cx="256032" cy="1580083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300984" y="1788566"/>
            <a:ext cx="256031" cy="2545690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57015" y="3017520"/>
            <a:ext cx="320041" cy="1316736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77056" y="3017520"/>
            <a:ext cx="640080" cy="146304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517136" y="2666390"/>
            <a:ext cx="448056" cy="497434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65192" y="2666390"/>
            <a:ext cx="512064" cy="497434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477256" y="3163824"/>
            <a:ext cx="1792224" cy="0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726679" y="1645920"/>
            <a:ext cx="306324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36407" y="1737360"/>
            <a:ext cx="2843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Conceptual representation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7" y="2029968"/>
            <a:ext cx="284378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ECG = [x₀, x₁, x₂, …, xₙ]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6679" y="2971800"/>
            <a:ext cx="3063240" cy="10515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36407" y="3063240"/>
            <a:ext cx="2843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Index meaning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36407" y="3355848"/>
            <a:ext cx="284378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Sample position in 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26679" y="4297680"/>
            <a:ext cx="3063240" cy="105156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36407" y="4389120"/>
            <a:ext cx="2843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Value meaning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36407" y="4681728"/>
            <a:ext cx="284378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Measured electrical amplitude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VECTOR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Algorithms on an ECG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3108960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16459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9385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Average amplitude over a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54480"/>
            <a:ext cx="3108960" cy="13258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16459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Maximum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9385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Find the largest observed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1554480"/>
            <a:ext cx="3108960" cy="132588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7" y="16459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7" y="19385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Detect values above a criterion.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29000"/>
            <a:ext cx="3108960" cy="132588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7" y="352044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7" y="381304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Extract a contiguous segment.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429000"/>
            <a:ext cx="3108960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81728" y="352044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Difference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81304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Compare consecutive samples.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19" y="3429000"/>
            <a:ext cx="3108960" cy="13258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7" y="352044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Peak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381304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Find local maxima.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VECTOR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Extracting a time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27048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D3161"/>
                </a:solidFill>
                <a:latin typeface="Aptos"/>
              </a:rPr>
              <a:t>heart_rate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114300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011679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72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874519"/>
            <a:ext cx="114300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93391" y="2011679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74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874519"/>
            <a:ext cx="114300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36391" y="2011679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78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874519"/>
            <a:ext cx="114300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2011679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82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874519"/>
            <a:ext cx="114300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22392" y="2011679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88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1874519"/>
            <a:ext cx="114300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2011679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96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1874519"/>
            <a:ext cx="114300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08392" y="2011679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105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1874519"/>
            <a:ext cx="114300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51392" y="2011679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1874519"/>
            <a:ext cx="114300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94392" y="2011679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84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3703320"/>
            <a:ext cx="2148840" cy="9144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29968" y="3794759"/>
            <a:ext cx="192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Start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9968" y="4087368"/>
            <a:ext cx="1929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3703320"/>
            <a:ext cx="2148840" cy="9144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27448" y="3794759"/>
            <a:ext cx="192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End index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7448" y="4087368"/>
            <a:ext cx="1929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3703320"/>
            <a:ext cx="2880360" cy="9144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24927" y="3794759"/>
            <a:ext cx="26609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Window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4927" y="4087368"/>
            <a:ext cx="2660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[78, 82, 88, 96, 105]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029200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0D3161"/>
                </a:solidFill>
                <a:latin typeface="Aptos"/>
              </a:rPr>
              <a:t>Windowing becomes fundamental when we later study ECG, EEG and CGM time series.</a:t>
            </a:r>
          </a:p>
        </p:txBody>
      </p: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73C6E5E7-D460-7BB3-60F7-7F2A7DC78811}"/>
              </a:ext>
            </a:extLst>
          </p:cNvPr>
          <p:cNvGrpSpPr/>
          <p:nvPr/>
        </p:nvGrpSpPr>
        <p:grpSpPr>
          <a:xfrm>
            <a:off x="1133998" y="2505925"/>
            <a:ext cx="8677507" cy="415150"/>
            <a:chOff x="1470714" y="3454456"/>
            <a:chExt cx="8677507" cy="415150"/>
          </a:xfrm>
        </p:grpSpPr>
        <p:grpSp>
          <p:nvGrpSpPr>
            <p:cNvPr id="37" name="Gruppo 36">
              <a:extLst>
                <a:ext uri="{FF2B5EF4-FFF2-40B4-BE49-F238E27FC236}">
                  <a16:creationId xmlns:a16="http://schemas.microsoft.com/office/drawing/2014/main" id="{16128413-BF4D-9AED-C469-DE65B334B52A}"/>
                </a:ext>
              </a:extLst>
            </p:cNvPr>
            <p:cNvGrpSpPr/>
            <p:nvPr/>
          </p:nvGrpSpPr>
          <p:grpSpPr>
            <a:xfrm>
              <a:off x="1470714" y="3454456"/>
              <a:ext cx="6362962" cy="407884"/>
              <a:chOff x="3164058" y="3442263"/>
              <a:chExt cx="3737490" cy="407884"/>
            </a:xfrm>
          </p:grpSpPr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7F8A9427-1F37-1C87-3391-9BE1A06088DD}"/>
                  </a:ext>
                </a:extLst>
              </p:cNvPr>
              <p:cNvSpPr txBox="1"/>
              <p:nvPr/>
            </p:nvSpPr>
            <p:spPr>
              <a:xfrm>
                <a:off x="3164058" y="346670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0</a:t>
                </a:r>
              </a:p>
            </p:txBody>
          </p:sp>
          <p:sp>
            <p:nvSpPr>
              <p:cNvPr id="41" name="CasellaDiTesto 40">
                <a:extLst>
                  <a:ext uri="{FF2B5EF4-FFF2-40B4-BE49-F238E27FC236}">
                    <a16:creationId xmlns:a16="http://schemas.microsoft.com/office/drawing/2014/main" id="{5AA1973C-FDD3-BE8B-EFFA-787701F35AEA}"/>
                  </a:ext>
                </a:extLst>
              </p:cNvPr>
              <p:cNvSpPr txBox="1"/>
              <p:nvPr/>
            </p:nvSpPr>
            <p:spPr>
              <a:xfrm>
                <a:off x="3827831" y="3460082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1</a:t>
                </a:r>
              </a:p>
            </p:txBody>
          </p:sp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3A4662AD-3CD9-A769-AB3E-AC9EBE81BCC8}"/>
                  </a:ext>
                </a:extLst>
              </p:cNvPr>
              <p:cNvSpPr txBox="1"/>
              <p:nvPr/>
            </p:nvSpPr>
            <p:spPr>
              <a:xfrm>
                <a:off x="4570155" y="3480815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2</a:t>
                </a:r>
              </a:p>
            </p:txBody>
          </p:sp>
          <p:sp>
            <p:nvSpPr>
              <p:cNvPr id="43" name="CasellaDiTesto 42">
                <a:extLst>
                  <a:ext uri="{FF2B5EF4-FFF2-40B4-BE49-F238E27FC236}">
                    <a16:creationId xmlns:a16="http://schemas.microsoft.com/office/drawing/2014/main" id="{BBA934BA-F9B6-415A-8A81-AD1767062160}"/>
                  </a:ext>
                </a:extLst>
              </p:cNvPr>
              <p:cNvSpPr txBox="1"/>
              <p:nvPr/>
            </p:nvSpPr>
            <p:spPr>
              <a:xfrm>
                <a:off x="5233928" y="3456772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3</a:t>
                </a:r>
              </a:p>
            </p:txBody>
          </p:sp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6C4B71BE-945A-3247-8D33-88A026988FCF}"/>
                  </a:ext>
                </a:extLst>
              </p:cNvPr>
              <p:cNvSpPr txBox="1"/>
              <p:nvPr/>
            </p:nvSpPr>
            <p:spPr>
              <a:xfrm>
                <a:off x="5891090" y="3480815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4</a:t>
                </a:r>
              </a:p>
            </p:txBody>
          </p:sp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21F2C811-8399-2FA5-8506-8831C318EDB4}"/>
                  </a:ext>
                </a:extLst>
              </p:cNvPr>
              <p:cNvSpPr txBox="1"/>
              <p:nvPr/>
            </p:nvSpPr>
            <p:spPr>
              <a:xfrm>
                <a:off x="6593450" y="3442263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5</a:t>
                </a:r>
              </a:p>
            </p:txBody>
          </p:sp>
        </p:grpSp>
        <p:sp>
          <p:nvSpPr>
            <p:cNvPr id="38" name="CasellaDiTesto 37">
              <a:extLst>
                <a:ext uri="{FF2B5EF4-FFF2-40B4-BE49-F238E27FC236}">
                  <a16:creationId xmlns:a16="http://schemas.microsoft.com/office/drawing/2014/main" id="{682F80FD-C20B-C91C-271E-4F7C148CD6F7}"/>
                </a:ext>
              </a:extLst>
            </p:cNvPr>
            <p:cNvSpPr txBox="1"/>
            <p:nvPr/>
          </p:nvSpPr>
          <p:spPr>
            <a:xfrm>
              <a:off x="8427947" y="3493008"/>
              <a:ext cx="524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6</a:t>
              </a:r>
            </a:p>
          </p:txBody>
        </p:sp>
        <p:sp>
          <p:nvSpPr>
            <p:cNvPr id="39" name="CasellaDiTesto 38">
              <a:extLst>
                <a:ext uri="{FF2B5EF4-FFF2-40B4-BE49-F238E27FC236}">
                  <a16:creationId xmlns:a16="http://schemas.microsoft.com/office/drawing/2014/main" id="{F6F62C22-8941-80BC-9665-CA5F52AE0DFA}"/>
                </a:ext>
              </a:extLst>
            </p:cNvPr>
            <p:cNvSpPr txBox="1"/>
            <p:nvPr/>
          </p:nvSpPr>
          <p:spPr>
            <a:xfrm>
              <a:off x="9623694" y="3500274"/>
              <a:ext cx="524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7</a:t>
              </a:r>
            </a:p>
          </p:txBody>
        </p:sp>
      </p:grp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8E3F69B7-7D25-935D-AF3C-47FC28BE527A}"/>
              </a:ext>
            </a:extLst>
          </p:cNvPr>
          <p:cNvSpPr txBox="1"/>
          <p:nvPr/>
        </p:nvSpPr>
        <p:spPr>
          <a:xfrm>
            <a:off x="10368590" y="2587359"/>
            <a:ext cx="524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TWO-DIMENSIONAL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What is a matrix?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149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33142"/>
                </a:solidFill>
                <a:latin typeface="Aptos"/>
              </a:rPr>
              <a:t>A matrix is a two-dimensional arrangement of values organized by rows and columns.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2423160"/>
            <a:ext cx="1234440" cy="566928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22192" y="2551176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423160"/>
            <a:ext cx="1234440" cy="566928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6632" y="2551176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Glucose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423160"/>
            <a:ext cx="1234440" cy="566928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1072" y="2551176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72968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3035808"/>
            <a:ext cx="123444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22192" y="3163824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67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035808"/>
            <a:ext cx="123444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56632" y="3163824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92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035808"/>
            <a:ext cx="123444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3163824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39896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3602736"/>
            <a:ext cx="123444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22192" y="3730752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54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602736"/>
            <a:ext cx="123444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56632" y="3730752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110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602736"/>
            <a:ext cx="123444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91072" y="3730752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306824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94760" y="4169663"/>
            <a:ext cx="123444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22192" y="4297679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4169663"/>
            <a:ext cx="123444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56632" y="4297679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135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169663"/>
            <a:ext cx="123444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91072" y="4297679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82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892040"/>
            <a:ext cx="8503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0D3161"/>
                </a:solidFill>
                <a:latin typeface="Aptos"/>
              </a:rPr>
              <a:t>Each element is identified by a row index and a column index.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MATRIX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Rows and columns have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1600200"/>
            <a:ext cx="1280160" cy="566928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10512" y="1728216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39" y="1600200"/>
            <a:ext cx="1280160" cy="566928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0671" y="1728216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Glu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1280160" cy="566928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70832" y="1728216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HR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59" y="1600200"/>
            <a:ext cx="1280160" cy="566928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50992" y="1728216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BMI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50008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2212848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10512" y="2340864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67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39" y="2212848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90671" y="2340864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92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212848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70832" y="2340864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59" y="2212848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50992" y="2340864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24.1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916936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2779776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10512" y="2907792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54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39" y="2779776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90671" y="2907792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110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2779776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70832" y="2907792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59" y="2779776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50992" y="2907792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27.4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483864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83080" y="3346704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10512" y="3474720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39" y="3346704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90671" y="3474720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135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3346704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70832" y="3474720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82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559" y="3346704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50992" y="3474720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29.0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050791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83080" y="3913631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10512" y="4041647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48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39" y="3913631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090671" y="4041647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88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43400" y="3913631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70832" y="4041647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68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23559" y="3913631"/>
            <a:ext cx="1280160" cy="566928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50992" y="4041647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22.8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69480" y="1828800"/>
            <a:ext cx="3154680" cy="10515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79208" y="1920240"/>
            <a:ext cx="2935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Rows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79208" y="2212848"/>
            <a:ext cx="293522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One patient per row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69480" y="3200400"/>
            <a:ext cx="3154680" cy="105156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79208" y="3291840"/>
            <a:ext cx="2935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Columns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79208" y="3584448"/>
            <a:ext cx="293522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One variable per column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" y="5166360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E778F"/>
                </a:solidFill>
                <a:latin typeface="Aptos"/>
              </a:rPr>
              <a:t>The meaning of the matrix depends on what each axis represents.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Patient dataset as a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53312"/>
            <a:ext cx="10058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33142"/>
                </a:solidFill>
                <a:latin typeface="Aptos"/>
              </a:rPr>
              <a:t>A clinical tabular dataset can be represented as a matrix X with patients as rows and variables as columns.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57400"/>
            <a:ext cx="1188720" cy="512064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56231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057400"/>
            <a:ext cx="1188720" cy="512064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44951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Glu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057400"/>
            <a:ext cx="1188720" cy="512064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33672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HR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057400"/>
            <a:ext cx="1188720" cy="512064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22392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BMI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057400"/>
            <a:ext cx="1188720" cy="512064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52344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615184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56231" y="2743200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67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615184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44951" y="2743200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92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615184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33672" y="2743200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2615184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22392" y="2743200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24.1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615184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11112" y="2743200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64408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3127248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56231" y="3255264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54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127248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44951" y="3255264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110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127248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33672" y="3255264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60" y="3127248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22392" y="3255264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27.4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127248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11112" y="3255264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3776472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3639312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56231" y="3767328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3639312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44951" y="3767328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135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639312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33672" y="3767328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82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4960" y="3639312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22392" y="3767328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29.0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639312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11112" y="3767328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4288536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0" y="4151376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856231" y="42793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48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17520" y="4151376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044951" y="42793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88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4151376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33672" y="42793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68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94960" y="4151376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22392" y="42793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22.8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0" y="4151376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611112" y="42793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" y="4800600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0" y="4663440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856231" y="4791455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61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4663440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44951" y="4791455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102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06240" y="4663440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233672" y="4791455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94960" y="4663440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422392" y="4791455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26.3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0" y="4663440"/>
            <a:ext cx="1188720" cy="512064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611112" y="4791455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955279" y="2286000"/>
            <a:ext cx="2514600" cy="9144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065007" y="2377440"/>
            <a:ext cx="2295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Shape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65007" y="2670048"/>
            <a:ext cx="22951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5 patients × 5 columns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955279" y="3474720"/>
            <a:ext cx="2514600" cy="9144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065007" y="3566160"/>
            <a:ext cx="2295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Use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65007" y="3858768"/>
            <a:ext cx="22951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Statistics and 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MATRIX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Accessing one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4663440" cy="2834640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1728216"/>
            <a:ext cx="4370831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# conceptual matrix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X[0][0]  -&gt; age of P001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X[0][1]  -&gt; glucose of P001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row = X[2]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column = X[:, 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384048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27648" y="1828800"/>
            <a:ext cx="3621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Single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121408"/>
            <a:ext cx="362102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One patient × one variable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384048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834640"/>
            <a:ext cx="3621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3127248"/>
            <a:ext cx="362102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All variables for one patient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3840480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7648" y="3840479"/>
            <a:ext cx="3621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Column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4133087"/>
            <a:ext cx="362102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One variable for all patients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MATRIX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Common operations on patient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3108960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16459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Filter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9385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Keep selected patients.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54480"/>
            <a:ext cx="3108960" cy="13258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16459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Select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9385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Choose relevant variables.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1554480"/>
            <a:ext cx="3108960" cy="132588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7" y="16459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Compute 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7" y="19385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Summarize a column.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29000"/>
            <a:ext cx="3108960" cy="132588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7" y="352044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7" y="381304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Rescale numeric columns.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429000"/>
            <a:ext cx="3108960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81728" y="352044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Sort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81304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Order rows by a variable.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19" y="3429000"/>
            <a:ext cx="3108960" cy="13258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7" y="352044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Model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381304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Use X in machine learning.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REAL CLINICAL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Missing values inside a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1645920"/>
            <a:ext cx="1280160" cy="585216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10512" y="1773936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39" y="1645920"/>
            <a:ext cx="1280160" cy="585216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0671" y="1773936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Glu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1280160" cy="585216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70832" y="1773936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HR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59" y="1645920"/>
            <a:ext cx="1280160" cy="585216"/>
          </a:xfrm>
          <a:prstGeom prst="roundRect">
            <a:avLst/>
          </a:prstGeom>
          <a:solidFill>
            <a:srgbClr val="E1E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50992" y="1773936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D3161"/>
                </a:solidFill>
                <a:latin typeface="Aptos"/>
              </a:rPr>
              <a:t>BMI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14015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2276856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10512" y="2404872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67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39" y="2276856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90671" y="2404872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92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276856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70832" y="2404872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59" y="2276856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50992" y="2404872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24.1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999232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2862072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10512" y="2990088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54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39" y="2862072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90671" y="2990088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2862072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70832" y="2990088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59" y="2862072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50992" y="2990088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27.4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584447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83080" y="3447287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10512" y="3575303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72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39" y="3447287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90671" y="3575303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135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3447287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70832" y="3575303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559" y="3447287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50992" y="3575303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29.0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169664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0D3161"/>
                </a:solidFill>
                <a:latin typeface="Aptos"/>
              </a:rPr>
              <a:t>P004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83080" y="4032504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10512" y="4160520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48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39" y="4032504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090671" y="4160520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88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43400" y="4032504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70832" y="4160520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68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23559" y="4032504"/>
            <a:ext cx="1280160" cy="585216"/>
          </a:xfrm>
          <a:prstGeom prst="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50992" y="4160520"/>
            <a:ext cx="12252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33142"/>
                </a:solidFill>
                <a:latin typeface="Aptos"/>
              </a:rPr>
              <a:t>22.8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1783080"/>
            <a:ext cx="3520440" cy="3108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580">
                <a:solidFill>
                  <a:srgbClr val="233142"/>
                </a:solidFill>
                <a:latin typeface="Aptos"/>
              </a:defRPr>
            </a:pPr>
            <a:r>
              <a:t>Missingness is common.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80">
                <a:solidFill>
                  <a:srgbClr val="233142"/>
                </a:solidFill>
                <a:latin typeface="Aptos"/>
              </a:defRPr>
            </a:pPr>
            <a:r>
              <a:t>A missing cell is not the same as zero.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80">
                <a:solidFill>
                  <a:srgbClr val="233142"/>
                </a:solidFill>
                <a:latin typeface="Aptos"/>
              </a:defRPr>
            </a:pPr>
            <a:r>
              <a:t>Algorithms must define how missing data are handled.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80">
                <a:solidFill>
                  <a:srgbClr val="233142"/>
                </a:solidFill>
                <a:latin typeface="Aptos"/>
              </a:defRPr>
            </a:pPr>
            <a:r>
              <a:t>Later, ML pipelines will impute or explicitly model missingness.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IMAGES AS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A grayscale image is a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554480"/>
            <a:ext cx="566928" cy="566928"/>
          </a:xfrm>
          <a:prstGeom prst="rect">
            <a:avLst/>
          </a:prstGeom>
          <a:solidFill>
            <a:srgbClr val="FCFC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144" y="169163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1709928" y="1554480"/>
            <a:ext cx="566928" cy="566928"/>
          </a:xfrm>
          <a:prstGeom prst="rect">
            <a:avLst/>
          </a:prstGeom>
          <a:solidFill>
            <a:srgbClr val="FBFB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19072" y="169163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76856" y="1554480"/>
            <a:ext cx="566928" cy="566928"/>
          </a:xfrm>
          <a:prstGeom prst="rect">
            <a:avLst/>
          </a:prstGeom>
          <a:solidFill>
            <a:srgbClr val="FAFA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169163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3784" y="1554480"/>
            <a:ext cx="566928" cy="566928"/>
          </a:xfrm>
          <a:prstGeom prst="rect">
            <a:avLst/>
          </a:prstGeom>
          <a:solidFill>
            <a:srgbClr val="F9F9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2927" y="169163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0712" y="1554480"/>
            <a:ext cx="566928" cy="566928"/>
          </a:xfrm>
          <a:prstGeom prst="rect">
            <a:avLst/>
          </a:prstGeom>
          <a:solidFill>
            <a:srgbClr val="F8F8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9856" y="169163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1554480"/>
            <a:ext cx="566928" cy="566928"/>
          </a:xfrm>
          <a:prstGeom prst="rect">
            <a:avLst/>
          </a:prstGeom>
          <a:solidFill>
            <a:srgbClr val="F7F7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86783" y="169163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2121408"/>
            <a:ext cx="566928" cy="566928"/>
          </a:xfrm>
          <a:prstGeom prst="rect">
            <a:avLst/>
          </a:prstGeom>
          <a:solidFill>
            <a:srgbClr val="FBFB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52144" y="225856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09928" y="2121408"/>
            <a:ext cx="566928" cy="566928"/>
          </a:xfrm>
          <a:prstGeom prst="rect">
            <a:avLst/>
          </a:prstGeom>
          <a:solidFill>
            <a:srgbClr val="F7F7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19072" y="225856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6856" y="2121408"/>
            <a:ext cx="566928" cy="566928"/>
          </a:xfrm>
          <a:prstGeom prst="rect">
            <a:avLst/>
          </a:prstGeom>
          <a:solidFill>
            <a:srgbClr val="F3F3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0" y="225856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43784" y="2121408"/>
            <a:ext cx="566928" cy="566928"/>
          </a:xfrm>
          <a:prstGeom prst="rect">
            <a:avLst/>
          </a:prstGeom>
          <a:solidFill>
            <a:srgbClr val="F1F1F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52927" y="225856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10712" y="2121408"/>
            <a:ext cx="566928" cy="566928"/>
          </a:xfrm>
          <a:prstGeom prst="rect">
            <a:avLst/>
          </a:prstGeom>
          <a:solidFill>
            <a:srgbClr val="F6F6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19856" y="225856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2121408"/>
            <a:ext cx="566928" cy="566928"/>
          </a:xfrm>
          <a:prstGeom prst="rect">
            <a:avLst/>
          </a:prstGeom>
          <a:solidFill>
            <a:srgbClr val="F9F9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86783" y="225856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35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2688336"/>
            <a:ext cx="566928" cy="566928"/>
          </a:xfrm>
          <a:prstGeom prst="rect">
            <a:avLst/>
          </a:prstGeom>
          <a:solidFill>
            <a:srgbClr val="FAFA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52144" y="282549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09928" y="2688336"/>
            <a:ext cx="566928" cy="566928"/>
          </a:xfrm>
          <a:prstGeom prst="rect">
            <a:avLst/>
          </a:prstGeom>
          <a:solidFill>
            <a:srgbClr val="F3F3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19072" y="282549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70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76856" y="2688336"/>
            <a:ext cx="566928" cy="566928"/>
          </a:xfrm>
          <a:prstGeom prst="rect">
            <a:avLst/>
          </a:prstGeom>
          <a:solidFill>
            <a:srgbClr val="E4E4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86000" y="282549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150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43784" y="2688336"/>
            <a:ext cx="566928" cy="566928"/>
          </a:xfrm>
          <a:prstGeom prst="rect">
            <a:avLst/>
          </a:prstGeom>
          <a:solidFill>
            <a:srgbClr val="DFDFD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52927" y="282549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180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10712" y="2688336"/>
            <a:ext cx="566928" cy="566928"/>
          </a:xfrm>
          <a:prstGeom prst="rect">
            <a:avLst/>
          </a:prstGeom>
          <a:solidFill>
            <a:srgbClr val="EE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19856" y="282549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95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7639" y="2688336"/>
            <a:ext cx="566928" cy="566928"/>
          </a:xfrm>
          <a:prstGeom prst="rect">
            <a:avLst/>
          </a:prstGeom>
          <a:solidFill>
            <a:srgbClr val="F8F8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86783" y="282549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3255263"/>
            <a:ext cx="566928" cy="566928"/>
          </a:xfrm>
          <a:prstGeom prst="rect">
            <a:avLst/>
          </a:prstGeom>
          <a:solidFill>
            <a:srgbClr val="FAFA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52144" y="3392423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09928" y="3255263"/>
            <a:ext cx="566928" cy="566928"/>
          </a:xfrm>
          <a:prstGeom prst="rect">
            <a:avLst/>
          </a:prstGeom>
          <a:solidFill>
            <a:srgbClr val="F4F4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719072" y="3392423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76856" y="3255263"/>
            <a:ext cx="566928" cy="566928"/>
          </a:xfrm>
          <a:prstGeom prst="rect">
            <a:avLst/>
          </a:prstGeom>
          <a:solidFill>
            <a:srgbClr val="E6E6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286000" y="3392423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140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43784" y="3255263"/>
            <a:ext cx="566928" cy="566928"/>
          </a:xfrm>
          <a:prstGeom prst="rect">
            <a:avLst/>
          </a:prstGeom>
          <a:solidFill>
            <a:srgbClr val="DBDB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52927" y="3392423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10712" y="3255263"/>
            <a:ext cx="566928" cy="566928"/>
          </a:xfrm>
          <a:prstGeom prst="rect">
            <a:avLst/>
          </a:prstGeom>
          <a:solidFill>
            <a:srgbClr val="ECECE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19856" y="3392423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110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77639" y="3255263"/>
            <a:ext cx="566928" cy="566928"/>
          </a:xfrm>
          <a:prstGeom prst="rect">
            <a:avLst/>
          </a:prstGeom>
          <a:solidFill>
            <a:srgbClr val="F7F7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986783" y="3392423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3822191"/>
            <a:ext cx="566928" cy="566928"/>
          </a:xfrm>
          <a:prstGeom prst="rect">
            <a:avLst/>
          </a:prstGeom>
          <a:solidFill>
            <a:srgbClr val="FBFB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52144" y="39593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09928" y="3822191"/>
            <a:ext cx="566928" cy="566928"/>
          </a:xfrm>
          <a:prstGeom prst="rect">
            <a:avLst/>
          </a:prstGeom>
          <a:solidFill>
            <a:srgbClr val="F7F7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719072" y="39593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45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76856" y="3822191"/>
            <a:ext cx="566928" cy="566928"/>
          </a:xfrm>
          <a:prstGeom prst="rect">
            <a:avLst/>
          </a:prstGeom>
          <a:solidFill>
            <a:srgbClr val="F0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86000" y="39593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85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43784" y="3822191"/>
            <a:ext cx="566928" cy="566928"/>
          </a:xfrm>
          <a:prstGeom prst="rect">
            <a:avLst/>
          </a:prstGeom>
          <a:solidFill>
            <a:srgbClr val="EDEDE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852927" y="39593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100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10712" y="3822191"/>
            <a:ext cx="566928" cy="566928"/>
          </a:xfrm>
          <a:prstGeom prst="rect">
            <a:avLst/>
          </a:prstGeom>
          <a:solidFill>
            <a:srgbClr val="F5F5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419856" y="39593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60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77639" y="3822191"/>
            <a:ext cx="566928" cy="566928"/>
          </a:xfrm>
          <a:prstGeom prst="rect">
            <a:avLst/>
          </a:prstGeom>
          <a:solidFill>
            <a:srgbClr val="F9F9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986783" y="39593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38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43000" y="4389120"/>
            <a:ext cx="566928" cy="566928"/>
          </a:xfrm>
          <a:prstGeom prst="rect">
            <a:avLst/>
          </a:prstGeom>
          <a:solidFill>
            <a:srgbClr val="FCFC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152144" y="452628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09928" y="4389120"/>
            <a:ext cx="566928" cy="566928"/>
          </a:xfrm>
          <a:prstGeom prst="rect">
            <a:avLst/>
          </a:prstGeom>
          <a:solidFill>
            <a:srgbClr val="FAFA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719072" y="452628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76856" y="4389120"/>
            <a:ext cx="566928" cy="566928"/>
          </a:xfrm>
          <a:prstGeom prst="rect">
            <a:avLst/>
          </a:prstGeom>
          <a:solidFill>
            <a:srgbClr val="F9F9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286000" y="452628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35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43784" y="4389120"/>
            <a:ext cx="566928" cy="566928"/>
          </a:xfrm>
          <a:prstGeom prst="rect">
            <a:avLst/>
          </a:prstGeom>
          <a:solidFill>
            <a:srgbClr val="F8F8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852927" y="452628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40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10712" y="4389120"/>
            <a:ext cx="566928" cy="566928"/>
          </a:xfrm>
          <a:prstGeom prst="rect">
            <a:avLst/>
          </a:prstGeom>
          <a:solidFill>
            <a:srgbClr val="FAFA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419856" y="452628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32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7639" y="4389120"/>
            <a:ext cx="566928" cy="566928"/>
          </a:xfrm>
          <a:prstGeom prst="rect">
            <a:avLst/>
          </a:prstGeom>
          <a:solidFill>
            <a:srgbClr val="FBFB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986783" y="452628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623560" y="1783080"/>
            <a:ext cx="4343400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733288" y="1874519"/>
            <a:ext cx="4123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Rows × columns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33288" y="2167128"/>
            <a:ext cx="41239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Each cell stores one intensity value.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23560" y="3063240"/>
            <a:ext cx="4343400" cy="10058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733288" y="3154680"/>
            <a:ext cx="4123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Spatial meaning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33288" y="3447288"/>
            <a:ext cx="41239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Neighboring cells correspond to nearby image locations.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623560" y="4343400"/>
            <a:ext cx="4343400" cy="10058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733288" y="4434840"/>
            <a:ext cx="4123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Algorithmic use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33288" y="4727448"/>
            <a:ext cx="41239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Filtering, segmentation and classification.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PIXEL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Reading an image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508760"/>
            <a:ext cx="530352" cy="530352"/>
          </a:xfrm>
          <a:prstGeom prst="rect">
            <a:avLst/>
          </a:prstGeom>
          <a:solidFill>
            <a:srgbClr val="FCFC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645919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0472" y="1508760"/>
            <a:ext cx="530352" cy="530352"/>
          </a:xfrm>
          <a:prstGeom prst="rect">
            <a:avLst/>
          </a:prstGeom>
          <a:solidFill>
            <a:srgbClr val="FBFB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99616" y="1645919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20824" y="1508760"/>
            <a:ext cx="530352" cy="530352"/>
          </a:xfrm>
          <a:prstGeom prst="rect">
            <a:avLst/>
          </a:prstGeom>
          <a:solidFill>
            <a:srgbClr val="FAFA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29967" y="1645919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1176" y="1508760"/>
            <a:ext cx="530352" cy="530352"/>
          </a:xfrm>
          <a:prstGeom prst="rect">
            <a:avLst/>
          </a:prstGeom>
          <a:solidFill>
            <a:srgbClr val="F9F9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1645919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81528" y="1508760"/>
            <a:ext cx="530352" cy="530352"/>
          </a:xfrm>
          <a:prstGeom prst="rect">
            <a:avLst/>
          </a:prstGeom>
          <a:solidFill>
            <a:srgbClr val="F8F8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0672" y="1645919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1508760"/>
            <a:ext cx="530352" cy="530352"/>
          </a:xfrm>
          <a:prstGeom prst="rect">
            <a:avLst/>
          </a:prstGeom>
          <a:solidFill>
            <a:srgbClr val="F7F7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21024" y="1645919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2039112"/>
            <a:ext cx="530352" cy="530352"/>
          </a:xfrm>
          <a:prstGeom prst="rect">
            <a:avLst/>
          </a:prstGeom>
          <a:solidFill>
            <a:srgbClr val="FBFB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217627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90472" y="2039112"/>
            <a:ext cx="530352" cy="530352"/>
          </a:xfrm>
          <a:prstGeom prst="rect">
            <a:avLst/>
          </a:prstGeom>
          <a:solidFill>
            <a:srgbClr val="F7F7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99616" y="217627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20824" y="2039112"/>
            <a:ext cx="530352" cy="530352"/>
          </a:xfrm>
          <a:prstGeom prst="rect">
            <a:avLst/>
          </a:prstGeom>
          <a:solidFill>
            <a:srgbClr val="F3F3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29967" y="217627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51176" y="2039112"/>
            <a:ext cx="530352" cy="530352"/>
          </a:xfrm>
          <a:prstGeom prst="rect">
            <a:avLst/>
          </a:prstGeom>
          <a:solidFill>
            <a:srgbClr val="F1F1F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60320" y="217627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81528" y="2039112"/>
            <a:ext cx="530352" cy="530352"/>
          </a:xfrm>
          <a:prstGeom prst="rect">
            <a:avLst/>
          </a:prstGeom>
          <a:solidFill>
            <a:srgbClr val="F6F6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90672" y="217627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2039112"/>
            <a:ext cx="530352" cy="530352"/>
          </a:xfrm>
          <a:prstGeom prst="rect">
            <a:avLst/>
          </a:prstGeom>
          <a:solidFill>
            <a:srgbClr val="F9F9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21024" y="217627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35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2569463"/>
            <a:ext cx="530352" cy="530352"/>
          </a:xfrm>
          <a:prstGeom prst="rect">
            <a:avLst/>
          </a:prstGeom>
          <a:solidFill>
            <a:srgbClr val="FAFA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264" y="2706623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90472" y="2569463"/>
            <a:ext cx="530352" cy="530352"/>
          </a:xfrm>
          <a:prstGeom prst="rect">
            <a:avLst/>
          </a:prstGeom>
          <a:solidFill>
            <a:srgbClr val="F3F3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99616" y="2706623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70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20824" y="2569463"/>
            <a:ext cx="530352" cy="530352"/>
          </a:xfrm>
          <a:prstGeom prst="rect">
            <a:avLst/>
          </a:prstGeom>
          <a:solidFill>
            <a:srgbClr val="E4E4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29967" y="2706623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150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51176" y="2569463"/>
            <a:ext cx="530352" cy="530352"/>
          </a:xfrm>
          <a:prstGeom prst="rect">
            <a:avLst/>
          </a:prstGeom>
          <a:solidFill>
            <a:srgbClr val="DFDFD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60320" y="2706623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180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81528" y="2569463"/>
            <a:ext cx="530352" cy="530352"/>
          </a:xfrm>
          <a:prstGeom prst="rect">
            <a:avLst/>
          </a:prstGeom>
          <a:solidFill>
            <a:srgbClr val="EE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090672" y="2706623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95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1880" y="2569463"/>
            <a:ext cx="530352" cy="530352"/>
          </a:xfrm>
          <a:prstGeom prst="rect">
            <a:avLst/>
          </a:prstGeom>
          <a:solidFill>
            <a:srgbClr val="F8F8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21024" y="2706623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" y="3099815"/>
            <a:ext cx="530352" cy="530352"/>
          </a:xfrm>
          <a:prstGeom prst="rect">
            <a:avLst/>
          </a:prstGeom>
          <a:solidFill>
            <a:srgbClr val="FAFA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9264" y="3236975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90472" y="3099815"/>
            <a:ext cx="530352" cy="530352"/>
          </a:xfrm>
          <a:prstGeom prst="rect">
            <a:avLst/>
          </a:prstGeom>
          <a:solidFill>
            <a:srgbClr val="F4F4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499616" y="3236975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20824" y="3099815"/>
            <a:ext cx="530352" cy="530352"/>
          </a:xfrm>
          <a:prstGeom prst="rect">
            <a:avLst/>
          </a:prstGeom>
          <a:solidFill>
            <a:srgbClr val="E6E6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029967" y="3236975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140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51176" y="3099815"/>
            <a:ext cx="530352" cy="530352"/>
          </a:xfrm>
          <a:prstGeom prst="rect">
            <a:avLst/>
          </a:prstGeom>
          <a:solidFill>
            <a:srgbClr val="DBDB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560320" y="3236975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81528" y="3099815"/>
            <a:ext cx="530352" cy="530352"/>
          </a:xfrm>
          <a:prstGeom prst="rect">
            <a:avLst/>
          </a:prstGeom>
          <a:solidFill>
            <a:srgbClr val="ECECE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090672" y="3236975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110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11880" y="3099815"/>
            <a:ext cx="530352" cy="530352"/>
          </a:xfrm>
          <a:prstGeom prst="rect">
            <a:avLst/>
          </a:prstGeom>
          <a:solidFill>
            <a:srgbClr val="F7F7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21024" y="3236975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" y="3630168"/>
            <a:ext cx="530352" cy="530352"/>
          </a:xfrm>
          <a:prstGeom prst="rect">
            <a:avLst/>
          </a:prstGeom>
          <a:solidFill>
            <a:srgbClr val="FBFB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9264" y="37673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90472" y="3630168"/>
            <a:ext cx="530352" cy="530352"/>
          </a:xfrm>
          <a:prstGeom prst="rect">
            <a:avLst/>
          </a:prstGeom>
          <a:solidFill>
            <a:srgbClr val="F7F7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499616" y="37673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45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20824" y="3630168"/>
            <a:ext cx="530352" cy="530352"/>
          </a:xfrm>
          <a:prstGeom prst="rect">
            <a:avLst/>
          </a:prstGeom>
          <a:solidFill>
            <a:srgbClr val="F0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029967" y="37673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85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51176" y="3630168"/>
            <a:ext cx="530352" cy="530352"/>
          </a:xfrm>
          <a:prstGeom prst="rect">
            <a:avLst/>
          </a:prstGeom>
          <a:solidFill>
            <a:srgbClr val="EDEDE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560320" y="37673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100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81528" y="3630168"/>
            <a:ext cx="530352" cy="530352"/>
          </a:xfrm>
          <a:prstGeom prst="rect">
            <a:avLst/>
          </a:prstGeom>
          <a:solidFill>
            <a:srgbClr val="F5F5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090672" y="37673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60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11880" y="3630168"/>
            <a:ext cx="530352" cy="530352"/>
          </a:xfrm>
          <a:prstGeom prst="rect">
            <a:avLst/>
          </a:prstGeom>
          <a:solidFill>
            <a:srgbClr val="F9F9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21024" y="37673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38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" y="4160520"/>
            <a:ext cx="530352" cy="530352"/>
          </a:xfrm>
          <a:prstGeom prst="rect">
            <a:avLst/>
          </a:prstGeom>
          <a:solidFill>
            <a:srgbClr val="FCFC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9264" y="42976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90472" y="4160520"/>
            <a:ext cx="530352" cy="530352"/>
          </a:xfrm>
          <a:prstGeom prst="rect">
            <a:avLst/>
          </a:prstGeom>
          <a:solidFill>
            <a:srgbClr val="FAFA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499616" y="42976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20824" y="4160520"/>
            <a:ext cx="530352" cy="530352"/>
          </a:xfrm>
          <a:prstGeom prst="rect">
            <a:avLst/>
          </a:prstGeom>
          <a:solidFill>
            <a:srgbClr val="F9F9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029967" y="42976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35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551176" y="4160520"/>
            <a:ext cx="530352" cy="530352"/>
          </a:xfrm>
          <a:prstGeom prst="rect">
            <a:avLst/>
          </a:prstGeom>
          <a:solidFill>
            <a:srgbClr val="F8F8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560320" y="42976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40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081528" y="4160520"/>
            <a:ext cx="530352" cy="530352"/>
          </a:xfrm>
          <a:prstGeom prst="rect">
            <a:avLst/>
          </a:prstGeom>
          <a:solidFill>
            <a:srgbClr val="FAFA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090672" y="42976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32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11880" y="4160520"/>
            <a:ext cx="530352" cy="530352"/>
          </a:xfrm>
          <a:prstGeom prst="rect">
            <a:avLst/>
          </a:prstGeom>
          <a:solidFill>
            <a:srgbClr val="FBFB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621024" y="42976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233142"/>
                </a:solidFill>
                <a:latin typeface="Aptos"/>
              </a:rPr>
              <a:t>25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349240" y="1691640"/>
            <a:ext cx="4526280" cy="1828800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495544" y="1819656"/>
            <a:ext cx="4233672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pixel = image[row][column]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image[2][3]  -&gt; one intensity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image[0]     -&gt; first image row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49240" y="3886200"/>
            <a:ext cx="4526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0D3161"/>
                </a:solidFill>
                <a:latin typeface="Aptos"/>
              </a:rPr>
              <a:t>Rows encode vertical position; columns encode horizontal position.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FROM MATRIX TO TENSOR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A short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2880360" cy="14173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965960"/>
            <a:ext cx="26609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Grayscale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58568"/>
            <a:ext cx="266090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height × width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874519"/>
            <a:ext cx="2880360" cy="141732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1965960"/>
            <a:ext cx="26609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RGB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258568"/>
            <a:ext cx="266090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height × width × channels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74519"/>
            <a:ext cx="2880360" cy="141732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0767" y="1965960"/>
            <a:ext cx="26609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CT / MRI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7" y="2258568"/>
            <a:ext cx="266090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height × width ×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60520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D3161"/>
                </a:solidFill>
                <a:latin typeface="Aptos"/>
              </a:rPr>
              <a:t>More dimensions lead to multidimensional arrays, often called tensors. We will return to them later.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ORDERED SYMBOLIC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What is a string?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1498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33142"/>
                </a:solidFill>
                <a:latin typeface="Aptos"/>
              </a:rPr>
              <a:t>A string is an ordered sequence of characters or symbols.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2560320"/>
            <a:ext cx="7818120" cy="109728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21408" y="2651760"/>
            <a:ext cx="75986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3161"/>
                </a:solidFill>
                <a:latin typeface="Aptos"/>
              </a:rPr>
              <a:t>DNA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3797" y="2923067"/>
            <a:ext cx="194440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233142"/>
                </a:solidFill>
                <a:latin typeface="Aptos"/>
              </a:rPr>
              <a:t>ACGTTAAGCCTG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51960"/>
            <a:ext cx="97840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0D3161"/>
                </a:solidFill>
                <a:latin typeface="Aptos"/>
              </a:rPr>
              <a:t>For a string, the order of symbols is part of the information.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DNA as a 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24</a:t>
            </a:r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AF4FF1B8-F0C9-793C-3F8F-7ED60C4D64DB}"/>
              </a:ext>
            </a:extLst>
          </p:cNvPr>
          <p:cNvGrpSpPr/>
          <p:nvPr/>
        </p:nvGrpSpPr>
        <p:grpSpPr>
          <a:xfrm>
            <a:off x="1851660" y="1623060"/>
            <a:ext cx="8412480" cy="969264"/>
            <a:chOff x="1051560" y="1572768"/>
            <a:chExt cx="8412480" cy="969264"/>
          </a:xfrm>
        </p:grpSpPr>
        <p:sp>
          <p:nvSpPr>
            <p:cNvPr id="6" name="TextBox 5"/>
            <p:cNvSpPr txBox="1"/>
            <p:nvPr/>
          </p:nvSpPr>
          <p:spPr>
            <a:xfrm>
              <a:off x="1051560" y="1572768"/>
              <a:ext cx="8412480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300" b="1">
                  <a:solidFill>
                    <a:srgbClr val="0D3161"/>
                  </a:solidFill>
                  <a:latin typeface="Aptos"/>
                </a:rPr>
                <a:t>DNA sequence</a:t>
              </a:r>
            </a:p>
          </p:txBody>
        </p:sp>
        <p:grpSp>
          <p:nvGrpSpPr>
            <p:cNvPr id="33" name="Gruppo 32">
              <a:extLst>
                <a:ext uri="{FF2B5EF4-FFF2-40B4-BE49-F238E27FC236}">
                  <a16:creationId xmlns:a16="http://schemas.microsoft.com/office/drawing/2014/main" id="{756EE3BD-954B-5B75-E3DF-6BCA65E4DD56}"/>
                </a:ext>
              </a:extLst>
            </p:cNvPr>
            <p:cNvGrpSpPr/>
            <p:nvPr/>
          </p:nvGrpSpPr>
          <p:grpSpPr>
            <a:xfrm>
              <a:off x="1051560" y="1920240"/>
              <a:ext cx="8412480" cy="621792"/>
              <a:chOff x="1051560" y="1920240"/>
              <a:chExt cx="8412480" cy="62179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1051560" y="1920240"/>
                <a:ext cx="1051560" cy="621792"/>
              </a:xfrm>
              <a:prstGeom prst="rect">
                <a:avLst/>
              </a:prstGeom>
              <a:solidFill>
                <a:srgbClr val="F0ECFA"/>
              </a:solidFill>
              <a:ln>
                <a:solidFill>
                  <a:srgbClr val="C6D5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078992" y="2057400"/>
                <a:ext cx="99669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233142"/>
                    </a:solidFill>
                    <a:latin typeface="Aptos"/>
                  </a:rPr>
                  <a:t>A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2103120" y="1920240"/>
                <a:ext cx="1051560" cy="621792"/>
              </a:xfrm>
              <a:prstGeom prst="rect">
                <a:avLst/>
              </a:prstGeom>
              <a:solidFill>
                <a:srgbClr val="F0ECFA"/>
              </a:solidFill>
              <a:ln>
                <a:solidFill>
                  <a:srgbClr val="C6D5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2130551" y="2057400"/>
                <a:ext cx="99669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233142"/>
                    </a:solidFill>
                    <a:latin typeface="Aptos"/>
                  </a:rPr>
                  <a:t>C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3154679" y="1920240"/>
                <a:ext cx="1051560" cy="621792"/>
              </a:xfrm>
              <a:prstGeom prst="rect">
                <a:avLst/>
              </a:prstGeom>
              <a:solidFill>
                <a:srgbClr val="F0ECFA"/>
              </a:solidFill>
              <a:ln>
                <a:solidFill>
                  <a:srgbClr val="C6D5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182111" y="2057400"/>
                <a:ext cx="99669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233142"/>
                    </a:solidFill>
                    <a:latin typeface="Aptos"/>
                  </a:rPr>
                  <a:t>G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206240" y="1920240"/>
                <a:ext cx="1051560" cy="621792"/>
              </a:xfrm>
              <a:prstGeom prst="rect">
                <a:avLst/>
              </a:prstGeom>
              <a:solidFill>
                <a:srgbClr val="F0ECFA"/>
              </a:solidFill>
              <a:ln>
                <a:solidFill>
                  <a:srgbClr val="C6D5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233672" y="2057400"/>
                <a:ext cx="99669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233142"/>
                    </a:solidFill>
                    <a:latin typeface="Aptos"/>
                  </a:rPr>
                  <a:t>T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257800" y="1920240"/>
                <a:ext cx="1051560" cy="621792"/>
              </a:xfrm>
              <a:prstGeom prst="rect">
                <a:avLst/>
              </a:prstGeom>
              <a:solidFill>
                <a:srgbClr val="F0ECFA"/>
              </a:solidFill>
              <a:ln>
                <a:solidFill>
                  <a:srgbClr val="C6D5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5285232" y="2057400"/>
                <a:ext cx="99669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233142"/>
                    </a:solidFill>
                    <a:latin typeface="Aptos"/>
                  </a:rPr>
                  <a:t>T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6309360" y="1920240"/>
                <a:ext cx="1051560" cy="621792"/>
              </a:xfrm>
              <a:prstGeom prst="rect">
                <a:avLst/>
              </a:prstGeom>
              <a:solidFill>
                <a:srgbClr val="F0ECFA"/>
              </a:solidFill>
              <a:ln>
                <a:solidFill>
                  <a:srgbClr val="C6D5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6336792" y="2057400"/>
                <a:ext cx="99669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233142"/>
                    </a:solidFill>
                    <a:latin typeface="Aptos"/>
                  </a:rPr>
                  <a:t>A</a:t>
                </a: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7360919" y="1920240"/>
                <a:ext cx="1051560" cy="621792"/>
              </a:xfrm>
              <a:prstGeom prst="rect">
                <a:avLst/>
              </a:prstGeom>
              <a:solidFill>
                <a:srgbClr val="F0ECFA"/>
              </a:solidFill>
              <a:ln>
                <a:solidFill>
                  <a:srgbClr val="C6D5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7388351" y="2057400"/>
                <a:ext cx="99669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233142"/>
                    </a:solidFill>
                    <a:latin typeface="Aptos"/>
                  </a:rPr>
                  <a:t>A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8412480" y="1920240"/>
                <a:ext cx="1051560" cy="621792"/>
              </a:xfrm>
              <a:prstGeom prst="rect">
                <a:avLst/>
              </a:prstGeom>
              <a:solidFill>
                <a:srgbClr val="F0ECFA"/>
              </a:solidFill>
              <a:ln>
                <a:solidFill>
                  <a:srgbClr val="C6D5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8439911" y="2057400"/>
                <a:ext cx="99669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233142"/>
                    </a:solidFill>
                    <a:latin typeface="Aptos"/>
                  </a:rPr>
                  <a:t>G</a:t>
                </a:r>
              </a:p>
            </p:txBody>
          </p:sp>
        </p:grpSp>
      </p:grpSp>
      <p:sp>
        <p:nvSpPr>
          <p:cNvPr id="24" name="Rounded Rectangle 23"/>
          <p:cNvSpPr/>
          <p:nvPr/>
        </p:nvSpPr>
        <p:spPr>
          <a:xfrm>
            <a:off x="1097280" y="3749039"/>
            <a:ext cx="2926080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07007" y="3840479"/>
            <a:ext cx="27066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Alphabet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7" y="4133087"/>
            <a:ext cx="27066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A, C, G, 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3749039"/>
            <a:ext cx="2926080" cy="10058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3840479"/>
            <a:ext cx="27066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Length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133087"/>
            <a:ext cx="27066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8 nucleotides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749039"/>
            <a:ext cx="2926080" cy="10058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3840479"/>
            <a:ext cx="27066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Index example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4133087"/>
            <a:ext cx="27066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DNA[2] = G</a:t>
            </a:r>
          </a:p>
        </p:txBody>
      </p: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AADECF72-1733-E492-0B10-9B1AD722767E}"/>
              </a:ext>
            </a:extLst>
          </p:cNvPr>
          <p:cNvGrpSpPr/>
          <p:nvPr/>
        </p:nvGrpSpPr>
        <p:grpSpPr>
          <a:xfrm>
            <a:off x="2113713" y="2801349"/>
            <a:ext cx="7886908" cy="393619"/>
            <a:chOff x="1470714" y="3468721"/>
            <a:chExt cx="7886908" cy="393619"/>
          </a:xfrm>
        </p:grpSpPr>
        <p:grpSp>
          <p:nvGrpSpPr>
            <p:cNvPr id="37" name="Gruppo 36">
              <a:extLst>
                <a:ext uri="{FF2B5EF4-FFF2-40B4-BE49-F238E27FC236}">
                  <a16:creationId xmlns:a16="http://schemas.microsoft.com/office/drawing/2014/main" id="{B4AF057D-7FAB-727E-C61F-8025502DDA2A}"/>
                </a:ext>
              </a:extLst>
            </p:cNvPr>
            <p:cNvGrpSpPr/>
            <p:nvPr/>
          </p:nvGrpSpPr>
          <p:grpSpPr>
            <a:xfrm>
              <a:off x="1470714" y="3468721"/>
              <a:ext cx="5905706" cy="393619"/>
              <a:chOff x="3164058" y="3456528"/>
              <a:chExt cx="3468906" cy="393619"/>
            </a:xfrm>
          </p:grpSpPr>
          <p:sp>
            <p:nvSpPr>
              <p:cNvPr id="40" name="CasellaDiTesto 39">
                <a:extLst>
                  <a:ext uri="{FF2B5EF4-FFF2-40B4-BE49-F238E27FC236}">
                    <a16:creationId xmlns:a16="http://schemas.microsoft.com/office/drawing/2014/main" id="{6183881A-698A-44CE-23F7-DB0D1C77B85F}"/>
                  </a:ext>
                </a:extLst>
              </p:cNvPr>
              <p:cNvSpPr txBox="1"/>
              <p:nvPr/>
            </p:nvSpPr>
            <p:spPr>
              <a:xfrm>
                <a:off x="3164058" y="346670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0</a:t>
                </a:r>
              </a:p>
            </p:txBody>
          </p:sp>
          <p:sp>
            <p:nvSpPr>
              <p:cNvPr id="41" name="CasellaDiTesto 40">
                <a:extLst>
                  <a:ext uri="{FF2B5EF4-FFF2-40B4-BE49-F238E27FC236}">
                    <a16:creationId xmlns:a16="http://schemas.microsoft.com/office/drawing/2014/main" id="{F7A895C3-C258-1AE6-2E1A-1F83A0226C57}"/>
                  </a:ext>
                </a:extLst>
              </p:cNvPr>
              <p:cNvSpPr txBox="1"/>
              <p:nvPr/>
            </p:nvSpPr>
            <p:spPr>
              <a:xfrm>
                <a:off x="3827831" y="3460082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1</a:t>
                </a:r>
              </a:p>
            </p:txBody>
          </p:sp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F0CE5126-E444-F4EC-5243-04465DB8C073}"/>
                  </a:ext>
                </a:extLst>
              </p:cNvPr>
              <p:cNvSpPr txBox="1"/>
              <p:nvPr/>
            </p:nvSpPr>
            <p:spPr>
              <a:xfrm>
                <a:off x="4473484" y="3480815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2</a:t>
                </a:r>
              </a:p>
            </p:txBody>
          </p:sp>
          <p:sp>
            <p:nvSpPr>
              <p:cNvPr id="43" name="CasellaDiTesto 42">
                <a:extLst>
                  <a:ext uri="{FF2B5EF4-FFF2-40B4-BE49-F238E27FC236}">
                    <a16:creationId xmlns:a16="http://schemas.microsoft.com/office/drawing/2014/main" id="{53D8A42E-09CB-64AD-A073-E4D40C2833A6}"/>
                  </a:ext>
                </a:extLst>
              </p:cNvPr>
              <p:cNvSpPr txBox="1"/>
              <p:nvPr/>
            </p:nvSpPr>
            <p:spPr>
              <a:xfrm>
                <a:off x="5129975" y="3456528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3</a:t>
                </a:r>
              </a:p>
            </p:txBody>
          </p:sp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5BCCF4D0-6FB8-45E5-7794-9AF4F2EE413B}"/>
                  </a:ext>
                </a:extLst>
              </p:cNvPr>
              <p:cNvSpPr txBox="1"/>
              <p:nvPr/>
            </p:nvSpPr>
            <p:spPr>
              <a:xfrm>
                <a:off x="5707663" y="3480815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4</a:t>
                </a:r>
              </a:p>
            </p:txBody>
          </p:sp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4E03A86D-03A9-BD90-1DF3-3FC4F8386883}"/>
                  </a:ext>
                </a:extLst>
              </p:cNvPr>
              <p:cNvSpPr txBox="1"/>
              <p:nvPr/>
            </p:nvSpPr>
            <p:spPr>
              <a:xfrm>
                <a:off x="6324866" y="3456528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5</a:t>
                </a:r>
              </a:p>
            </p:txBody>
          </p:sp>
        </p:grpSp>
        <p:sp>
          <p:nvSpPr>
            <p:cNvPr id="38" name="CasellaDiTesto 37">
              <a:extLst>
                <a:ext uri="{FF2B5EF4-FFF2-40B4-BE49-F238E27FC236}">
                  <a16:creationId xmlns:a16="http://schemas.microsoft.com/office/drawing/2014/main" id="{3C7E8FA4-2DD8-5343-3D4B-EEE811C6607E}"/>
                </a:ext>
              </a:extLst>
            </p:cNvPr>
            <p:cNvSpPr txBox="1"/>
            <p:nvPr/>
          </p:nvSpPr>
          <p:spPr>
            <a:xfrm>
              <a:off x="7902274" y="3493008"/>
              <a:ext cx="524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6</a:t>
              </a:r>
            </a:p>
          </p:txBody>
        </p:sp>
        <p:sp>
          <p:nvSpPr>
            <p:cNvPr id="39" name="CasellaDiTesto 38">
              <a:extLst>
                <a:ext uri="{FF2B5EF4-FFF2-40B4-BE49-F238E27FC236}">
                  <a16:creationId xmlns:a16="http://schemas.microsoft.com/office/drawing/2014/main" id="{6A0E4794-2CC9-36E2-8BAC-597A76D226B6}"/>
                </a:ext>
              </a:extLst>
            </p:cNvPr>
            <p:cNvSpPr txBox="1"/>
            <p:nvPr/>
          </p:nvSpPr>
          <p:spPr>
            <a:xfrm>
              <a:off x="8833095" y="3484741"/>
              <a:ext cx="524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7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STRING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Indexing and substrings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63040"/>
            <a:ext cx="4937760" cy="3520440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1591056"/>
            <a:ext cx="4645152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dna = "ACGTTAAG"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dna[0]      -&gt; "A"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dna[2]      -&gt; "G"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dna[0:3]    -&gt; "ACG"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dna[3:6]    -&gt; "TTA"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length(dna) -&gt;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3840480" cy="2834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Access one symbol by index.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Extract a contiguous substring.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Measure sequence length.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Search for a motif.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Compare two sequences.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SEQUENCE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From substrings to k-mers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33142"/>
                </a:solidFill>
                <a:latin typeface="Aptos"/>
              </a:rPr>
              <a:t>A k-mer is a contiguous substring of length 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2880360" cy="100584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377440"/>
            <a:ext cx="26609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DNA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70048"/>
            <a:ext cx="26609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33142"/>
                </a:solidFill>
                <a:latin typeface="Aptos"/>
              </a:rPr>
              <a:t>ACGTTA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286000"/>
            <a:ext cx="2880360" cy="10058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7448" y="2377440"/>
            <a:ext cx="26609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k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670048"/>
            <a:ext cx="26609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ACG · CGT · GTT · TTA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286000"/>
            <a:ext cx="2880360" cy="10058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7" y="2377440"/>
            <a:ext cx="26609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7" y="2670048"/>
            <a:ext cx="26609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Local sequence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D3161"/>
                </a:solidFill>
                <a:latin typeface="Aptos"/>
              </a:rPr>
              <a:t>The same basic string operations later support genomic algorithms.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Which structure fits which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4572000" cy="15544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1691640"/>
            <a:ext cx="43525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Array /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984248"/>
            <a:ext cx="43525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Ordered repeated numeric values
ECG, glucose, heart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00200"/>
            <a:ext cx="4572000" cy="15544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6208" y="1691640"/>
            <a:ext cx="43525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984248"/>
            <a:ext cx="43525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Rows × columns
patients or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57600"/>
            <a:ext cx="4572000" cy="155448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7" y="3749039"/>
            <a:ext cx="43525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7" y="4041648"/>
            <a:ext cx="43525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Ordered symbols
DNA or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657600"/>
            <a:ext cx="4572000" cy="155448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8" y="3749039"/>
            <a:ext cx="43525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Tensor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4041648"/>
            <a:ext cx="43525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More than two dimensions
RGB images or volumes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CHOOSING A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Data structure by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57607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417320"/>
            <a:ext cx="55412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A 10-second ECG segment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325880"/>
            <a:ext cx="2560320" cy="65836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07807" y="1417320"/>
            <a:ext cx="23408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Vector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94560"/>
            <a:ext cx="57607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286000"/>
            <a:ext cx="55412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500 patients × 12 variables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194560"/>
            <a:ext cx="2560320" cy="65836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07807" y="2286000"/>
            <a:ext cx="23408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063239"/>
            <a:ext cx="57607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154679"/>
            <a:ext cx="55412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DNA sequence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063239"/>
            <a:ext cx="2560320" cy="65836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07807" y="3154679"/>
            <a:ext cx="23408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String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31920"/>
            <a:ext cx="57607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4023359"/>
            <a:ext cx="55412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Chest X-ray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931920"/>
            <a:ext cx="2560320" cy="65836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07807" y="4023359"/>
            <a:ext cx="23408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Matrix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00600"/>
            <a:ext cx="57607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4892040"/>
            <a:ext cx="55412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One glucose value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4800600"/>
            <a:ext cx="2560320" cy="65836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07807" y="4892040"/>
            <a:ext cx="23408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Scalar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ALGORITHMIC 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Structure affects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3154680" cy="3337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1691640"/>
            <a:ext cx="2935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984248"/>
            <a:ext cx="2935224" cy="288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Fast index access
Easy sequential traversal
Good for signals and repeated measurements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00200"/>
            <a:ext cx="3154680" cy="33375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1691640"/>
            <a:ext cx="2935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984248"/>
            <a:ext cx="2935224" cy="288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Row/column operations
Natural for tables and images
Useful for numerical algorithms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600200"/>
            <a:ext cx="3154680" cy="333756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7" y="1691640"/>
            <a:ext cx="2935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7" y="1984248"/>
            <a:ext cx="2935224" cy="288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Symbol indexing
Substrings and pattern search
Natural for genomic sequences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EFFICIENCY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Access and traversal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4572000" cy="14173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783080"/>
            <a:ext cx="43525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Index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75688"/>
            <a:ext cx="435254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Read one array element directly.
Typically O(1).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4572000" cy="141732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43525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Full vector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2075688"/>
            <a:ext cx="435254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Visit every sample.
O(n).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4572000" cy="141732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749039"/>
            <a:ext cx="43525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Full matrix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041648"/>
            <a:ext cx="435254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Visit every cell.
O(rows × columns).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657600"/>
            <a:ext cx="4572000" cy="141732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3749039"/>
            <a:ext cx="43525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String 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4041648"/>
            <a:ext cx="435254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Visit every character.
O(n).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GUIDED CLASSROOM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Identify the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33142"/>
                </a:solidFill>
                <a:latin typeface="Aptos"/>
              </a:rPr>
              <a:t>For each biomedical object, choose the most natural representation and explain why.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057400"/>
            <a:ext cx="44805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148840"/>
            <a:ext cx="42611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441448"/>
            <a:ext cx="426110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24 hours of CGM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57400"/>
            <a:ext cx="44805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6208" y="2148840"/>
            <a:ext cx="42611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441448"/>
            <a:ext cx="426110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A table of patients and laboratory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081528"/>
            <a:ext cx="44805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3172968"/>
            <a:ext cx="42611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465576"/>
            <a:ext cx="426110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A nucleotide sequence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081528"/>
            <a:ext cx="44805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36208" y="3172968"/>
            <a:ext cx="42611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3465576"/>
            <a:ext cx="426110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A grayscale radiograph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105656"/>
            <a:ext cx="44805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9848" y="4197096"/>
            <a:ext cx="42611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489704"/>
            <a:ext cx="426110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A single oxygen saturation value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MINI-LAB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Small data-structure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53312"/>
            <a:ext cx="6400800" cy="37943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Create a vector containing 10 heart-rate values.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Return the minimum, maximum and mean.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Create a 4 × 3 patient matrix.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Extract one patient row and one variable column.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Create a DNA string and return the first 3-mer.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which structure was most appropriate in each case.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74519"/>
            <a:ext cx="2926080" cy="105156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73567" y="1965960"/>
            <a:ext cx="27066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7" y="2258568"/>
            <a:ext cx="270662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Reason about data shape before writing complex algorithms.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291840"/>
            <a:ext cx="292608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3567" y="3383280"/>
            <a:ext cx="27066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7" y="3675888"/>
            <a:ext cx="270662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15 minutes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Self-check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71600"/>
            <a:ext cx="4572000" cy="84124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1463040"/>
            <a:ext cx="43525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What structure best represents an ECG segment?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755648"/>
            <a:ext cx="43525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>
                <a:solidFill>
                  <a:srgbClr val="233142"/>
                </a:solidFill>
                <a:latin typeface="Aptos"/>
              </a:rPr>
              <a:t>Vector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4572000" cy="84124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6208" y="1463040"/>
            <a:ext cx="43525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What do matrix rows represent in a patient dataset?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755648"/>
            <a:ext cx="43525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>
                <a:solidFill>
                  <a:srgbClr val="233142"/>
                </a:solidFill>
                <a:latin typeface="Aptos"/>
              </a:rPr>
              <a:t>Patients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487168"/>
            <a:ext cx="4572000" cy="84124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7" y="2578608"/>
            <a:ext cx="43525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What structure naturally represents DNA?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7" y="2871215"/>
            <a:ext cx="43525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>
                <a:solidFill>
                  <a:srgbClr val="233142"/>
                </a:solidFill>
                <a:latin typeface="Aptos"/>
              </a:rPr>
              <a:t>String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487168"/>
            <a:ext cx="4572000" cy="84124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8" y="2578608"/>
            <a:ext cx="43525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What does one image-matrix cell represent?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871215"/>
            <a:ext cx="43525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>
                <a:solidFill>
                  <a:srgbClr val="233142"/>
                </a:solidFill>
                <a:latin typeface="Aptos"/>
              </a:rPr>
              <a:t>Pixel intensity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02736"/>
            <a:ext cx="4572000" cy="84124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7" y="3694176"/>
            <a:ext cx="43525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D3161"/>
                </a:solidFill>
                <a:latin typeface="Aptos"/>
              </a:rPr>
              <a:t>What is needed to access one array element?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7" y="3986784"/>
            <a:ext cx="43525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>
                <a:solidFill>
                  <a:srgbClr val="233142"/>
                </a:solidFill>
                <a:latin typeface="Aptos"/>
              </a:rPr>
              <a:t>An index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LESSON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7863840" cy="486037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Arrays store ordered collections and support indexed access.</a:t>
            </a:r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Vectors are one-dimensional numeric collections; ECG can be represented as a vector.</a:t>
            </a:r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Matrices organize values by rows and columns; patient datasets and grayscale images are natural examples.</a:t>
            </a:r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Strings store ordered symbols; DNA can be represented as a nucleotide string.</a:t>
            </a:r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representation should preserve the structure needed by the algorithm.</a:t>
            </a:r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Understanding data shape is the foundation for later work with signals, images, genomics and machine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057400"/>
            <a:ext cx="2240280" cy="118872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42248" y="2148840"/>
            <a:ext cx="2020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2441448"/>
            <a:ext cx="202082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Search, recursion and divide-and-conquer.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1963</Words>
  <Application>Microsoft Macintosh PowerPoint</Application>
  <PresentationFormat>Widescreen</PresentationFormat>
  <Paragraphs>639</Paragraphs>
  <Slides>34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Università di Pavia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— Introduction to Algorithms and Data Structures</dc:title>
  <dc:subject>Algorithms and Data Structures for Medical Informatics</dc:subject>
  <dc:creator>Simone Rancati</dc:creator>
  <cp:lastModifiedBy>RANCATI SIMONE</cp:lastModifiedBy>
  <cp:revision>6</cp:revision>
  <dcterms:created xsi:type="dcterms:W3CDTF">2026-08-18T10:10:30Z</dcterms:created>
  <dcterms:modified xsi:type="dcterms:W3CDTF">2026-09-13T14:31:01Z</dcterms:modified>
</cp:coreProperties>
</file>