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754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connecting this lesson to the previous one on arrays, vectors, matrices and strings. Emphasize that once data are stored, the next question is how to find information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contract for the two-hour session. Make clear that the lesson goes from practical search to abstract design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students to connect each objective to a realistic healthcare data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familiar tasks: looking up a patient ID or finding the most recent lab result. Then introduce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query can be simple, but the archive can be huge. This motivates different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links the lesson to data structures. Emphasize that the same task can be implemented in different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array and trace the comparisons: P001? no. P002? no. P058? no. P104?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identify input, output and processing steps. Emphasize the NOT_FOUND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trace to show that the algorithm is deterministic: the same input leads to the same sequence of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n/2 is still O(n) because Big-O focuses on growth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not that linear search is bad. It is often the correct choice for small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sorted precondition explicit. Without order, discarding half would be unsafe.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provide examples of sorted and unsorted collections from healthcare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interval on the board and shrink it after every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explanation focused on the variables left, right and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slide to contrast 3 comparisons with up to 8 comparisons in linear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log base 2 intuitively: how many times can we halve n before reaching one element?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point to ask the class which algorithm they would choose for each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database lesson. The goal is to show that search algorithms and data structures appear inside real hospital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binary search does not help to find all low glucose values in a time-ordered sequence unless the data are organized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Recursion can be abstract. Use the words “same problem, smaller input”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essential. Ask students to identify the base case before seeing any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 not need to love recursion yet; they need to see how the structure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recursion is not a different result: it is a different way of organizing repeated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responsible use: recursion is powerful, but not always the best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both binary search and later sorting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clarifies why binary search is a simple form of Divide and Conquer.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consolidate both binary search and divide-and-conquer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teach merge sort fully now. Present it as a preview of the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this back to the previous lesson on arrays and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prepares students for the mini-lab.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8 minutes in pairs and then collect answers. Expected: linear search for unsorted/small, binary for sorted, scan/windowing for signal, index/dictionary for EHR.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exercise checks whether students can transfer the CountLow example to a similar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review the most important concepts and connect to the next lesson on sorting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2377440" cy="1097280"/>
          </a:xfrm>
          <a:prstGeom prst="arc">
            <a:avLst/>
          </a:prstGeom>
          <a:noFill/>
          <a:ln w="16510">
            <a:solidFill>
              <a:srgbClr val="E3F1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a_clean_vector_illustration_style_medical_tech_sce.png"/>
          <p:cNvPicPr>
            <a:picLocks noChangeAspect="1"/>
          </p:cNvPicPr>
          <p:nvPr/>
        </p:nvPicPr>
        <p:blipFill>
          <a:blip r:embed="rId3"/>
          <a:srcRect l="28835" r="28835"/>
          <a:stretch/>
        </p:blipFill>
        <p:spPr>
          <a:xfrm>
            <a:off x="7726680" y="594360"/>
            <a:ext cx="402336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" y="1170432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and Data Structures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Medical Informatics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245059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 — Search, recursion and Divide and Conquer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· Medical Informatics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3232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September 2026 · 11:30–13:30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44074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Prof: Simone Rancati, PhD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simone.rancati01@universitadipavia.it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STRUCTURE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path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60904" y="21031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864608" y="21031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068312" y="21031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272016" y="21031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13232" y="1600200"/>
            <a:ext cx="1975104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22960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16152" y="1764792"/>
            <a:ext cx="1289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problems in healthcare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916936" y="1600200"/>
            <a:ext cx="1975104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026664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9856" y="1764792"/>
            <a:ext cx="1289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 and its cost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120640" y="1600200"/>
            <a:ext cx="1975104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230368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1764792"/>
            <a:ext cx="1289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 and preconditions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324344" y="1600200"/>
            <a:ext cx="1975104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434072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27264" y="1764792"/>
            <a:ext cx="1289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Recursion as self-reference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528048" y="1600200"/>
            <a:ext cx="1975104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637776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30968" y="1764792"/>
            <a:ext cx="1289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and Conquer as a design strategy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68680" y="416052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97280" y="432511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teaching question: How can we find the right clinical information quickly, correctly and safely?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END OF THE LESSON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53312"/>
            <a:ext cx="10424160" cy="4434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the difference between linear search and binary search.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when binary search is possible and when it is not.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Trace a search algorithm step by step on a small biomedical dataset.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recursion using base case and recursive case.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Recognize Divide and Conquer in algorithms such as binary search and merge sort.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 search strategies to patient records, signals and medical archives.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search matters in medical informatics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6263640" cy="4343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Medical systems store large collections of records, measurements, images and reports.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Many daily operations are search operations: find a patient, a value, an exam, a diagnosis or an alert.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search algorithm must be correct: returning the wrong record may be clinically unsafe.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search algorithm must be efficient: slow access becomes a problem at hospital scale.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right data structure can change the cost of the search dramatically.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680960" y="155448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845552" y="169164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45552" y="2084832"/>
            <a:ext cx="27797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the right record or value.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80960" y="278892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5FA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845552" y="29260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45552" y="3319272"/>
            <a:ext cx="27797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the correct output and handle failure.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80960" y="402336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845552" y="416052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45552" y="4553712"/>
            <a:ext cx="27797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response time acceptable.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DATA → SEARCH TASK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Motivating scenario: find a patient record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033272" y="155448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1947672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 = "P104"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931920" y="141732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5FA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096512" y="1554480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96512" y="1947672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hospital archive containing many patient records.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18120" y="14173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982712" y="1554480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82712" y="1947672"/>
            <a:ext cx="2962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matching electronic health record, or “not found”.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120" y="3794760"/>
            <a:ext cx="10058400" cy="960120"/>
          </a:xfrm>
          <a:prstGeom prst="roundRect">
            <a:avLst>
              <a:gd name="adj" fmla="val 7619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188720" y="395935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clinical question is simple. The computational question is: how should the archive be searched?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REPRESENTATION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question, different data structures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0698480" cy="658368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77824" y="15087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55264" y="150876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search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12864" y="150876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example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075688"/>
            <a:ext cx="10698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77824" y="216712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/ array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55264" y="216712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records one by 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2864" y="2167128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file of patient visits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2734056"/>
            <a:ext cx="10698480" cy="658368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77824" y="282549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Sorted list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55264" y="282549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Repeatedly discard half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12864" y="2825496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Sorted patient IDs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3392424"/>
            <a:ext cx="10698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77824" y="3483864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/ index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55264" y="348386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Jump directly to key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12864" y="3483864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 → record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4050792"/>
            <a:ext cx="10698480" cy="658368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77824" y="414223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table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55264" y="414223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indexes and query plans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12864" y="4142232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EHR system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0120" y="489204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188720" y="5056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Algorithmic performance is not only about code: it depends on how data are organized.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Idea: inspect one element at a time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76072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Linear search starts from the first element and checks each element sequentially.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does not require sorted data.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is simple, robust and easy to understand.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may be slow when the collection is very large.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Worst case: the target is absent or located at the last position.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903720" y="2103120"/>
            <a:ext cx="749808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903720" y="22494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03720" y="290779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53528" y="2103120"/>
            <a:ext cx="749808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53528" y="22494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53528" y="290779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403336" y="2103120"/>
            <a:ext cx="749808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403336" y="22494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P058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03336" y="290779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53144" y="2103120"/>
            <a:ext cx="749808" cy="731520"/>
          </a:xfrm>
          <a:prstGeom prst="rect">
            <a:avLst/>
          </a:prstGeom>
          <a:solidFill>
            <a:srgbClr val="D9F3F1"/>
          </a:solidFill>
          <a:ln w="13970">
            <a:solidFill>
              <a:srgbClr val="1CA7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153144" y="22494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53144" y="290779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02952" y="2103120"/>
            <a:ext cx="749808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902952" y="22494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P135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902952" y="290779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652760" y="2103120"/>
            <a:ext cx="749808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652760" y="22494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P200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652760" y="290779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06640" y="3291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= P104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for patient lookup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7FAFC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033272" y="1517904"/>
            <a:ext cx="57058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LinearSearch(records, target_id)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list of patient records, target identifier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matching record or NOT_FOUND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record IN records 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record.id == target_id THEN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record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IF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FOR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NOT_FOUND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0" y="1508760"/>
            <a:ext cx="41148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checks each record at most once.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loop stops as soon as the target is found.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target is absent, all records are inspected.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result must define both success and failure cases.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TRACE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Following linear search step by step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371600"/>
            <a:ext cx="10424160" cy="621792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77824" y="146304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75104" y="1463040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69664" y="1463040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with P104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18704" y="146304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1993392"/>
            <a:ext cx="10424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77824" y="208483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75104" y="208483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9664" y="2084832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equal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18704" y="2084832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2615184"/>
            <a:ext cx="10424160" cy="621792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77824" y="270662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75104" y="2706624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69664" y="2706624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equal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18704" y="2706624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3236976"/>
            <a:ext cx="10424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877824" y="3328416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75104" y="332841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P058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69664" y="3328416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equal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18704" y="3328416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" y="3858768"/>
            <a:ext cx="10424160" cy="621792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877824" y="3950208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975104" y="3950208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69664" y="3950208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18704" y="3950208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record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0120" y="480060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188720" y="49651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 is the simplest way to verify that students understand the algorithm before writing code.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many comparisons does linear search require?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10332720" cy="685800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23544" y="1508760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00984" y="1508760"/>
            <a:ext cx="2633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position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44184" y="1508760"/>
            <a:ext cx="2907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comparisons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61704" y="1508760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210312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23544" y="2194560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00984" y="2194560"/>
            <a:ext cx="2633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element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44184" y="2194560"/>
            <a:ext cx="2907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61704" y="2194560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788920"/>
            <a:ext cx="10332720" cy="685800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23544" y="2880360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intuition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00984" y="2880360"/>
            <a:ext cx="2633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area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44184" y="2880360"/>
            <a:ext cx="2907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n/2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61704" y="2880360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47472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23544" y="3566160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case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00984" y="3566160"/>
            <a:ext cx="2633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or absent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44184" y="3566160"/>
            <a:ext cx="2907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1704" y="3566160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120" y="466344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188720" y="48280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 grows proportionally with the number of elements.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IT IS ENOUGH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linear search is acceptable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Reasonable use cases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498348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collections.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Unsorted data with no available index.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One-time exploration or debugging.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Simple teaching examples.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 lists inside larger algorithms.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0" cy="425196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400800" y="1371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Problematic use cases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1783080"/>
            <a:ext cx="498348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Millions of records.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Repeated queries every second.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Real-time clinical monitoring.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Large image or signal archives.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Systems with strict latency requirements.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Idea: use order to eliminate half of the data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608076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Binary search works only when the collection is sorted according to the search key.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compares the target with the middle element.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target is smaller, search continues in the left half.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target is larger, search continues in the right half.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step reduces the remaining search space by approximately 50%.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26680" y="2103120"/>
            <a:ext cx="512064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726680" y="2249424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26680" y="28620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38744" y="2103120"/>
            <a:ext cx="512064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238744" y="2249424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38744" y="28620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750808" y="2103120"/>
            <a:ext cx="512064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750808" y="2249424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P058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50808" y="28620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262872" y="2103120"/>
            <a:ext cx="512064" cy="685800"/>
          </a:xfrm>
          <a:prstGeom prst="rect">
            <a:avLst/>
          </a:prstGeom>
          <a:solidFill>
            <a:srgbClr val="D9F3F1"/>
          </a:solidFill>
          <a:ln w="13970">
            <a:solidFill>
              <a:srgbClr val="1CA7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262872" y="2249424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62872" y="28620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774936" y="2103120"/>
            <a:ext cx="512064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774936" y="2249424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P135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774936" y="28620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287000" y="2103120"/>
            <a:ext cx="512064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287000" y="2249424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P200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287000" y="28620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799064" y="2103120"/>
            <a:ext cx="512064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799064" y="2249424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P245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799064" y="28620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Sorted patient IDs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589520" y="38862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818120" y="40507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is a data-structure property that enables a faster algorithm.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PRECONDITION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search requires sorted data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371600"/>
            <a:ext cx="10424160" cy="594360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77824" y="146304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21024" y="1463040"/>
            <a:ext cx="1078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Sorted?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09744" y="146304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binary search be used?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52944" y="1463040"/>
            <a:ext cx="3639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1965960"/>
            <a:ext cx="10424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77824" y="205740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IDs: P001, P002, P010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21024" y="2057400"/>
            <a:ext cx="1078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09744" y="205740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552944" y="2057400"/>
            <a:ext cx="3639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is defined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2560320"/>
            <a:ext cx="10424160" cy="594360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77824" y="265176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Waiting room arrival order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21024" y="2651760"/>
            <a:ext cx="1078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no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65176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52944" y="2651760"/>
            <a:ext cx="3639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 order is not ID order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22960" y="3154680"/>
            <a:ext cx="10424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877824" y="324612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 measurements over time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621024" y="3246120"/>
            <a:ext cx="1078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by value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809744" y="324612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for value search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52944" y="3246120"/>
            <a:ext cx="3639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order ≠ numeric order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22960" y="3749040"/>
            <a:ext cx="10424160" cy="594360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877824" y="384048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Sorted lab result codes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621024" y="3840480"/>
            <a:ext cx="1078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809744" y="384048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552944" y="3840480"/>
            <a:ext cx="3639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comparison is meaningful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60120" y="489204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188720" y="5056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algorithm may require a stronger assumption about the input.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Step-by-step reasoning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24328" y="21031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846320" y="21031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068312" y="21031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290304" y="21031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658368" y="160020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8096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" y="176479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left and right boundaries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880360" y="160020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990088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176479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middle position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102352" y="160020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212080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05272" y="176479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middle value with target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324344" y="160020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434072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27264" y="176479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only the relevant half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546336" y="160020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656064" y="1709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49256" y="176479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until found or empty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60120" y="416052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188720" y="43251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 is not magic: it is repeated narrowing of the search interval.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for a sorted patient ID list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261872"/>
            <a:ext cx="6446520" cy="4663440"/>
          </a:xfrm>
          <a:prstGeom prst="roundRect">
            <a:avLst>
              <a:gd name="adj" fmla="val 1569"/>
            </a:avLst>
          </a:prstGeom>
          <a:solidFill>
            <a:srgbClr val="F7FAFC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77824" y="1408176"/>
            <a:ext cx="6117336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BinarySearch(sorted_ids, target_id)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sorted list of patient identifiers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position of target or NOT_FOUND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 = 0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= length(sorted_ids) - 1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left &lt;= right DO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middle = floor((left + right) / 2)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sorted_ids[middle] == target_id THEN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middle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sorted_ids[middle] &lt; target_id THEN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left = middle + 1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right = middle - 1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IF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WHILE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NOT_FOUND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452360" y="1508760"/>
            <a:ext cx="40690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left and right define the current search interval.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middle divides the interval into two parts.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interval becomes smaller after every failed comparison.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stops when the interval is empty.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TRACE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search trace: target = P135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508760"/>
            <a:ext cx="713232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68680" y="165506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768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81912" y="1508760"/>
            <a:ext cx="713232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81912" y="165506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81912" y="22768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95144" y="1508760"/>
            <a:ext cx="713232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295144" y="165506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P058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295144" y="22768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08376" y="1508760"/>
            <a:ext cx="713232" cy="694944"/>
          </a:xfrm>
          <a:prstGeom prst="rect">
            <a:avLst/>
          </a:prstGeom>
          <a:solidFill>
            <a:srgbClr val="D9F3F1"/>
          </a:solidFill>
          <a:ln w="13970">
            <a:solidFill>
              <a:srgbClr val="1CA7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008376" y="165506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008376" y="22768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1608" y="1508760"/>
            <a:ext cx="713232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721608" y="165506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P135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721608" y="22768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08760"/>
            <a:ext cx="713232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434840" y="165506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P200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34840" y="22768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8072" y="1508760"/>
            <a:ext cx="713232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148072" y="165506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P245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148072" y="22768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61304" y="1508760"/>
            <a:ext cx="713232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861304" y="165506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P310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861304" y="22768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" y="25146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middle = P104 → target is larger → keep right half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4023360" y="3154680"/>
            <a:ext cx="822960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023360" y="33009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P135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023360" y="39227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3154680"/>
            <a:ext cx="822960" cy="694944"/>
          </a:xfrm>
          <a:prstGeom prst="rect">
            <a:avLst/>
          </a:prstGeom>
          <a:solidFill>
            <a:srgbClr val="D9F3F1"/>
          </a:solidFill>
          <a:ln w="13970">
            <a:solidFill>
              <a:srgbClr val="1CA7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846320" y="33009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P200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846320" y="39227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69280" y="3154680"/>
            <a:ext cx="822960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5669280" y="33009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P245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669280" y="39227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92240" y="3154680"/>
            <a:ext cx="822960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492240" y="33009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P310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492240" y="39227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8680" y="41605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middle = P200 → target is smaller → keep left half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5257800" y="4800600"/>
            <a:ext cx="914400" cy="694944"/>
          </a:xfrm>
          <a:prstGeom prst="rect">
            <a:avLst/>
          </a:prstGeom>
          <a:solidFill>
            <a:srgbClr val="D9F3F1"/>
          </a:solidFill>
          <a:ln w="13970">
            <a:solidFill>
              <a:srgbClr val="1CA7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257800" y="49469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P135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257800" y="55686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09360" y="4965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P135 found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binary search is O(log n)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10149840" cy="658368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23544" y="1463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Elements 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35224" y="14630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1 step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95544" y="14630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2 steps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55864" y="14630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needed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2029968"/>
            <a:ext cx="10149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23544" y="21214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35224" y="212140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95544" y="212140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55864" y="212140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688336"/>
            <a:ext cx="10149840" cy="658368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23544" y="277977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1,024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35224" y="277977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95544" y="277977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55864" y="2779776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10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346704"/>
            <a:ext cx="10149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23544" y="34381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1,000,000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935224" y="343814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500,000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95544" y="343814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250,000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55864" y="343814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20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8680" y="4005072"/>
            <a:ext cx="10149840" cy="658368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23544" y="409651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1,000,000,000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935224" y="409651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95544" y="409651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55864" y="409651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30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0120" y="489204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188720" y="5056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Logarithmic growth is powerful: very large collections can be searched with few comparisons.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search vs binary search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98448"/>
            <a:ext cx="10789920" cy="603504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86384" y="1389888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346704" y="1389888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61504" y="1389888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1901952"/>
            <a:ext cx="10789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86384" y="1993392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sorted data?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46704" y="1993392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61504" y="1993392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2505456"/>
            <a:ext cx="10789920" cy="603504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86384" y="2596896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Worst-case complexity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46704" y="2596896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61504" y="2596896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O(log n)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10789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86384" y="3200400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to implement?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346704" y="320040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simple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61504" y="320040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31520" y="3712464"/>
            <a:ext cx="10789920" cy="603504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86384" y="3803904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on streaming order?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346704" y="3803904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61504" y="3803904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if searchable order is maintained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31520" y="4315968"/>
            <a:ext cx="10789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86384" y="4407408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biomedical example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346704" y="4407408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a short list of alerts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461504" y="4407408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sorted patient ID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14400" y="507492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1143000" y="5239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algorithm depends on the data structure, the scale and the frequency of the query.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SYSTEMS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Searching clinical databases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6400800" cy="4434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Clinical databases rarely scan every row for common queries.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Indexes are auxiliary data structures that make retrieval faster.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patient identifier, visit identifier or exam code may be indexed.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Indexes improve search time but require extra memory and maintenance.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is the same trade-off studied in data structures: time versus space.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89520" y="1481328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F5FA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754112" y="161848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index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54112" y="201168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patient_id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of record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32461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754112" y="338328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54112" y="3776472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queries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memory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SEARCHING MEASUREMENTS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a value inside biomedical time series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608076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CGM sensor may produce hundreds of measurements per day.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 ECG signal may contain thousands of samples in a few minutes.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often search for values that satisfy a condition rather than a single exact value.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Example: find all glucose values below 70 mg/dL.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type of search usually scans the signal or uses windows.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26680" y="2011680"/>
            <a:ext cx="50292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726680" y="21579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2668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50292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229600" y="21579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732520" y="2011680"/>
            <a:ext cx="502920" cy="658368"/>
          </a:xfrm>
          <a:prstGeom prst="rect">
            <a:avLst/>
          </a:prstGeom>
          <a:solidFill>
            <a:srgbClr val="D9F3F1"/>
          </a:solidFill>
          <a:ln w="13970">
            <a:solidFill>
              <a:srgbClr val="1CA7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732520" y="21579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3252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235440" y="2011680"/>
            <a:ext cx="50292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235440" y="21579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3544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738360" y="2011680"/>
            <a:ext cx="50292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738360" y="21579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73836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241280" y="2011680"/>
            <a:ext cx="502920" cy="658368"/>
          </a:xfrm>
          <a:prstGeom prst="rect">
            <a:avLst/>
          </a:prstGeom>
          <a:solidFill>
            <a:srgbClr val="D9F3F1"/>
          </a:solidFill>
          <a:ln w="13970">
            <a:solidFill>
              <a:srgbClr val="1CA7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241280" y="21579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24128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744200" y="2011680"/>
            <a:ext cx="50292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744200" y="21579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142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74420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80960" y="3063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condition: value &lt; 70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589520" y="388620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818120" y="4050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can target an exact item or a condition.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recursion?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10332720" cy="4343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recursive algorithm solves a problem by calling itself on a smaller version of the same problem.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Every recursive algorithm needs a base case: a condition where recursion stops.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Every recursive algorithm needs a recursive case: the problem is reduced and solved again.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Recursion is useful when the problem has a naturally repeated or hierarchical structure.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Common examples include trees, divide-and-conquer algorithms and some sequence analyses.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RECURSION ANATOMY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case and recursive case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029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033272" y="155448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1947672"/>
            <a:ext cx="47000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situation where the answer is known directly.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an empty list has zero low glucose values.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029200" cy="1508760"/>
          </a:xfrm>
          <a:prstGeom prst="roundRect">
            <a:avLst>
              <a:gd name="adj" fmla="val 3636"/>
            </a:avLst>
          </a:prstGeom>
          <a:solidFill>
            <a:srgbClr val="F5FA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28232" y="1554480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case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28232" y="1947672"/>
            <a:ext cx="47000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the input and call the same algorithm again.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check the first value, then process the remaining 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425196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188720" y="441655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base case, recursion does not terminate. Without reduction, the problem never becomes simpler.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Counting low glucose values recursively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6035040" cy="4343400"/>
          </a:xfrm>
          <a:prstGeom prst="roundRect">
            <a:avLst>
              <a:gd name="adj" fmla="val 1684"/>
            </a:avLst>
          </a:prstGeom>
          <a:solidFill>
            <a:srgbClr val="F7FAFC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41832" y="1472184"/>
            <a:ext cx="5705856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CountLow(values)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list of glucose values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number of values below 70 mg/dL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values is empty THEN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= values[0]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 = values[1 ... end]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first &lt; 70 THEN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 + CountLow(rest)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CountLow(rest)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554480"/>
            <a:ext cx="42062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 case: empty list.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Recursive case: remove the first element.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list becomes shorter at each call.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final answer is built while the calls return.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TRACE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Trace: CountLow([92, 68, 135])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24328" y="214884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846320" y="214884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068312" y="214884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290304" y="214884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658368" y="16459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8096" y="17556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" y="181051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CountLow([92,68,135])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880360" y="16459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990088" y="17556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181051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CountLow([68,135])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102352" y="16459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212080" y="17556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05272" y="181051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+ CountLow([135])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324344" y="16459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434072" y="17556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27264" y="181051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+ CountLow([])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546336" y="16459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656064" y="17556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49256" y="1810512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1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005840" y="3429000"/>
            <a:ext cx="8321040" cy="502920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60704" y="3520440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340864" y="3520440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value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43984" y="3520440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55664" y="3520440"/>
            <a:ext cx="2816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list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05840" y="3931920"/>
            <a:ext cx="8321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1060704" y="4023360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340864" y="4023360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443984" y="4023360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55664" y="4023360"/>
            <a:ext cx="2816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[68,135]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05840" y="4434840"/>
            <a:ext cx="8321040" cy="502920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1060704" y="4526280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340864" y="4526280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443984" y="4526280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55664" y="4526280"/>
            <a:ext cx="2816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[135]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05840" y="4937760"/>
            <a:ext cx="8321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1060704" y="5029200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2340864" y="5029200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443984" y="5029200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455664" y="5029200"/>
            <a:ext cx="2816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[]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005840" y="5440680"/>
            <a:ext cx="8321040" cy="502920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1060704" y="5532120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2340864" y="5532120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443984" y="5532120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455664" y="5532120"/>
            <a:ext cx="2816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RECURSION IN PRACTICE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and risks of recursion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recursion is useful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498348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matches hierarchical problems naturally.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can make Divide and Conquer algorithms clearer.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is elegant for trees, graphs and nested data.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expresses “solve a smaller version” directly.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0" cy="425196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400800" y="1371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recursion must be controlled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1783080"/>
            <a:ext cx="498348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base case causes infinite recursion.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 many calls can use too much memory.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iterative solutions are simpler and faster.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must trace calls carefully.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AND CONQUER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general algorithmic design strategy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75838" y="23317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893308" y="23317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8510778" y="2331720"/>
            <a:ext cx="283464" cy="0"/>
          </a:xfrm>
          <a:prstGeom prst="line">
            <a:avLst/>
          </a:prstGeom>
          <a:noFill/>
          <a:ln w="13970">
            <a:solidFill>
              <a:srgbClr val="8FBED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2388870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024128" y="1938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993392"/>
            <a:ext cx="17030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the problem into smaller subproblems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31870" y="1828800"/>
            <a:ext cx="2388870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41598" y="1938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34790" y="1993392"/>
            <a:ext cx="17030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Conquer each subproblem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49340" y="1828800"/>
            <a:ext cx="2388870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259068" y="1938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52260" y="1993392"/>
            <a:ext cx="17030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partial results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766810" y="1828800"/>
            <a:ext cx="2388870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876538" y="1938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69730" y="1993392"/>
            <a:ext cx="17030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the final solution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60120" y="438912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188720" y="45537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and Conquer is a way of thinking: solve a difficult problem by repeatedly making it smaller.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AND CONQUER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 components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0789920" cy="640080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77824" y="150876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980944" y="1508760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to ask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52944" y="1508760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2057400"/>
            <a:ext cx="10789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77824" y="2148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80944" y="2148840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split the input?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52944" y="2148840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the middle of a sorted list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2697480"/>
            <a:ext cx="10789920" cy="640080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77824" y="278892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Conquer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80944" y="2788920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solve the subproblem?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52944" y="2788920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only one half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3337560"/>
            <a:ext cx="10789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77824" y="34290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980944" y="3429000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merge results?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52944" y="3429000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 has no complex merge step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22960" y="3977640"/>
            <a:ext cx="10789920" cy="640080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77824" y="406908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980944" y="4069080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is the problem small enough?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52944" y="4069080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 is empty or target found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960120" y="489204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188720" y="5056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Divide and Conquer algorithm has an expensive combine phase.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 REVISITED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search as Divide and Conquer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508760"/>
            <a:ext cx="3200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033272" y="164592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2039112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middle of the sorted list.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80560" y="1508760"/>
            <a:ext cx="3200400" cy="1188720"/>
          </a:xfrm>
          <a:prstGeom prst="roundRect">
            <a:avLst>
              <a:gd name="adj" fmla="val 4615"/>
            </a:avLst>
          </a:prstGeom>
          <a:solidFill>
            <a:srgbClr val="F5FA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45152" y="164592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Conquer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039112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the search in one half only.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92440" y="1508760"/>
            <a:ext cx="3200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257032" y="164592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57032" y="2039112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complex combination is needed: the answer is found directly or not found.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474720" y="3520440"/>
            <a:ext cx="6858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474720" y="366674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74720" y="4325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60520" y="3520440"/>
            <a:ext cx="6858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160520" y="366674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P002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160520" y="4325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3520440"/>
            <a:ext cx="6858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846320" y="366674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P058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4325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32120" y="3520440"/>
            <a:ext cx="685800" cy="731520"/>
          </a:xfrm>
          <a:prstGeom prst="rect">
            <a:avLst/>
          </a:prstGeom>
          <a:solidFill>
            <a:srgbClr val="D9F3F1"/>
          </a:solidFill>
          <a:ln w="13970">
            <a:solidFill>
              <a:srgbClr val="1CA7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532120" y="366674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32120" y="4325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3520440"/>
            <a:ext cx="6858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217920" y="366674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P135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217920" y="4325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03720" y="3520440"/>
            <a:ext cx="6858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903720" y="366674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P200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03720" y="4325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589520" y="3520440"/>
            <a:ext cx="6858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7589520" y="366674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P245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589520" y="4325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60120" y="5074920"/>
            <a:ext cx="10058400" cy="594360"/>
          </a:xfrm>
          <a:prstGeom prst="roundRect">
            <a:avLst>
              <a:gd name="adj" fmla="val 12308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1188720" y="5239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sorted order lets the algorithm discard a whole half without inspecting every element.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Merge sort: another Divide and Conquer algorithm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6968" y="1591056"/>
            <a:ext cx="6400800" cy="2414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Merge sort divides an unsorted list into smaller lists.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small list is sorted recursively.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Sorted sublists are merged into a complete sorted list.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idea will return in the lesson on sorting algorithms.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biomedical data, sorting may be used to order patients by timestamp, risk score or exam date.</a:t>
            </a:r>
          </a:p>
        </p:txBody>
      </p:sp>
      <p:sp>
        <p:nvSpPr>
          <p:cNvPr id="9" name="Shape 7"/>
          <p:cNvSpPr/>
          <p:nvPr/>
        </p:nvSpPr>
        <p:spPr>
          <a:xfrm>
            <a:off x="7452360" y="155448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616952" y="16916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Divide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16952" y="2084832"/>
            <a:ext cx="3099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the list into smaller parts.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52360" y="25146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F5FA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16952" y="265176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Conquer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16952" y="3044952"/>
            <a:ext cx="3099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the smaller parts recursively.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52360" y="347472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616952" y="361188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Combine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16952" y="4005072"/>
            <a:ext cx="3099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the sorted parts.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EXAMPLE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Searching across large CGM datasets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371600"/>
            <a:ext cx="10789920" cy="658368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77824" y="1463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706624" y="146304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461504" y="146304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concern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2029968"/>
            <a:ext cx="10789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77824" y="21214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value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706624" y="212140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glucose reading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61504" y="2121408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comparison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2688336"/>
            <a:ext cx="10789920" cy="658368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77824" y="2779776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706624" y="2779776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288 values at 5-minute sampling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61504" y="2779776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for lows/highs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3346704"/>
            <a:ext cx="10789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77824" y="343814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patient, months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706624" y="3438144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 of thousands of values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61504" y="3438144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filtering and windowing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22960" y="4005072"/>
            <a:ext cx="10789920" cy="658368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77824" y="4096512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patients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706624" y="4096512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Millions of values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461504" y="4096512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Indexes, batching and optimized pipelines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960120" y="489204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188720" y="5056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correct algorithm on one value may become too slow when applied to millions of sensor measurements.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CASE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choice: find a patient and analyze recent values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6583680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A: find patient P104 inside a patient archive.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B: retrieve the patient’s recent CGM measurements.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C: count how many values are below 70 mg/dL.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D: return whether a review alert should be generated.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Different sub-tasks may require different algorithms and data structures.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43800" y="160020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F5FAFF"/>
          </a:solidFill>
          <a:ln w="12700">
            <a:solidFill>
              <a:srgbClr val="C7D7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708392" y="173736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08392" y="2130552"/>
            <a:ext cx="30998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for patient lookup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scan for recent CGM values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alert generation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52360" y="416052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80960" y="43251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systems are pipelines of algorithms, not one isolated procedure.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EXERCISE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Mini-lab 1: choose the search strategy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353312"/>
            <a:ext cx="10515600" cy="658368"/>
          </a:xfrm>
          <a:prstGeom prst="rect">
            <a:avLst/>
          </a:prstGeom>
          <a:solidFill>
            <a:srgbClr val="1B335F"/>
          </a:solidFill>
          <a:ln w="6350">
            <a:solidFill>
              <a:srgbClr val="1B33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77824" y="144475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35424" y="144475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condition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18704" y="1444752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2011680"/>
            <a:ext cx="10515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77824" y="210312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P310 in 20 unsorted IDs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35424" y="210312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Unsorted list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18704" y="210312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algorithm?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2670048"/>
            <a:ext cx="10515600" cy="658368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77824" y="276148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P310 in 1 million sorted IDs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35424" y="276148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Sorted list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18704" y="276148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algorithm?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3328416"/>
            <a:ext cx="10515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77824" y="341985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all glucose values &lt; 70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535424" y="341985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Time-ordered signal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918704" y="341985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algorithm?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22960" y="3986784"/>
            <a:ext cx="10515600" cy="658368"/>
          </a:xfrm>
          <a:prstGeom prst="rect">
            <a:avLst/>
          </a:prstGeom>
          <a:solidFill>
            <a:srgbClr val="F7FBFE"/>
          </a:solidFill>
          <a:ln w="635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77824" y="407822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record by patient_id in EHR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535424" y="407822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 database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18704" y="4078224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structure helps?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1508760" y="4892040"/>
            <a:ext cx="8842248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737360" y="5056632"/>
            <a:ext cx="844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should justify the choice, not only name the algorithm.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EXERCISE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Mini-lab 2: write recursive pseudocode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a recursive algorithm CountHigh(values).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Input: a list of glucose values.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Output: the number of values greater than 180 mg/dL.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 case: the list is empty.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Recursive case: inspect the first value and call the algorithm on the rest of the list.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Then rewrite the same algorithm using a loop and compare both versions.</a:t>
            </a:r>
            <a:endParaRPr lang="en-US" sz="2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" y="1124712"/>
            <a:ext cx="10835640" cy="0"/>
          </a:xfrm>
          <a:prstGeom prst="line">
            <a:avLst/>
          </a:prstGeom>
          <a:noFill/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58368" y="6016752"/>
            <a:ext cx="10835640" cy="0"/>
          </a:xfrm>
          <a:prstGeom prst="line">
            <a:avLst/>
          </a:prstGeom>
          <a:noFill/>
          <a:ln w="10160">
            <a:solidFill>
              <a:srgbClr val="E4EE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3200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A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SYNTHESIS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B33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3968" y="61447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103327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is a fundamental operation in medical informatics.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Linear search is simple and works on unsorted data, but grows as O(n).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Binary search is much faster, O(log n), but requires sorted data.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Recursion solves a problem by solving a smaller version of the same problem.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Divide and Conquer divides, solves and combines subproblems.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Algorithm choice depends on data structure, scale, correctness requirements and clinical context.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5486400"/>
            <a:ext cx="10058400" cy="384048"/>
          </a:xfrm>
          <a:prstGeom prst="roundRect">
            <a:avLst>
              <a:gd name="adj" fmla="val 19048"/>
            </a:avLst>
          </a:prstGeom>
          <a:solidFill>
            <a:srgbClr val="EAF4FB"/>
          </a:solidFill>
          <a:ln w="12700">
            <a:solidFill>
              <a:srgbClr val="D2E7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188720" y="5650992"/>
            <a:ext cx="96012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33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lesson: sorting algorithms and why ordering data can make later operations easier.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3436</Words>
  <Application>Microsoft Macintosh PowerPoint</Application>
  <PresentationFormat>Widescreen</PresentationFormat>
  <Paragraphs>673</Paragraphs>
  <Slides>34</Slides>
  <Notes>34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 — Search, Recursion and Divide and Conquer</dc:title>
  <dc:subject>Algorithms and Data Structures for Medical Informatics - Lesson 5</dc:subject>
  <dc:creator>OpenAI</dc:creator>
  <cp:lastModifiedBy>RANCATI SIMONE</cp:lastModifiedBy>
  <cp:revision>2</cp:revision>
  <dcterms:created xsi:type="dcterms:W3CDTF">2026-08-19T12:21:34Z</dcterms:created>
  <dcterms:modified xsi:type="dcterms:W3CDTF">2026-09-13T14:33:32Z</dcterms:modified>
</cp:coreProperties>
</file>