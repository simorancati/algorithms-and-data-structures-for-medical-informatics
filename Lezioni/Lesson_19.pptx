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94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6FBF"/>
                </a:solidFill>
                <a:latin typeface="Aptos Display"/>
              </a:rPr>
              <a:t>Lesson 19 — Decision Trees, Random Forest and Ensemble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4292" y="437355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Clinical risk trees, bagging and interpretability of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292" y="4867326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09 October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style_medical_healthcare_in.png"/>
          <p:cNvPicPr>
            <a:picLocks noChangeAspect="1"/>
          </p:cNvPicPr>
          <p:nvPr/>
        </p:nvPicPr>
        <p:blipFill>
          <a:blip r:embed="rId2"/>
          <a:srcRect l="47191"/>
          <a:stretch>
            <a:fillRect/>
          </a:stretch>
        </p:blipFill>
        <p:spPr>
          <a:xfrm>
            <a:off x="7052312" y="932688"/>
            <a:ext cx="4481320" cy="4775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Tree-based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Decision rules as a predictive algorithm.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Decision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Splits, nodes, leaves and clinical pathways.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8"/>
            <a:ext cx="2907792" cy="1271017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Tree growth and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71418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Impurity, depth, pruning and overfitting.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Bagging and aggregation of many trees.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Ensemble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Why multiple models can improve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Interpretation,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13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how a decision tree makes predictions through sequential splits.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Distinguish root nodes, internal nodes, branches and leaves.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Understand why trees are interpretable and useful in clinical settings.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why a single tree may overfit and how pruning can help.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how random forests work and why they often perform better than a single tree.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Understand the general idea behind ensemble algorithms.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4063"/>
          <a:stretch>
            <a:fillRect/>
          </a:stretch>
        </p:blipFill>
        <p:spPr>
          <a:xfrm>
            <a:off x="8119872" y="1847088"/>
            <a:ext cx="3703116" cy="3725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tree-based algorithms are important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1567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Healthcare decisions are often naturally expressed as a sequence of if–then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Tree-based models resemble this reasoning style.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They can handle nonlinear relationships and interactions between variables.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Their structure is intuitive and often easier to explain to students and clinicians.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Where decision trees fit in 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dataset with features and a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Classification or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hierarchy of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class label, probability or numeric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High interpretability.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Single trees can be unstable or overfit.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DECISION TREE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decision 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decision tree is a supervised-learning model that makes predictions through a sequence of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internal node asks a question about one feature.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branch corresponds to one possible answer.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terminal node, called a leaf, stores the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0648" y="1828800"/>
            <a:ext cx="1399032" cy="3950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07223" y="1901952"/>
            <a:ext cx="1325880" cy="28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Age &gt; 65?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3096" y="2692908"/>
            <a:ext cx="1645920" cy="3950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2766060"/>
            <a:ext cx="1572768" cy="28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SpO₂ &lt; 92%?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2692908"/>
            <a:ext cx="1645920" cy="3950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7072" y="2766060"/>
            <a:ext cx="1572768" cy="28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CRP &gt; 10?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3557016"/>
            <a:ext cx="1110996" cy="3703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4" y="3630168"/>
            <a:ext cx="1037844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3557016"/>
            <a:ext cx="1110996" cy="37033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4927" y="3630168"/>
            <a:ext cx="1037844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4756" y="3557016"/>
            <a:ext cx="1110996" cy="3703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1331" y="3630168"/>
            <a:ext cx="1037844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Moderate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3557016"/>
            <a:ext cx="1110996" cy="37033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64624" y="3630168"/>
            <a:ext cx="1037844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06056" y="2223820"/>
            <a:ext cx="864108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70164" y="2223820"/>
            <a:ext cx="1193292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71132" y="3087928"/>
            <a:ext cx="534924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06056" y="3087928"/>
            <a:ext cx="658368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869680" y="3087928"/>
            <a:ext cx="493776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63456" y="3087928"/>
            <a:ext cx="699516" cy="469088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DECISION TREE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Root, nodes, branches and leaves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Root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The first split, applied to all samples.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Internal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decision point based on a feature.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80360"/>
            <a:ext cx="443484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9718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227832"/>
            <a:ext cx="4178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One route depending on the answer to the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880360"/>
            <a:ext cx="443484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9718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Leaf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227832"/>
            <a:ext cx="4178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Final output region of the tree.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886200"/>
            <a:ext cx="443484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977639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233672"/>
            <a:ext cx="4178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complete sequence of decisions from root to leaf.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clinical decision path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the task is to predict clinical risk.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tree may first split by age, then by oxygen saturation, then by inflammatory markers.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Following the branches leads to a final risk category.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mirrors rule-based clinical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4422" y="1783080"/>
            <a:ext cx="1430121" cy="403799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30998" y="1856231"/>
            <a:ext cx="1356969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Age &gt; 65?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4924" y="2666390"/>
            <a:ext cx="1682496" cy="403799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1500" y="2739542"/>
            <a:ext cx="1609344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SpO₂ &lt; 92%?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88044" y="2666390"/>
            <a:ext cx="1682496" cy="403799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4620" y="2739542"/>
            <a:ext cx="1609344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CRP &gt; 10?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3549700"/>
            <a:ext cx="1135684" cy="37856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9126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0297" y="3549700"/>
            <a:ext cx="1135684" cy="378561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46873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7732" y="3549700"/>
            <a:ext cx="1135684" cy="37856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4308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Moderate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7542" y="3549700"/>
            <a:ext cx="1135684" cy="378561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34118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26172" y="2186879"/>
            <a:ext cx="88331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09483" y="2186879"/>
            <a:ext cx="1219809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79361" y="3070189"/>
            <a:ext cx="54681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26172" y="3070189"/>
            <a:ext cx="672999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24544" y="3070189"/>
            <a:ext cx="504748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29292" y="3070189"/>
            <a:ext cx="71506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a tree predicts a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classification, each leaf corresponds to a class or a class distribution.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sends the new sample through the tree according to the split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it reaches a leaf, the leaf determines the predicted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leaf may also provide estimated class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REGRESSION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a tree predicts a numeric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Decision trees can also solve regression 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regression tree, each leaf contains a numeric prediction.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example, a leaf may predict future glucose or length of stay.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Thus tree-based models work for both categorical and continuous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BUILDING THE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makes a good split?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 each node, the algorithm tries candidate questions based on the available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good split should separate the data into more homogeneous groups.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exact criterion depends on whether the task is classification or regression.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repeats this process recursively.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SPLIT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Impurity in classification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node is pure if most or all samples inside it belong to the same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Impurity measures how mixed the classes are within a node.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Common impurity criteria include Gini impurity and entropy.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tree prefers splits that reduce impurity.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High impurity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mixed sick and healthy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Low impurity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mostly one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SPLIT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Error reduction in regression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regression, the goal is not class purity but reduction of prediction error.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prefers splits that produce groups with more similar target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often corresponds to reducing variance within each child node.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leaves then contain more coherent numeric predictions.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TREE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the algorithm expands the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69164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679191"/>
            <a:ext cx="1435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142"/>
                </a:solidFill>
                <a:latin typeface="Aptos"/>
              </a:defRPr>
            </a:pPr>
            <a:r>
              <a:t>All training samples are in the root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331720"/>
            <a:ext cx="169164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265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679191"/>
            <a:ext cx="1435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142"/>
                </a:solidFill>
                <a:latin typeface="Aptos"/>
              </a:defRPr>
            </a:pPr>
            <a:r>
              <a:t>Evaluate candidate features and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331720"/>
            <a:ext cx="169164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2861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679191"/>
            <a:ext cx="1435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142"/>
                </a:solidFill>
                <a:latin typeface="Aptos"/>
              </a:defRPr>
            </a:pPr>
            <a:r>
              <a:t>Choose the best rule and create child nodes.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59" y="2331720"/>
            <a:ext cx="169164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94575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5" y="2679191"/>
            <a:ext cx="1435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142"/>
                </a:solidFill>
                <a:latin typeface="Aptos"/>
              </a:defRPr>
            </a:pPr>
            <a:r>
              <a:t>Apply the same process to each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19" y="2331720"/>
            <a:ext cx="169164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679191"/>
            <a:ext cx="1435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142"/>
                </a:solidFill>
                <a:latin typeface="Aptos"/>
              </a:defRPr>
            </a:pPr>
            <a:r>
              <a:t>End when a stopping rule is reached.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STOPPING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does a tree stop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Maximum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6771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Limit the number of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1168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Minimum samples per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6771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Do not split tiny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3101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Minimum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66160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Split only if the improvement is large enough.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3101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Pure leaves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66160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Stop if the node is already homogeneous.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a single tree may overfit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allowed to grow without constraints, a decision tree can become very complex.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may learn idiosyncrasies of the training data rather than general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produces excellent training performance but weaker generalization.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Controlling tree complexity is therefore essential.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CONTROLLING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Pruning means simplifying a tree after or during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Some branches that add little value are removed.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smaller tree is often easier to interpret and may generalize better.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Pruning is one way to balance interpretability and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Before pruning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large, detailed, potentially overfit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After pruning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simpler and more robust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decision trees are easy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prediction follows an explicit path of decisions.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can be visualized as a flowchart-like structure.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Clinicians can inspect which features drive the decision.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transparency makes trees attractive in educational and clinical contexts.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Decision tree for clinical risk 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tree can be trained to assign low, moderate or high clinical risk.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may include age, oxygen saturation, blood pressure, lab markers and comorbidities.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learned structure shows one possible triage-like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exact thresholds come from the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4422" y="1783080"/>
            <a:ext cx="1430121" cy="403799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30998" y="1856231"/>
            <a:ext cx="1356969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Age &gt; 65?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4924" y="2666390"/>
            <a:ext cx="1682496" cy="403799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1500" y="2739542"/>
            <a:ext cx="1609344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SpO₂ &lt; 92%?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88044" y="2666390"/>
            <a:ext cx="1682496" cy="403799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4620" y="2739542"/>
            <a:ext cx="1609344" cy="29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CRP &gt; 10?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3549700"/>
            <a:ext cx="1135684" cy="37856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9126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0297" y="3549700"/>
            <a:ext cx="1135684" cy="378561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46873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7732" y="3549700"/>
            <a:ext cx="1135684" cy="37856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4308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Moderate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7542" y="3549700"/>
            <a:ext cx="1135684" cy="378561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34118" y="3622852"/>
            <a:ext cx="106253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33142"/>
                </a:solidFill>
                <a:latin typeface="Aptos"/>
              </a:rPr>
              <a:t>High risk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26172" y="2186879"/>
            <a:ext cx="88331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09483" y="2186879"/>
            <a:ext cx="1219809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79361" y="3070189"/>
            <a:ext cx="54681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26172" y="3070189"/>
            <a:ext cx="672999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24544" y="3070189"/>
            <a:ext cx="504748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29292" y="3070189"/>
            <a:ext cx="715061" cy="479511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LIMITATIONS OF A SINGLE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Strengths and weaknesses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8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Highly interpretable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Handles nonlinear patterns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Works with mixed types of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666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Can overfit easily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Can be unstable: small data changes may alter the tree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May have lower predictive power than ensembles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single tree is transparent, but not always the best predictor.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FROM ONE MODEL TO 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an ensemble algorithm?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117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An ensemble combines the predictions of multiple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The idea is that a group of models can be more accurate and robust than a single one.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Different ensemble methods use different strategies to create diversity among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Random forest is one of the most important ensemble methods.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ENSEMBLE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many trees can outperform one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Individual trees may make different mistakes.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Aggregating them can reduce variance and improve stability.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each tree captures part of the signal, the combined decision is often more reliable.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the core intuition behind random forests.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random forest?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1824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random forest is an ensemble of many decision trees.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tree is trained on a slightly different version of the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During prediction, the forest aggregates the outputs of all trees.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usually improves performance and robustness.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RANDOM FOREST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Main idea in 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Create multiple bootstrap samples from the training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Train one tree on each sample.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At each split, consider only a random subset of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Aggregate the predictions of all trees.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BAGGING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Bootstrap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Bagging means training multiple models on resampled versions of the training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bootstrap sample is created by sampling with replacement.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introduces variation across the trees.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Aggregation over many trees reduces instability.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sample with replacement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combine predictions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RANDOMNESS IN THE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random feature subsets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all trees looked at the same strongest feature all the time, they would become too similar.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Random subsets of features encourage diversity across trees.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Greater diversity often improves the benefit of aggregation.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one of the defining ideas of random forests.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PREDICTION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the forest makes the final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tree votes for a class.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majority vote becomes the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Regression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tree outputs a number.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final prediction is often the average.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761176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Aggregation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86828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Voting for classes, averaging for continuous values.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PERFORMANCE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random forests are often strong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often handle structured tabular biomedical data very well.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capture nonlinear effects and interactions automatically.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are less prone to overfitting than a single deep tree.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usually require less feature engineering than simpler linear models.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INTERPRETABILITY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Single tree vs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Single 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Easy to visualize and explain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One explicit path per prediction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Potentially less stable and less accurate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666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more accurate and robust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Harder to explain as a single flowchart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Interpretation often uses feature importance and summaries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Better performance often comes at the cost of reduced direct interpretability.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useful interpretation tool for forests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Random forests can provide estimates of which features are most influential.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 importance does not fully explain one single prediction, but it summarizes global relevance.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clinical data, this can help highlight which variables drive the model most strongly.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Interpretation should still be done carefully.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130487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Example important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3142"/>
                </a:solidFill>
                <a:latin typeface="Aptos"/>
              </a:defRPr>
            </a:pPr>
            <a:r>
              <a:t>Age</a:t>
            </a:r>
          </a:p>
          <a:p>
            <a:pPr>
              <a:defRPr sz="1300">
                <a:solidFill>
                  <a:srgbClr val="233142"/>
                </a:solidFill>
                <a:latin typeface="Aptos"/>
              </a:defRPr>
            </a:pPr>
            <a:r>
              <a:t>SpO₂</a:t>
            </a:r>
          </a:p>
          <a:p>
            <a:pPr>
              <a:defRPr sz="1300">
                <a:solidFill>
                  <a:srgbClr val="233142"/>
                </a:solidFill>
                <a:latin typeface="Aptos"/>
              </a:defRPr>
            </a:pPr>
            <a:r>
              <a:t>CRP</a:t>
            </a:r>
          </a:p>
          <a:p>
            <a:pPr>
              <a:defRPr sz="1300">
                <a:solidFill>
                  <a:srgbClr val="233142"/>
                </a:solidFill>
                <a:latin typeface="Aptos"/>
              </a:defRPr>
            </a:pPr>
            <a:r>
              <a:t>Comorbidity score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OTHER ENSEMBLE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Beyond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6771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Combine many resampled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1168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6771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Build models sequentially to correct previous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3101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Voting ensembles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66160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Aggregate different model types.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3101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66160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Use a meta-model to combine base models.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For this course, the key message is that combining models is a powerful algorithmic strategy.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Random forest for clinical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we want to predict whether a patient is at high clinical risk.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tree in the forest sees a slightly different sample of patients and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risk classification is based on the aggregate vote.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can yield stronger predictive performance than a single risk tree.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Over-interpretation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learned threshold is not the same as a clinical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Single trees may change with small changes in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Bias in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Garbage in, garbage out still applies.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Black-box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Large ensembles are harder to inspect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416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Strong predictive performance is not enough without proper evaluation.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Which model would you choose?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You need a simple, explainable risk algorithm for teaching purposes.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You want stronger predictive performance on tabular clinical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You need to explain one full decision path to a student.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You want to reduce instability from one single tree.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each scenario, decide whether a single tree or a random forest is more appropriate, and explain why.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a leaf represent in a decision tree?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6294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The final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can a single tree overfit?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Because it can grow too complex and memorize the training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the core idea of a random forest?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736313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Train many diverse trees and aggregate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are single trees often considered interpretable?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736313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Because the full decision path can be inspected.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82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Decision trees make predictions through explicit sequences of if–then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are attractive in medicine because they are intuitive and interpretable.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However, a single tree may overfit and be unstable.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Random forests improve robustness and performance by combining many diverse trees.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Ensemble algorithms show that combining multiple models is a powerful predictive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2165</Words>
  <Application>Microsoft Macintosh PowerPoint</Application>
  <PresentationFormat>Widescreen</PresentationFormat>
  <Paragraphs>359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2026-10-07T20:36:51Z</dcterms:modified>
  <cp:category/>
</cp:coreProperties>
</file>