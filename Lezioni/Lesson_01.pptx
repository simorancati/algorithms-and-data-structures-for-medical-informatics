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67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147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course as a bridge between computing fundamentals and healthcare applications. Emphasize that students will repeatedly move from an informatics concept to a biomedical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contract for the two-hour session. It makes the class feel structured and formal while also clarifying the biomedical case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objectives slowly. Ask students to write down what they think an algorithm is before showing the formal definition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real hospital workflows: finding a patient record, prioritizing emergency cases, detecting abnormal glucose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discussing clinical guidelines in depth here. The goal is to show the translation from a clinical concept to a computational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distinction between everyday instructions and formal instructions. “Check if glucose is low” is not enough; “if glucose &lt; 70” is precise.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property. Ask: what could go wrong if the threshold is not specified or the output format is unclear?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same three boxes repeatedly during the course. It gives students a stable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broadens the concept of algorithm beyond machine learning. Many medical informatics tasks are basic data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examples: pseudocode, Python, Java, Excel formula. The underlying algorithm can be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introduce the term “data structure” without going into implementation details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explain all structures fully; they will be covered later. The goal is to show that medical data are not only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course will revisit these representations throughout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is not intended as a complete clinical record. It is a simplified teaching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students try before you provide answers. This reveals whether they understand the input/output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transition from definitions to the glucose case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making clinical recommendations. Emphasize assumptions and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see that this is already a valid algorithm even before any programming language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where the value 70 should go. This naturally leads to boundary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not worry about syntax here. Focus on clarity and order of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students are not yet comfortable with Python, explain indentation and elif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predict the output for 69.9, 70, 180, and 180.1 before showing the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bridges the first lesson with the later lessons on arrays and time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over-teach loops if not yet covered. The goal is conceptual: repeated data require repeated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later lessons on arrays, matrices and time-series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key professional point for ITS students. Real-world medical data are messy.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build engineering discipline: the algorithm is not complete until edge cases are specified.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 difference between coding bugs and specification errors. Many medical informatics failures begin with specification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Big-O very briefly without teaching it yet. This anticipates the next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keeps the lesson formal and professional. Emphasize responsibility without overcomplicating the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can be done on paper. The priority is reasoning and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can be used as a formative activity or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close the conceptual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questions, then assign the preparation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vector_illustration_banner_like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190084"/>
            <a:ext cx="4251960" cy="2392999"/>
          </a:xfrm>
          <a:prstGeom prst="rect">
            <a:avLst/>
          </a:prstGeom>
        </p:spPr>
      </p:pic>
      <p:pic>
        <p:nvPicPr>
          <p:cNvPr id="3" name="Image 1" descr="/mnt/data/template_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650992"/>
            <a:ext cx="2743200" cy="1124712"/>
          </a:xfrm>
          <a:prstGeom prst="rect">
            <a:avLst/>
          </a:prstGeom>
        </p:spPr>
      </p:pic>
      <p:pic>
        <p:nvPicPr>
          <p:cNvPr id="4" name="Image 2" descr="/mnt/data/template_media/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5486400"/>
            <a:ext cx="1005840" cy="13258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94944" y="1261872"/>
            <a:ext cx="6903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Algorithms and Data Structures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Medical Informatics</a:t>
            </a:r>
            <a:endParaRPr lang="en-US" sz="3400" dirty="0"/>
          </a:p>
        </p:txBody>
      </p:sp>
      <p:sp>
        <p:nvSpPr>
          <p:cNvPr id="6" name="Text 1"/>
          <p:cNvSpPr/>
          <p:nvPr/>
        </p:nvSpPr>
        <p:spPr>
          <a:xfrm>
            <a:off x="713232" y="250545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E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1 — Introduction to algorithms, input/output, programs and biomedical examples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713232" y="321868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155C99">
              <a:alpha val="96000"/>
            </a:srgbClr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3"/>
          <p:cNvSpPr/>
          <p:nvPr/>
        </p:nvSpPr>
        <p:spPr>
          <a:xfrm>
            <a:off x="822960" y="3305556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· Medical Informatics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713232" y="3639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September 2026 · 09:30–11:30</a:t>
            </a:r>
            <a:endParaRPr lang="en-US" sz="12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771968D3-8BCA-907E-781C-E2832CFB8A63}"/>
              </a:ext>
            </a:extLst>
          </p:cNvPr>
          <p:cNvSpPr/>
          <p:nvPr/>
        </p:nvSpPr>
        <p:spPr>
          <a:xfrm>
            <a:off x="771144" y="44988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E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Prof: Simone </a:t>
            </a:r>
            <a:r>
              <a:rPr lang="en-US" sz="1600" dirty="0" err="1">
                <a:solidFill>
                  <a:srgbClr val="5E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Rancati</a:t>
            </a:r>
            <a:r>
              <a:rPr lang="en-US" sz="1600" dirty="0">
                <a:solidFill>
                  <a:srgbClr val="5E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PhD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5E6A7D"/>
                </a:solidFill>
                <a:latin typeface="Aptos" pitchFamily="34" charset="0"/>
              </a:rPr>
              <a:t>Contact: simone.rancati01@universitadipavia.it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STRUCTURE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path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13232" y="1536192"/>
            <a:ext cx="2560320" cy="1024128"/>
          </a:xfrm>
          <a:prstGeom prst="roundRect">
            <a:avLst>
              <a:gd name="adj" fmla="val 5357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713232" y="1536192"/>
            <a:ext cx="73152" cy="1024128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896112" y="168249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Concepts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96112" y="19933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an algorithm?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 data structure?</a:t>
            </a:r>
            <a:endParaRPr lang="en-US" sz="1230" dirty="0"/>
          </a:p>
        </p:txBody>
      </p:sp>
      <p:sp>
        <p:nvSpPr>
          <p:cNvPr id="13" name="Shape 10"/>
          <p:cNvSpPr/>
          <p:nvPr/>
        </p:nvSpPr>
        <p:spPr>
          <a:xfrm>
            <a:off x="3566160" y="1536192"/>
            <a:ext cx="2560320" cy="1024128"/>
          </a:xfrm>
          <a:prstGeom prst="roundRect">
            <a:avLst>
              <a:gd name="adj" fmla="val 5357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3566160" y="1536192"/>
            <a:ext cx="73152" cy="1024128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3749040" y="168249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Representation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49040" y="19933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Inputs, outputs and computational steps.</a:t>
            </a:r>
            <a:endParaRPr lang="en-US" sz="1230" dirty="0"/>
          </a:p>
        </p:txBody>
      </p:sp>
      <p:sp>
        <p:nvSpPr>
          <p:cNvPr id="17" name="Shape 14"/>
          <p:cNvSpPr/>
          <p:nvPr/>
        </p:nvSpPr>
        <p:spPr>
          <a:xfrm>
            <a:off x="6419088" y="1536192"/>
            <a:ext cx="2560320" cy="1024128"/>
          </a:xfrm>
          <a:prstGeom prst="roundRect">
            <a:avLst>
              <a:gd name="adj" fmla="val 5357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6419088" y="1536192"/>
            <a:ext cx="73152" cy="1024128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6601968" y="168249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Comparison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601968" y="19933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vs program vs software system.</a:t>
            </a:r>
            <a:endParaRPr lang="en-US" sz="1230" dirty="0"/>
          </a:p>
        </p:txBody>
      </p:sp>
      <p:sp>
        <p:nvSpPr>
          <p:cNvPr id="21" name="Shape 18"/>
          <p:cNvSpPr/>
          <p:nvPr/>
        </p:nvSpPr>
        <p:spPr>
          <a:xfrm>
            <a:off x="9272016" y="1536192"/>
            <a:ext cx="2560320" cy="1024128"/>
          </a:xfrm>
          <a:prstGeom prst="roundRect">
            <a:avLst>
              <a:gd name="adj" fmla="val 5357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9272016" y="1536192"/>
            <a:ext cx="73152" cy="1024128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9454896" y="168249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Case study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454896" y="19933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Classifying blood glucose values.</a:t>
            </a:r>
            <a:endParaRPr lang="en-US" sz="1230" dirty="0"/>
          </a:p>
        </p:txBody>
      </p:sp>
      <p:sp>
        <p:nvSpPr>
          <p:cNvPr id="25" name="Text 22"/>
          <p:cNvSpPr/>
          <p:nvPr/>
        </p:nvSpPr>
        <p:spPr>
          <a:xfrm>
            <a:off x="960120" y="3017520"/>
            <a:ext cx="102412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the lesson, students should be able to read a simple health-related problem, identify the necessary data, design a step-by-step algorithm and explain which data structures are involved.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1828800" y="4389120"/>
            <a:ext cx="8412480" cy="0"/>
          </a:xfrm>
          <a:prstGeom prst="line">
            <a:avLst/>
          </a:prstGeom>
          <a:noFill/>
          <a:ln w="15240">
            <a:solidFill>
              <a:srgbClr val="C5D6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1097280" y="4663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6A6"/>
                </a:solidFill>
              </a:rPr>
              <a:t>Main teaching question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97280" y="51242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355F"/>
                </a:solidFill>
              </a:rPr>
              <a:t>How do we transform a clinical rule into a precise computational procedure?</a:t>
            </a:r>
            <a:endParaRPr lang="en-US" sz="2400" dirty="0"/>
          </a:p>
        </p:txBody>
      </p:sp>
      <p:pic>
        <p:nvPicPr>
          <p:cNvPr id="29" name="Image 0" descr="/mnt/data/template_media/image2.png">
            <a:extLst>
              <a:ext uri="{FF2B5EF4-FFF2-40B4-BE49-F238E27FC236}">
                <a16:creationId xmlns:a16="http://schemas.microsoft.com/office/drawing/2014/main" id="{ACCEA0AE-20E3-2D5B-58AD-73AED4E25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END OF THE LESSON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8680" y="1417320"/>
            <a:ext cx="5623560" cy="3886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an algorithm as a finite, precise and executable procedure.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Distinguish algorithms from programs, implementations and software systems.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Identify inputs, processing steps and outputs in a biomedical task.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Recognize why data structures matter when storing and processing health data.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 a simple algorithm to classify blood glucose values.</a:t>
            </a:r>
            <a:endParaRPr lang="en-US" sz="2400" dirty="0"/>
          </a:p>
        </p:txBody>
      </p:sp>
      <p:pic>
        <p:nvPicPr>
          <p:cNvPr id="10" name="Image 1" descr="/mnt/data/wide_clean_vector_illustration_style_scene_with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54087"/>
            <a:ext cx="5108507" cy="2875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algorithms matter in medical informatics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04672" y="1389888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Hospitals continuously generate structured and unstructured data: measurements, reports, images, medications and alarms.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Algorithms transform those data into actions: retrieve, sort, validate, classify, predict or recommend.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poor algorithm can be slow, ambiguous or unsafe; a well-designed one is transparent, testable and reproducible.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Before using Machine Learning or Deep Learning, we must understand how data are represented and manipulated.</a:t>
            </a:r>
            <a:endParaRPr lang="en-US" sz="2000" dirty="0"/>
          </a:p>
        </p:txBody>
      </p:sp>
      <p:pic>
        <p:nvPicPr>
          <p:cNvPr id="10" name="Image 1" descr="/mnt/data/a_clean_vector_illustration_style_medical_tech_s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389888"/>
            <a:ext cx="4663440" cy="2624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DATA → COMPUTATIONAL ACTION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Motivating scenario: a glucose alert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" y="1325880"/>
            <a:ext cx="106070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monitoring system receives a new glucose value from a sensor. The system must classify it and decide whether to generate an alert.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051560" y="2148840"/>
            <a:ext cx="2999232" cy="1417320"/>
          </a:xfrm>
          <a:prstGeom prst="roundRect">
            <a:avLst>
              <a:gd name="adj" fmla="val 3871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1051560" y="2148840"/>
            <a:ext cx="73152" cy="1417320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234440" y="2295144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2606040"/>
            <a:ext cx="26791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 = 62 mg/dL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4206240" y="2834640"/>
            <a:ext cx="384048" cy="0"/>
          </a:xfrm>
          <a:prstGeom prst="line">
            <a:avLst/>
          </a:prstGeom>
          <a:noFill/>
          <a:ln w="19050">
            <a:solidFill>
              <a:srgbClr val="9BBB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4754880" y="2148840"/>
            <a:ext cx="2999232" cy="1417320"/>
          </a:xfrm>
          <a:prstGeom prst="roundRect">
            <a:avLst>
              <a:gd name="adj" fmla="val 3871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4754880" y="2148840"/>
            <a:ext cx="73152" cy="1417320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4937760" y="2295144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937760" y="2606040"/>
            <a:ext cx="26791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70 → hypoglycemia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7909560" y="2834640"/>
            <a:ext cx="384048" cy="0"/>
          </a:xfrm>
          <a:prstGeom prst="line">
            <a:avLst/>
          </a:prstGeom>
          <a:noFill/>
          <a:ln w="19050">
            <a:solidFill>
              <a:srgbClr val="9BBB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7"/>
          <p:cNvSpPr/>
          <p:nvPr/>
        </p:nvSpPr>
        <p:spPr>
          <a:xfrm>
            <a:off x="8458200" y="2148840"/>
            <a:ext cx="2999232" cy="1417320"/>
          </a:xfrm>
          <a:prstGeom prst="roundRect">
            <a:avLst>
              <a:gd name="adj" fmla="val 3871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8458200" y="2148840"/>
            <a:ext cx="73152" cy="1417320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8641080" y="2295144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641080" y="2606040"/>
            <a:ext cx="26791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= “Low”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= true</a:t>
            </a:r>
            <a:endParaRPr lang="en-US" sz="1230" dirty="0"/>
          </a:p>
        </p:txBody>
      </p:sp>
      <p:sp>
        <p:nvSpPr>
          <p:cNvPr id="24" name="Text 21"/>
          <p:cNvSpPr/>
          <p:nvPr/>
        </p:nvSpPr>
        <p:spPr>
          <a:xfrm>
            <a:off x="1097280" y="427939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55F"/>
                </a:solidFill>
              </a:rPr>
              <a:t>The computer cannot understand “too low” unless we convert it into precise conditions.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417320" y="5020056"/>
            <a:ext cx="9326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E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basic move of computational thinking: formalize a clinical idea into data, rules and outputs.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DEFINITION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algorithm?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" y="1417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355F"/>
                </a:solidFill>
              </a:rPr>
              <a:t>An algorithm is a finite sequence of precise instructions used to solve a problem or perform a task.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914400" y="2468880"/>
            <a:ext cx="2971800" cy="1234440"/>
          </a:xfrm>
          <a:prstGeom prst="roundRect">
            <a:avLst>
              <a:gd name="adj" fmla="val 4444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914400" y="2468880"/>
            <a:ext cx="73152" cy="1234440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097280" y="26151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2926080"/>
            <a:ext cx="2651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must terminate after a limited number of steps.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4617720" y="2468880"/>
            <a:ext cx="2971800" cy="1234440"/>
          </a:xfrm>
          <a:prstGeom prst="roundRect">
            <a:avLst>
              <a:gd name="adj" fmla="val 4444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4617720" y="2468880"/>
            <a:ext cx="73152" cy="1234440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4800600" y="26151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00600" y="2926080"/>
            <a:ext cx="2651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step must be unambiguous and executable.</a:t>
            </a:r>
            <a:endParaRPr lang="en-US" sz="1230" dirty="0"/>
          </a:p>
        </p:txBody>
      </p:sp>
      <p:sp>
        <p:nvSpPr>
          <p:cNvPr id="18" name="Shape 15"/>
          <p:cNvSpPr/>
          <p:nvPr/>
        </p:nvSpPr>
        <p:spPr>
          <a:xfrm>
            <a:off x="8321040" y="2468880"/>
            <a:ext cx="2971800" cy="1234440"/>
          </a:xfrm>
          <a:prstGeom prst="roundRect">
            <a:avLst>
              <a:gd name="adj" fmla="val 4444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8321040" y="2468880"/>
            <a:ext cx="73152" cy="1234440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8503920" y="26151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503920" y="2926080"/>
            <a:ext cx="2651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instructions must produce useful output for valid input.</a:t>
            </a:r>
            <a:endParaRPr lang="en-US" sz="1230" dirty="0"/>
          </a:p>
        </p:txBody>
      </p:sp>
      <p:sp>
        <p:nvSpPr>
          <p:cNvPr id="22" name="Text 19"/>
          <p:cNvSpPr/>
          <p:nvPr/>
        </p:nvSpPr>
        <p:spPr>
          <a:xfrm>
            <a:off x="1024128" y="4370832"/>
            <a:ext cx="101498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</a:rPr>
              <a:t>In healthcare, an algorithm may be simple, such as a threshold rule, or complex, such as a neural network. The essential idea is still a defined computational procedure.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CHARACTERISTICS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Properties of a well-defined 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68096" y="1417320"/>
            <a:ext cx="182880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822960" y="146761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</a:t>
            </a:r>
            <a:endParaRPr lang="en-US" sz="1170" dirty="0"/>
          </a:p>
        </p:txBody>
      </p:sp>
      <p:sp>
        <p:nvSpPr>
          <p:cNvPr id="11" name="Shape 8"/>
          <p:cNvSpPr/>
          <p:nvPr/>
        </p:nvSpPr>
        <p:spPr>
          <a:xfrm>
            <a:off x="2596896" y="1417320"/>
            <a:ext cx="379476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2651760" y="1467612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170" dirty="0"/>
          </a:p>
        </p:txBody>
      </p:sp>
      <p:sp>
        <p:nvSpPr>
          <p:cNvPr id="13" name="Shape 10"/>
          <p:cNvSpPr/>
          <p:nvPr/>
        </p:nvSpPr>
        <p:spPr>
          <a:xfrm>
            <a:off x="6391656" y="1417320"/>
            <a:ext cx="512064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6446520" y="146761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Biomedical example</a:t>
            </a:r>
            <a:endParaRPr lang="en-US" sz="1170" dirty="0"/>
          </a:p>
        </p:txBody>
      </p:sp>
      <p:sp>
        <p:nvSpPr>
          <p:cNvPr id="15" name="Shape 12"/>
          <p:cNvSpPr/>
          <p:nvPr/>
        </p:nvSpPr>
        <p:spPr>
          <a:xfrm>
            <a:off x="768096" y="1828800"/>
            <a:ext cx="18288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822960" y="187909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70" dirty="0"/>
          </a:p>
        </p:txBody>
      </p:sp>
      <p:sp>
        <p:nvSpPr>
          <p:cNvPr id="17" name="Shape 14"/>
          <p:cNvSpPr/>
          <p:nvPr/>
        </p:nvSpPr>
        <p:spPr>
          <a:xfrm>
            <a:off x="2596896" y="1828800"/>
            <a:ext cx="379476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2651760" y="1879092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provided to the procedure</a:t>
            </a:r>
            <a:endParaRPr lang="en-US" sz="1170" dirty="0"/>
          </a:p>
        </p:txBody>
      </p:sp>
      <p:sp>
        <p:nvSpPr>
          <p:cNvPr id="19" name="Shape 16"/>
          <p:cNvSpPr/>
          <p:nvPr/>
        </p:nvSpPr>
        <p:spPr>
          <a:xfrm>
            <a:off x="6391656" y="1828800"/>
            <a:ext cx="51206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6446520" y="187909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 value, age, heart rate</a:t>
            </a:r>
            <a:endParaRPr lang="en-US" sz="1170" dirty="0"/>
          </a:p>
        </p:txBody>
      </p:sp>
      <p:sp>
        <p:nvSpPr>
          <p:cNvPr id="21" name="Shape 18"/>
          <p:cNvSpPr/>
          <p:nvPr/>
        </p:nvSpPr>
        <p:spPr>
          <a:xfrm>
            <a:off x="768096" y="2240280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822960" y="229057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170" dirty="0"/>
          </a:p>
        </p:txBody>
      </p:sp>
      <p:sp>
        <p:nvSpPr>
          <p:cNvPr id="23" name="Shape 20"/>
          <p:cNvSpPr/>
          <p:nvPr/>
        </p:nvSpPr>
        <p:spPr>
          <a:xfrm>
            <a:off x="2596896" y="2240280"/>
            <a:ext cx="379476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2651760" y="2290572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produced by the procedure</a:t>
            </a:r>
            <a:endParaRPr lang="en-US" sz="1170" dirty="0"/>
          </a:p>
        </p:txBody>
      </p:sp>
      <p:sp>
        <p:nvSpPr>
          <p:cNvPr id="25" name="Shape 22"/>
          <p:cNvSpPr/>
          <p:nvPr/>
        </p:nvSpPr>
        <p:spPr>
          <a:xfrm>
            <a:off x="6391656" y="2240280"/>
            <a:ext cx="51206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/>
          <p:nvPr/>
        </p:nvSpPr>
        <p:spPr>
          <a:xfrm>
            <a:off x="6446520" y="229057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class, alert, prediction</a:t>
            </a:r>
            <a:endParaRPr lang="en-US" sz="1170" dirty="0"/>
          </a:p>
        </p:txBody>
      </p:sp>
      <p:sp>
        <p:nvSpPr>
          <p:cNvPr id="27" name="Shape 24"/>
          <p:cNvSpPr/>
          <p:nvPr/>
        </p:nvSpPr>
        <p:spPr>
          <a:xfrm>
            <a:off x="768096" y="2651760"/>
            <a:ext cx="18288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/>
          <p:nvPr/>
        </p:nvSpPr>
        <p:spPr>
          <a:xfrm>
            <a:off x="822960" y="270205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Definiteness</a:t>
            </a:r>
            <a:endParaRPr lang="en-US" sz="1170" dirty="0"/>
          </a:p>
        </p:txBody>
      </p:sp>
      <p:sp>
        <p:nvSpPr>
          <p:cNvPr id="29" name="Shape 26"/>
          <p:cNvSpPr/>
          <p:nvPr/>
        </p:nvSpPr>
        <p:spPr>
          <a:xfrm>
            <a:off x="2596896" y="2651760"/>
            <a:ext cx="379476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/>
          <p:nvPr/>
        </p:nvSpPr>
        <p:spPr>
          <a:xfrm>
            <a:off x="2651760" y="2702052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step is clear</a:t>
            </a:r>
            <a:endParaRPr lang="en-US" sz="1170" dirty="0"/>
          </a:p>
        </p:txBody>
      </p:sp>
      <p:sp>
        <p:nvSpPr>
          <p:cNvPr id="31" name="Shape 28"/>
          <p:cNvSpPr/>
          <p:nvPr/>
        </p:nvSpPr>
        <p:spPr>
          <a:xfrm>
            <a:off x="6391656" y="2651760"/>
            <a:ext cx="51206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9"/>
          <p:cNvSpPr/>
          <p:nvPr/>
        </p:nvSpPr>
        <p:spPr>
          <a:xfrm>
            <a:off x="6446520" y="270205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exact threshold values</a:t>
            </a:r>
            <a:endParaRPr lang="en-US" sz="1170" dirty="0"/>
          </a:p>
        </p:txBody>
      </p:sp>
      <p:sp>
        <p:nvSpPr>
          <p:cNvPr id="33" name="Shape 30"/>
          <p:cNvSpPr/>
          <p:nvPr/>
        </p:nvSpPr>
        <p:spPr>
          <a:xfrm>
            <a:off x="768096" y="3063240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1"/>
          <p:cNvSpPr/>
          <p:nvPr/>
        </p:nvSpPr>
        <p:spPr>
          <a:xfrm>
            <a:off x="822960" y="311353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Finiteness</a:t>
            </a:r>
            <a:endParaRPr lang="en-US" sz="1170" dirty="0"/>
          </a:p>
        </p:txBody>
      </p:sp>
      <p:sp>
        <p:nvSpPr>
          <p:cNvPr id="35" name="Shape 32"/>
          <p:cNvSpPr/>
          <p:nvPr/>
        </p:nvSpPr>
        <p:spPr>
          <a:xfrm>
            <a:off x="2596896" y="3063240"/>
            <a:ext cx="379476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3"/>
          <p:cNvSpPr/>
          <p:nvPr/>
        </p:nvSpPr>
        <p:spPr>
          <a:xfrm>
            <a:off x="2651760" y="3113532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eventually stops</a:t>
            </a:r>
            <a:endParaRPr lang="en-US" sz="1170" dirty="0"/>
          </a:p>
        </p:txBody>
      </p:sp>
      <p:sp>
        <p:nvSpPr>
          <p:cNvPr id="37" name="Shape 34"/>
          <p:cNvSpPr/>
          <p:nvPr/>
        </p:nvSpPr>
        <p:spPr>
          <a:xfrm>
            <a:off x="6391656" y="3063240"/>
            <a:ext cx="51206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5"/>
          <p:cNvSpPr/>
          <p:nvPr/>
        </p:nvSpPr>
        <p:spPr>
          <a:xfrm>
            <a:off x="6446520" y="311353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one value, then return</a:t>
            </a:r>
            <a:endParaRPr lang="en-US" sz="1170" dirty="0"/>
          </a:p>
        </p:txBody>
      </p:sp>
      <p:sp>
        <p:nvSpPr>
          <p:cNvPr id="39" name="Shape 36"/>
          <p:cNvSpPr/>
          <p:nvPr/>
        </p:nvSpPr>
        <p:spPr>
          <a:xfrm>
            <a:off x="768096" y="3474720"/>
            <a:ext cx="18288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7"/>
          <p:cNvSpPr/>
          <p:nvPr/>
        </p:nvSpPr>
        <p:spPr>
          <a:xfrm>
            <a:off x="822960" y="352501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Effectiveness</a:t>
            </a:r>
            <a:endParaRPr lang="en-US" sz="1170" dirty="0"/>
          </a:p>
        </p:txBody>
      </p:sp>
      <p:sp>
        <p:nvSpPr>
          <p:cNvPr id="41" name="Shape 38"/>
          <p:cNvSpPr/>
          <p:nvPr/>
        </p:nvSpPr>
        <p:spPr>
          <a:xfrm>
            <a:off x="2596896" y="3474720"/>
            <a:ext cx="379476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39"/>
          <p:cNvSpPr/>
          <p:nvPr/>
        </p:nvSpPr>
        <p:spPr>
          <a:xfrm>
            <a:off x="2651760" y="3525012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 are feasible</a:t>
            </a:r>
            <a:endParaRPr lang="en-US" sz="1170" dirty="0"/>
          </a:p>
        </p:txBody>
      </p:sp>
      <p:sp>
        <p:nvSpPr>
          <p:cNvPr id="43" name="Shape 40"/>
          <p:cNvSpPr/>
          <p:nvPr/>
        </p:nvSpPr>
        <p:spPr>
          <a:xfrm>
            <a:off x="6391656" y="3474720"/>
            <a:ext cx="51206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1"/>
          <p:cNvSpPr/>
          <p:nvPr/>
        </p:nvSpPr>
        <p:spPr>
          <a:xfrm>
            <a:off x="6446520" y="352501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numbers, compute averages</a:t>
            </a:r>
            <a:endParaRPr lang="en-US" sz="1170" dirty="0"/>
          </a:p>
        </p:txBody>
      </p:sp>
      <p:sp>
        <p:nvSpPr>
          <p:cNvPr id="45" name="Text 42"/>
          <p:cNvSpPr/>
          <p:nvPr/>
        </p:nvSpPr>
        <p:spPr>
          <a:xfrm>
            <a:off x="822960" y="5020055"/>
            <a:ext cx="10287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5E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properties allow us to test and explain the algorithm before implementing it in software.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BASIC COMPUTATIONAL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Input, processing and output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68680" y="1874520"/>
            <a:ext cx="2971800" cy="1554480"/>
          </a:xfrm>
          <a:prstGeom prst="roundRect">
            <a:avLst>
              <a:gd name="adj" fmla="val 4706"/>
            </a:avLst>
          </a:prstGeom>
          <a:solidFill>
            <a:srgbClr val="F7FAFE"/>
          </a:solidFill>
          <a:ln w="12700">
            <a:solidFill>
              <a:srgbClr val="B7C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51560" y="20574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5C99"/>
                </a:solidFill>
              </a:rPr>
              <a:t>Input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97280" y="25786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Data entering the system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Example: glucose = 180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59352" y="2651760"/>
            <a:ext cx="502920" cy="0"/>
          </a:xfrm>
          <a:prstGeom prst="line">
            <a:avLst/>
          </a:prstGeom>
          <a:noFill/>
          <a:ln w="25400">
            <a:solidFill>
              <a:srgbClr val="9BBBD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663440" y="1874520"/>
            <a:ext cx="2971800" cy="1554480"/>
          </a:xfrm>
          <a:prstGeom prst="roundRect">
            <a:avLst>
              <a:gd name="adj" fmla="val 4706"/>
            </a:avLst>
          </a:prstGeom>
          <a:solidFill>
            <a:srgbClr val="F0FDFB"/>
          </a:solidFill>
          <a:ln w="12700">
            <a:solidFill>
              <a:srgbClr val="8BDD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846320" y="20574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A6A6"/>
                </a:solidFill>
              </a:rPr>
              <a:t>Processing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892040" y="25786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Algorithmic steps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Example: compare with thresholds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754112" y="2651760"/>
            <a:ext cx="502920" cy="0"/>
          </a:xfrm>
          <a:prstGeom prst="line">
            <a:avLst/>
          </a:prstGeom>
          <a:noFill/>
          <a:ln w="25400">
            <a:solidFill>
              <a:srgbClr val="9BBBD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8458200" y="1874520"/>
            <a:ext cx="2971800" cy="1554480"/>
          </a:xfrm>
          <a:prstGeom prst="roundRect">
            <a:avLst>
              <a:gd name="adj" fmla="val 4706"/>
            </a:avLst>
          </a:prstGeom>
          <a:solidFill>
            <a:srgbClr val="F7FAFE"/>
          </a:solidFill>
          <a:ln w="12700">
            <a:solidFill>
              <a:srgbClr val="B7C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8641080" y="20574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5C99"/>
                </a:solidFill>
              </a:rPr>
              <a:t>Output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686800" y="25786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Result returned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Example: “High glucose”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828800" y="41605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55F"/>
                </a:solidFill>
              </a:rPr>
              <a:t>Every algorithm in this course can be described using this model.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205740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complex systems, each output may become the input of another algorithm.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RAW DATA TO DECISIONS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Biomedical examples of inputs and outputs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77240" y="1353312"/>
            <a:ext cx="256032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832104" y="1403604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3337560" y="1353312"/>
            <a:ext cx="374904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3392424" y="140360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80" dirty="0"/>
          </a:p>
        </p:txBody>
      </p:sp>
      <p:sp>
        <p:nvSpPr>
          <p:cNvPr id="13" name="Shape 10"/>
          <p:cNvSpPr/>
          <p:nvPr/>
        </p:nvSpPr>
        <p:spPr>
          <a:xfrm>
            <a:off x="7086600" y="1353312"/>
            <a:ext cx="443484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7141464" y="1403604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output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777240" y="1764792"/>
            <a:ext cx="256032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832104" y="1815084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lookup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3337560" y="1764792"/>
            <a:ext cx="37490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3392424" y="181508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ID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7086600" y="1764792"/>
            <a:ext cx="44348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7141464" y="1815084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Electronic record</a:t>
            </a:r>
            <a:endParaRPr lang="en-US" sz="1180" dirty="0"/>
          </a:p>
        </p:txBody>
      </p:sp>
      <p:sp>
        <p:nvSpPr>
          <p:cNvPr id="21" name="Shape 18"/>
          <p:cNvSpPr/>
          <p:nvPr/>
        </p:nvSpPr>
        <p:spPr>
          <a:xfrm>
            <a:off x="777240" y="2176272"/>
            <a:ext cx="25603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832104" y="2226564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 classification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3337560" y="2176272"/>
            <a:ext cx="37490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3392424" y="222656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 value</a:t>
            </a:r>
            <a:endParaRPr lang="en-US" sz="1180" dirty="0"/>
          </a:p>
        </p:txBody>
      </p:sp>
      <p:sp>
        <p:nvSpPr>
          <p:cNvPr id="25" name="Shape 22"/>
          <p:cNvSpPr/>
          <p:nvPr/>
        </p:nvSpPr>
        <p:spPr>
          <a:xfrm>
            <a:off x="7086600" y="2176272"/>
            <a:ext cx="44348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/>
          <p:nvPr/>
        </p:nvSpPr>
        <p:spPr>
          <a:xfrm>
            <a:off x="7141464" y="2226564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/ normal / high</a:t>
            </a:r>
            <a:endParaRPr lang="en-US" sz="1180" dirty="0"/>
          </a:p>
        </p:txBody>
      </p:sp>
      <p:sp>
        <p:nvSpPr>
          <p:cNvPr id="27" name="Shape 24"/>
          <p:cNvSpPr/>
          <p:nvPr/>
        </p:nvSpPr>
        <p:spPr>
          <a:xfrm>
            <a:off x="777240" y="2587752"/>
            <a:ext cx="256032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/>
          <p:nvPr/>
        </p:nvSpPr>
        <p:spPr>
          <a:xfrm>
            <a:off x="832104" y="2638044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ECG analysis</a:t>
            </a:r>
            <a:endParaRPr lang="en-US" sz="1180" dirty="0"/>
          </a:p>
        </p:txBody>
      </p:sp>
      <p:sp>
        <p:nvSpPr>
          <p:cNvPr id="29" name="Shape 26"/>
          <p:cNvSpPr/>
          <p:nvPr/>
        </p:nvSpPr>
        <p:spPr>
          <a:xfrm>
            <a:off x="3337560" y="2587752"/>
            <a:ext cx="37490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/>
          <p:nvPr/>
        </p:nvSpPr>
        <p:spPr>
          <a:xfrm>
            <a:off x="3392424" y="263804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ECG signal samples</a:t>
            </a:r>
            <a:endParaRPr lang="en-US" sz="1180" dirty="0"/>
          </a:p>
        </p:txBody>
      </p:sp>
      <p:sp>
        <p:nvSpPr>
          <p:cNvPr id="31" name="Shape 28"/>
          <p:cNvSpPr/>
          <p:nvPr/>
        </p:nvSpPr>
        <p:spPr>
          <a:xfrm>
            <a:off x="7086600" y="2587752"/>
            <a:ext cx="44348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9"/>
          <p:cNvSpPr/>
          <p:nvPr/>
        </p:nvSpPr>
        <p:spPr>
          <a:xfrm>
            <a:off x="7141464" y="2638044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arrhythmia flag</a:t>
            </a:r>
            <a:endParaRPr lang="en-US" sz="1180" dirty="0"/>
          </a:p>
        </p:txBody>
      </p:sp>
      <p:sp>
        <p:nvSpPr>
          <p:cNvPr id="33" name="Shape 30"/>
          <p:cNvSpPr/>
          <p:nvPr/>
        </p:nvSpPr>
        <p:spPr>
          <a:xfrm>
            <a:off x="777240" y="2999232"/>
            <a:ext cx="25603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1"/>
          <p:cNvSpPr/>
          <p:nvPr/>
        </p:nvSpPr>
        <p:spPr>
          <a:xfrm>
            <a:off x="832104" y="3049524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imaging</a:t>
            </a:r>
            <a:endParaRPr lang="en-US" sz="1180" dirty="0"/>
          </a:p>
        </p:txBody>
      </p:sp>
      <p:sp>
        <p:nvSpPr>
          <p:cNvPr id="35" name="Shape 32"/>
          <p:cNvSpPr/>
          <p:nvPr/>
        </p:nvSpPr>
        <p:spPr>
          <a:xfrm>
            <a:off x="3337560" y="2999232"/>
            <a:ext cx="37490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3"/>
          <p:cNvSpPr/>
          <p:nvPr/>
        </p:nvSpPr>
        <p:spPr>
          <a:xfrm>
            <a:off x="3392424" y="304952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matrix or volume</a:t>
            </a:r>
            <a:endParaRPr lang="en-US" sz="1180" dirty="0"/>
          </a:p>
        </p:txBody>
      </p:sp>
      <p:sp>
        <p:nvSpPr>
          <p:cNvPr id="37" name="Shape 34"/>
          <p:cNvSpPr/>
          <p:nvPr/>
        </p:nvSpPr>
        <p:spPr>
          <a:xfrm>
            <a:off x="7086600" y="2999232"/>
            <a:ext cx="44348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5"/>
          <p:cNvSpPr/>
          <p:nvPr/>
        </p:nvSpPr>
        <p:spPr>
          <a:xfrm>
            <a:off x="7141464" y="3049524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Suspicious region or class</a:t>
            </a:r>
            <a:endParaRPr lang="en-US" sz="1180" dirty="0"/>
          </a:p>
        </p:txBody>
      </p:sp>
      <p:sp>
        <p:nvSpPr>
          <p:cNvPr id="39" name="Shape 36"/>
          <p:cNvSpPr/>
          <p:nvPr/>
        </p:nvSpPr>
        <p:spPr>
          <a:xfrm>
            <a:off x="777240" y="3410712"/>
            <a:ext cx="256032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7"/>
          <p:cNvSpPr/>
          <p:nvPr/>
        </p:nvSpPr>
        <p:spPr>
          <a:xfrm>
            <a:off x="832104" y="3461004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triage</a:t>
            </a:r>
            <a:endParaRPr lang="en-US" sz="1180" dirty="0"/>
          </a:p>
        </p:txBody>
      </p:sp>
      <p:sp>
        <p:nvSpPr>
          <p:cNvPr id="41" name="Shape 38"/>
          <p:cNvSpPr/>
          <p:nvPr/>
        </p:nvSpPr>
        <p:spPr>
          <a:xfrm>
            <a:off x="3337560" y="3410712"/>
            <a:ext cx="37490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39"/>
          <p:cNvSpPr/>
          <p:nvPr/>
        </p:nvSpPr>
        <p:spPr>
          <a:xfrm>
            <a:off x="3392424" y="346100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Symptoms and vital signs</a:t>
            </a:r>
            <a:endParaRPr lang="en-US" sz="1180" dirty="0"/>
          </a:p>
        </p:txBody>
      </p:sp>
      <p:sp>
        <p:nvSpPr>
          <p:cNvPr id="43" name="Shape 40"/>
          <p:cNvSpPr/>
          <p:nvPr/>
        </p:nvSpPr>
        <p:spPr>
          <a:xfrm>
            <a:off x="7086600" y="3410712"/>
            <a:ext cx="44348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1"/>
          <p:cNvSpPr/>
          <p:nvPr/>
        </p:nvSpPr>
        <p:spPr>
          <a:xfrm>
            <a:off x="7141464" y="3461004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level</a:t>
            </a:r>
            <a:endParaRPr lang="en-US" sz="1180" dirty="0"/>
          </a:p>
        </p:txBody>
      </p:sp>
      <p:sp>
        <p:nvSpPr>
          <p:cNvPr id="45" name="Text 42"/>
          <p:cNvSpPr/>
          <p:nvPr/>
        </p:nvSpPr>
        <p:spPr>
          <a:xfrm>
            <a:off x="982980" y="4754881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the algorithm is not only the final prediction. Searching, sorting, validating and organizing data are also algorithmic tasks.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DISTINCTION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Algorithm, program and software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22960" y="1508760"/>
            <a:ext cx="3154680" cy="1874520"/>
          </a:xfrm>
          <a:prstGeom prst="roundRect">
            <a:avLst>
              <a:gd name="adj" fmla="val 2927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822960" y="1508760"/>
            <a:ext cx="73152" cy="1874520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1005840" y="16550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1965960"/>
            <a:ext cx="28346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 procedure.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compare glucose with thresholds and return a category.</a:t>
            </a:r>
            <a:endParaRPr lang="en-US" sz="1230" dirty="0"/>
          </a:p>
        </p:txBody>
      </p:sp>
      <p:sp>
        <p:nvSpPr>
          <p:cNvPr id="13" name="Shape 10"/>
          <p:cNvSpPr/>
          <p:nvPr/>
        </p:nvSpPr>
        <p:spPr>
          <a:xfrm>
            <a:off x="4526280" y="1508760"/>
            <a:ext cx="3154680" cy="1874520"/>
          </a:xfrm>
          <a:prstGeom prst="roundRect">
            <a:avLst>
              <a:gd name="adj" fmla="val 2927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4526280" y="1508760"/>
            <a:ext cx="73152" cy="1874520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4709160" y="16550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709160" y="1965960"/>
            <a:ext cx="28346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Concrete implementation in a programming language.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Python code that performs the comparison.</a:t>
            </a:r>
            <a:endParaRPr lang="en-US" sz="1230" dirty="0"/>
          </a:p>
        </p:txBody>
      </p:sp>
      <p:sp>
        <p:nvSpPr>
          <p:cNvPr id="17" name="Shape 14"/>
          <p:cNvSpPr/>
          <p:nvPr/>
        </p:nvSpPr>
        <p:spPr>
          <a:xfrm>
            <a:off x="8229600" y="1508760"/>
            <a:ext cx="3154680" cy="1874520"/>
          </a:xfrm>
          <a:prstGeom prst="roundRect">
            <a:avLst>
              <a:gd name="adj" fmla="val 2927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8229600" y="1508760"/>
            <a:ext cx="73152" cy="1874520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8412480" y="16550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system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12480" y="1965960"/>
            <a:ext cx="28346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application with interface, database, logging, security and users.</a:t>
            </a:r>
            <a:endParaRPr lang="en-US" sz="1230" dirty="0"/>
          </a:p>
        </p:txBody>
      </p:sp>
      <p:sp>
        <p:nvSpPr>
          <p:cNvPr id="21" name="Text 18"/>
          <p:cNvSpPr/>
          <p:nvPr/>
        </p:nvSpPr>
        <p:spPr>
          <a:xfrm>
            <a:off x="914400" y="411480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355F"/>
                </a:solidFill>
              </a:rPr>
              <a:t>Same algorithm, many possible implementations.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889760" y="4910328"/>
            <a:ext cx="8412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E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distinction helps us reason about correctness before worrying about programming details.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PROCEDURE + REPRESENTATION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Algorithms need data structures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61996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14400" y="1325880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55F"/>
                </a:solidFill>
              </a:rPr>
              <a:t>An algorithm describes the steps. A data structure describes how information is organized in memory or in a system.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05840" y="2423160"/>
            <a:ext cx="2907792" cy="1234440"/>
          </a:xfrm>
          <a:prstGeom prst="roundRect">
            <a:avLst>
              <a:gd name="adj" fmla="val 4444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1005840" y="2423160"/>
            <a:ext cx="73152" cy="1234440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188720" y="2569464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8720" y="2880360"/>
            <a:ext cx="25877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“Find the patient with this ID”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4709160" y="2423160"/>
            <a:ext cx="2907792" cy="1234440"/>
          </a:xfrm>
          <a:prstGeom prst="roundRect">
            <a:avLst>
              <a:gd name="adj" fmla="val 4444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4709160" y="2423160"/>
            <a:ext cx="73152" cy="1234440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4892040" y="2569464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structure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92040" y="2880360"/>
            <a:ext cx="25877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Dictionary: patient_id → record</a:t>
            </a:r>
            <a:endParaRPr lang="en-US" sz="1230" dirty="0"/>
          </a:p>
        </p:txBody>
      </p:sp>
      <p:sp>
        <p:nvSpPr>
          <p:cNvPr id="18" name="Shape 15"/>
          <p:cNvSpPr/>
          <p:nvPr/>
        </p:nvSpPr>
        <p:spPr>
          <a:xfrm>
            <a:off x="8412480" y="2423160"/>
            <a:ext cx="2907792" cy="1234440"/>
          </a:xfrm>
          <a:prstGeom prst="roundRect">
            <a:avLst>
              <a:gd name="adj" fmla="val 4444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8412480" y="2423160"/>
            <a:ext cx="73152" cy="1234440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8595360" y="2569464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result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595360" y="2880360"/>
            <a:ext cx="25877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and reliable retrieval</a:t>
            </a:r>
            <a:endParaRPr lang="en-US" sz="1230" dirty="0"/>
          </a:p>
        </p:txBody>
      </p:sp>
      <p:sp>
        <p:nvSpPr>
          <p:cNvPr id="22" name="Shape 19"/>
          <p:cNvSpPr/>
          <p:nvPr/>
        </p:nvSpPr>
        <p:spPr>
          <a:xfrm>
            <a:off x="4041648" y="3054096"/>
            <a:ext cx="457200" cy="0"/>
          </a:xfrm>
          <a:prstGeom prst="line">
            <a:avLst/>
          </a:prstGeom>
          <a:noFill/>
          <a:ln w="19050">
            <a:solidFill>
              <a:srgbClr val="9BBBD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0"/>
          <p:cNvSpPr/>
          <p:nvPr/>
        </p:nvSpPr>
        <p:spPr>
          <a:xfrm>
            <a:off x="7744968" y="3054096"/>
            <a:ext cx="457200" cy="0"/>
          </a:xfrm>
          <a:prstGeom prst="line">
            <a:avLst/>
          </a:prstGeom>
          <a:noFill/>
          <a:ln w="19050">
            <a:solidFill>
              <a:srgbClr val="9BBBD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1325880" y="4617720"/>
            <a:ext cx="9555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medical informatics, the same clinical data may be represented as a list, a table, a time series, a graph or a nested record.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Examples of data structures in healthcare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" y="1417320"/>
            <a:ext cx="5623560" cy="3886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Array/list: sequence of glucose measurements or ECG samples.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Table: patients as rows and clinical variables as columns.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Dictionary/object: patient identifier mapped to a record.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Tree: hierarchical decisions, ontologies or diagnostic pathways.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Graph: relationships among patients, diseases, genes or hospitals.</a:t>
            </a:r>
            <a:endParaRPr lang="en-US" sz="2400" dirty="0"/>
          </a:p>
        </p:txBody>
      </p:sp>
      <p:pic>
        <p:nvPicPr>
          <p:cNvPr id="10" name="Image 1" descr="/mnt/data/wide_clean_vector_flat_gradient_illustration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773490"/>
            <a:ext cx="4892040" cy="27532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SHAPE MATTERS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Biomedical data: common representations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31520" y="1261872"/>
            <a:ext cx="274320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786384" y="131216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Biomedical data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3474720" y="1261872"/>
            <a:ext cx="315468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3529584" y="1312164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structure</a:t>
            </a:r>
            <a:endParaRPr lang="en-US" sz="1090" dirty="0"/>
          </a:p>
        </p:txBody>
      </p:sp>
      <p:sp>
        <p:nvSpPr>
          <p:cNvPr id="13" name="Shape 10"/>
          <p:cNvSpPr/>
          <p:nvPr/>
        </p:nvSpPr>
        <p:spPr>
          <a:xfrm>
            <a:off x="6629400" y="1261872"/>
            <a:ext cx="493776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6684264" y="1312164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algorithm</a:t>
            </a:r>
            <a:endParaRPr lang="en-US" sz="1090" dirty="0"/>
          </a:p>
        </p:txBody>
      </p:sp>
      <p:sp>
        <p:nvSpPr>
          <p:cNvPr id="37" name="Shape 34"/>
          <p:cNvSpPr/>
          <p:nvPr/>
        </p:nvSpPr>
        <p:spPr>
          <a:xfrm>
            <a:off x="6629400" y="2907792"/>
            <a:ext cx="493776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5"/>
          <p:cNvSpPr/>
          <p:nvPr/>
        </p:nvSpPr>
        <p:spPr>
          <a:xfrm>
            <a:off x="6684264" y="2958084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Windowing, peak detection</a:t>
            </a:r>
            <a:endParaRPr lang="en-US" sz="1090" dirty="0"/>
          </a:p>
        </p:txBody>
      </p:sp>
      <p:sp>
        <p:nvSpPr>
          <p:cNvPr id="44" name="Text 41"/>
          <p:cNvSpPr/>
          <p:nvPr/>
        </p:nvSpPr>
        <p:spPr>
          <a:xfrm>
            <a:off x="6684264" y="3369564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Segmentation or classification</a:t>
            </a:r>
            <a:endParaRPr lang="en-US" sz="1090" dirty="0"/>
          </a:p>
        </p:txBody>
      </p:sp>
      <p:sp>
        <p:nvSpPr>
          <p:cNvPr id="15" name="Shape 12"/>
          <p:cNvSpPr/>
          <p:nvPr/>
        </p:nvSpPr>
        <p:spPr>
          <a:xfrm>
            <a:off x="731520" y="1673352"/>
            <a:ext cx="27432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786384" y="172364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measurement</a:t>
            </a:r>
            <a:endParaRPr lang="en-US" sz="1090" dirty="0"/>
          </a:p>
        </p:txBody>
      </p:sp>
      <p:sp>
        <p:nvSpPr>
          <p:cNvPr id="17" name="Shape 14"/>
          <p:cNvSpPr/>
          <p:nvPr/>
        </p:nvSpPr>
        <p:spPr>
          <a:xfrm>
            <a:off x="3474720" y="1673352"/>
            <a:ext cx="315468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3529584" y="1723644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Scalar</a:t>
            </a:r>
            <a:endParaRPr lang="en-US" sz="1090" dirty="0"/>
          </a:p>
        </p:txBody>
      </p:sp>
      <p:sp>
        <p:nvSpPr>
          <p:cNvPr id="19" name="Shape 16"/>
          <p:cNvSpPr/>
          <p:nvPr/>
        </p:nvSpPr>
        <p:spPr>
          <a:xfrm>
            <a:off x="6629400" y="1673352"/>
            <a:ext cx="493776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6684264" y="1723644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classification</a:t>
            </a:r>
            <a:endParaRPr lang="en-US" sz="1090" dirty="0"/>
          </a:p>
        </p:txBody>
      </p:sp>
      <p:sp>
        <p:nvSpPr>
          <p:cNvPr id="21" name="Shape 18"/>
          <p:cNvSpPr/>
          <p:nvPr/>
        </p:nvSpPr>
        <p:spPr>
          <a:xfrm>
            <a:off x="731520" y="2084832"/>
            <a:ext cx="27432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786384" y="213512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measures</a:t>
            </a:r>
            <a:endParaRPr lang="en-US" sz="1090" dirty="0"/>
          </a:p>
        </p:txBody>
      </p:sp>
      <p:sp>
        <p:nvSpPr>
          <p:cNvPr id="23" name="Shape 20"/>
          <p:cNvSpPr/>
          <p:nvPr/>
        </p:nvSpPr>
        <p:spPr>
          <a:xfrm>
            <a:off x="3474720" y="2084832"/>
            <a:ext cx="31546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3529584" y="2135124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/ array</a:t>
            </a:r>
            <a:endParaRPr lang="en-US" sz="1090" dirty="0"/>
          </a:p>
        </p:txBody>
      </p:sp>
      <p:sp>
        <p:nvSpPr>
          <p:cNvPr id="25" name="Shape 22"/>
          <p:cNvSpPr/>
          <p:nvPr/>
        </p:nvSpPr>
        <p:spPr>
          <a:xfrm>
            <a:off x="6629400" y="2084832"/>
            <a:ext cx="493776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/>
          <p:nvPr/>
        </p:nvSpPr>
        <p:spPr>
          <a:xfrm>
            <a:off x="6684264" y="2135124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Average, maximum, trend detection</a:t>
            </a:r>
            <a:endParaRPr lang="en-US" sz="1090" dirty="0"/>
          </a:p>
        </p:txBody>
      </p:sp>
      <p:sp>
        <p:nvSpPr>
          <p:cNvPr id="27" name="Shape 24"/>
          <p:cNvSpPr/>
          <p:nvPr/>
        </p:nvSpPr>
        <p:spPr>
          <a:xfrm>
            <a:off x="731520" y="2496312"/>
            <a:ext cx="27432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/>
          <p:nvPr/>
        </p:nvSpPr>
        <p:spPr>
          <a:xfrm>
            <a:off x="786384" y="254660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cohort</a:t>
            </a:r>
            <a:endParaRPr lang="en-US" sz="1090" dirty="0"/>
          </a:p>
        </p:txBody>
      </p:sp>
      <p:sp>
        <p:nvSpPr>
          <p:cNvPr id="29" name="Shape 26"/>
          <p:cNvSpPr/>
          <p:nvPr/>
        </p:nvSpPr>
        <p:spPr>
          <a:xfrm>
            <a:off x="3474720" y="2496312"/>
            <a:ext cx="315468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/>
          <p:nvPr/>
        </p:nvSpPr>
        <p:spPr>
          <a:xfrm>
            <a:off x="3529584" y="2546604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/ matrix</a:t>
            </a:r>
            <a:endParaRPr lang="en-US" sz="1090" dirty="0"/>
          </a:p>
        </p:txBody>
      </p:sp>
      <p:sp>
        <p:nvSpPr>
          <p:cNvPr id="31" name="Shape 28"/>
          <p:cNvSpPr/>
          <p:nvPr/>
        </p:nvSpPr>
        <p:spPr>
          <a:xfrm>
            <a:off x="6629400" y="2496312"/>
            <a:ext cx="493776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9"/>
          <p:cNvSpPr/>
          <p:nvPr/>
        </p:nvSpPr>
        <p:spPr>
          <a:xfrm>
            <a:off x="6684264" y="2546604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Filtering, sorting, model training</a:t>
            </a:r>
            <a:endParaRPr lang="en-US" sz="1090" dirty="0"/>
          </a:p>
        </p:txBody>
      </p:sp>
      <p:sp>
        <p:nvSpPr>
          <p:cNvPr id="33" name="Shape 30"/>
          <p:cNvSpPr/>
          <p:nvPr/>
        </p:nvSpPr>
        <p:spPr>
          <a:xfrm>
            <a:off x="731520" y="2907792"/>
            <a:ext cx="27432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1"/>
          <p:cNvSpPr/>
          <p:nvPr/>
        </p:nvSpPr>
        <p:spPr>
          <a:xfrm>
            <a:off x="786384" y="295808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</a:t>
            </a:r>
            <a:endParaRPr lang="en-US" sz="1090" dirty="0"/>
          </a:p>
        </p:txBody>
      </p:sp>
      <p:sp>
        <p:nvSpPr>
          <p:cNvPr id="35" name="Shape 32"/>
          <p:cNvSpPr/>
          <p:nvPr/>
        </p:nvSpPr>
        <p:spPr>
          <a:xfrm>
            <a:off x="3474720" y="2907792"/>
            <a:ext cx="31546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3"/>
          <p:cNvSpPr/>
          <p:nvPr/>
        </p:nvSpPr>
        <p:spPr>
          <a:xfrm>
            <a:off x="3529584" y="2958084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series</a:t>
            </a:r>
            <a:endParaRPr lang="en-US" sz="1090" dirty="0"/>
          </a:p>
        </p:txBody>
      </p:sp>
      <p:sp>
        <p:nvSpPr>
          <p:cNvPr id="39" name="Shape 36"/>
          <p:cNvSpPr/>
          <p:nvPr/>
        </p:nvSpPr>
        <p:spPr>
          <a:xfrm>
            <a:off x="731520" y="3319272"/>
            <a:ext cx="27432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7"/>
          <p:cNvSpPr/>
          <p:nvPr/>
        </p:nvSpPr>
        <p:spPr>
          <a:xfrm>
            <a:off x="786384" y="336956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1090" dirty="0"/>
          </a:p>
        </p:txBody>
      </p:sp>
      <p:sp>
        <p:nvSpPr>
          <p:cNvPr id="41" name="Shape 38"/>
          <p:cNvSpPr/>
          <p:nvPr/>
        </p:nvSpPr>
        <p:spPr>
          <a:xfrm>
            <a:off x="3474720" y="3319272"/>
            <a:ext cx="315468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39"/>
          <p:cNvSpPr/>
          <p:nvPr/>
        </p:nvSpPr>
        <p:spPr>
          <a:xfrm>
            <a:off x="3529584" y="3369564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Matrix / tensor</a:t>
            </a:r>
            <a:endParaRPr lang="en-US" sz="1090" dirty="0"/>
          </a:p>
        </p:txBody>
      </p:sp>
      <p:sp>
        <p:nvSpPr>
          <p:cNvPr id="43" name="Shape 40"/>
          <p:cNvSpPr/>
          <p:nvPr/>
        </p:nvSpPr>
        <p:spPr>
          <a:xfrm>
            <a:off x="6629400" y="3319272"/>
            <a:ext cx="493776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r>
              <a:rPr lang="it-IT" sz="1090" dirty="0" err="1"/>
              <a:t>Detecting</a:t>
            </a:r>
            <a:r>
              <a:rPr lang="it-IT" sz="1090" dirty="0"/>
              <a:t> </a:t>
            </a:r>
            <a:r>
              <a:rPr lang="it-IT" sz="1090" dirty="0" err="1"/>
              <a:t>cancer</a:t>
            </a:r>
            <a:r>
              <a:rPr lang="it-IT" sz="1090" dirty="0"/>
              <a:t> </a:t>
            </a:r>
          </a:p>
        </p:txBody>
      </p:sp>
      <p:sp>
        <p:nvSpPr>
          <p:cNvPr id="45" name="Shape 42"/>
          <p:cNvSpPr/>
          <p:nvPr/>
        </p:nvSpPr>
        <p:spPr>
          <a:xfrm>
            <a:off x="731520" y="3730752"/>
            <a:ext cx="27432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3"/>
          <p:cNvSpPr/>
          <p:nvPr/>
        </p:nvSpPr>
        <p:spPr>
          <a:xfrm>
            <a:off x="786384" y="378104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</a:t>
            </a:r>
            <a:endParaRPr lang="en-US" sz="1090" dirty="0"/>
          </a:p>
        </p:txBody>
      </p:sp>
      <p:sp>
        <p:nvSpPr>
          <p:cNvPr id="47" name="Shape 44"/>
          <p:cNvSpPr/>
          <p:nvPr/>
        </p:nvSpPr>
        <p:spPr>
          <a:xfrm>
            <a:off x="3474720" y="3730752"/>
            <a:ext cx="31546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5"/>
          <p:cNvSpPr/>
          <p:nvPr/>
        </p:nvSpPr>
        <p:spPr>
          <a:xfrm>
            <a:off x="3529584" y="3781044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</a:t>
            </a:r>
            <a:endParaRPr lang="en-US" sz="1090" dirty="0"/>
          </a:p>
        </p:txBody>
      </p:sp>
      <p:sp>
        <p:nvSpPr>
          <p:cNvPr id="49" name="Shape 46"/>
          <p:cNvSpPr/>
          <p:nvPr/>
        </p:nvSpPr>
        <p:spPr>
          <a:xfrm>
            <a:off x="6629400" y="3730752"/>
            <a:ext cx="493776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7"/>
          <p:cNvSpPr/>
          <p:nvPr/>
        </p:nvSpPr>
        <p:spPr>
          <a:xfrm>
            <a:off x="6684264" y="3781044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Shortest path, connectivity</a:t>
            </a:r>
            <a:endParaRPr lang="en-US" sz="10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REPRESENTATION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patient record as a nested data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22960" y="1389888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51560" y="1645920"/>
            <a:ext cx="4864608" cy="35844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patient =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"id": "P001",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"age": 67,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"measurements":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"glucose": [92, 135, 181, 68],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"heart_rate": [70, 72, 79, 76]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"diagnoses": ["diabetes", "hypertension"]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629400" y="1508760"/>
            <a:ext cx="4343400" cy="1024128"/>
          </a:xfrm>
          <a:prstGeom prst="roundRect">
            <a:avLst>
              <a:gd name="adj" fmla="val 5357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6629400" y="1508760"/>
            <a:ext cx="73152" cy="1024128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6812280" y="16550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nested?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12280" y="1965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data are often naturally grouped: demographics, measurements, diagnoses, medications and metadata.</a:t>
            </a:r>
            <a:endParaRPr lang="en-US" sz="1230" dirty="0"/>
          </a:p>
        </p:txBody>
      </p:sp>
      <p:sp>
        <p:nvSpPr>
          <p:cNvPr id="15" name="Shape 12"/>
          <p:cNvSpPr/>
          <p:nvPr/>
        </p:nvSpPr>
        <p:spPr>
          <a:xfrm>
            <a:off x="6629400" y="2834640"/>
            <a:ext cx="4343400" cy="1024128"/>
          </a:xfrm>
          <a:prstGeom prst="roundRect">
            <a:avLst>
              <a:gd name="adj" fmla="val 5357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6629400" y="2834640"/>
            <a:ext cx="73152" cy="1024128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6812280" y="298094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structured?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12280" y="3291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need predictable fields. Otherwise even simple retrieval becomes unreliable.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6629400" y="4160520"/>
            <a:ext cx="4343400" cy="1024128"/>
          </a:xfrm>
          <a:prstGeom prst="roundRect">
            <a:avLst>
              <a:gd name="adj" fmla="val 5357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7"/>
          <p:cNvSpPr/>
          <p:nvPr/>
        </p:nvSpPr>
        <p:spPr>
          <a:xfrm>
            <a:off x="6629400" y="4160520"/>
            <a:ext cx="73152" cy="1024128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6812280" y="43068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important?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12280" y="4617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data structure may later support rule-based algorithms, statistics and machine learning.</a:t>
            </a:r>
            <a:endParaRPr lang="en-US" sz="12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BEFORE CODING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Classroom exercise: identify the algorithmic components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8680" y="1280160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task, identify: input, processing rule, output and possible data structure.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1901952"/>
            <a:ext cx="329184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969264" y="1952244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4206240" y="1901952"/>
            <a:ext cx="228600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4261104" y="1952244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Input?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6492240" y="1901952"/>
            <a:ext cx="265176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6547104" y="195224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Processing?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9144000" y="1901952"/>
            <a:ext cx="210312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9198864" y="195224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Output?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914400" y="2313432"/>
            <a:ext cx="32918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969264" y="2363724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glucose below 70 mg/dL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4206240" y="2313432"/>
            <a:ext cx="22860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4261104" y="2363724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6492240" y="2313432"/>
            <a:ext cx="265176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6547104" y="236372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9144000" y="2313432"/>
            <a:ext cx="210312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9198864" y="236372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914400" y="2724912"/>
            <a:ext cx="32918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969264" y="2775204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 patients by waiting time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4206240" y="2724912"/>
            <a:ext cx="2286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4261104" y="2775204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6492240" y="2724912"/>
            <a:ext cx="265176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8"/>
          <p:cNvSpPr/>
          <p:nvPr/>
        </p:nvSpPr>
        <p:spPr>
          <a:xfrm>
            <a:off x="6547104" y="277520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9144000" y="2724912"/>
            <a:ext cx="21031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9198864" y="277520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34" name="Shape 31"/>
          <p:cNvSpPr/>
          <p:nvPr/>
        </p:nvSpPr>
        <p:spPr>
          <a:xfrm>
            <a:off x="914400" y="3136392"/>
            <a:ext cx="32918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2"/>
          <p:cNvSpPr/>
          <p:nvPr/>
        </p:nvSpPr>
        <p:spPr>
          <a:xfrm>
            <a:off x="969264" y="3186684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 patient by hospital ID</a:t>
            </a:r>
            <a:endParaRPr lang="en-US" sz="1120" dirty="0"/>
          </a:p>
        </p:txBody>
      </p:sp>
      <p:sp>
        <p:nvSpPr>
          <p:cNvPr id="36" name="Shape 33"/>
          <p:cNvSpPr/>
          <p:nvPr/>
        </p:nvSpPr>
        <p:spPr>
          <a:xfrm>
            <a:off x="4206240" y="3136392"/>
            <a:ext cx="22860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4"/>
          <p:cNvSpPr/>
          <p:nvPr/>
        </p:nvSpPr>
        <p:spPr>
          <a:xfrm>
            <a:off x="4261104" y="3186684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38" name="Shape 35"/>
          <p:cNvSpPr/>
          <p:nvPr/>
        </p:nvSpPr>
        <p:spPr>
          <a:xfrm>
            <a:off x="6492240" y="3136392"/>
            <a:ext cx="265176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6"/>
          <p:cNvSpPr/>
          <p:nvPr/>
        </p:nvSpPr>
        <p:spPr>
          <a:xfrm>
            <a:off x="6547104" y="318668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40" name="Shape 37"/>
          <p:cNvSpPr/>
          <p:nvPr/>
        </p:nvSpPr>
        <p:spPr>
          <a:xfrm>
            <a:off x="9144000" y="3136392"/>
            <a:ext cx="210312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8"/>
          <p:cNvSpPr/>
          <p:nvPr/>
        </p:nvSpPr>
        <p:spPr>
          <a:xfrm>
            <a:off x="9198864" y="318668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42" name="Shape 39"/>
          <p:cNvSpPr/>
          <p:nvPr/>
        </p:nvSpPr>
        <p:spPr>
          <a:xfrm>
            <a:off x="914400" y="3547872"/>
            <a:ext cx="32918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0"/>
          <p:cNvSpPr/>
          <p:nvPr/>
        </p:nvSpPr>
        <p:spPr>
          <a:xfrm>
            <a:off x="969264" y="3598164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mean heart rate from a wearable</a:t>
            </a:r>
            <a:endParaRPr lang="en-US" sz="1120" dirty="0"/>
          </a:p>
        </p:txBody>
      </p:sp>
      <p:sp>
        <p:nvSpPr>
          <p:cNvPr id="44" name="Shape 41"/>
          <p:cNvSpPr/>
          <p:nvPr/>
        </p:nvSpPr>
        <p:spPr>
          <a:xfrm>
            <a:off x="4206240" y="3547872"/>
            <a:ext cx="2286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2"/>
          <p:cNvSpPr/>
          <p:nvPr/>
        </p:nvSpPr>
        <p:spPr>
          <a:xfrm>
            <a:off x="4261104" y="3598164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46" name="Shape 43"/>
          <p:cNvSpPr/>
          <p:nvPr/>
        </p:nvSpPr>
        <p:spPr>
          <a:xfrm>
            <a:off x="6492240" y="3547872"/>
            <a:ext cx="265176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4"/>
          <p:cNvSpPr/>
          <p:nvPr/>
        </p:nvSpPr>
        <p:spPr>
          <a:xfrm>
            <a:off x="6547104" y="359816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48" name="Shape 45"/>
          <p:cNvSpPr/>
          <p:nvPr/>
        </p:nvSpPr>
        <p:spPr>
          <a:xfrm>
            <a:off x="9144000" y="3547872"/>
            <a:ext cx="21031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6"/>
          <p:cNvSpPr/>
          <p:nvPr/>
        </p:nvSpPr>
        <p:spPr>
          <a:xfrm>
            <a:off x="9198864" y="359816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50" name="Text 47"/>
          <p:cNvSpPr/>
          <p:nvPr/>
        </p:nvSpPr>
        <p:spPr>
          <a:xfrm>
            <a:off x="1005840" y="5074920"/>
            <a:ext cx="10058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minutes individual work + 5 minutes discussion in pairs.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FORMALIZATION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 clinical rule to an 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8680" y="1444752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statement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17556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355F"/>
                </a:solidFill>
              </a:rPr>
              <a:t>“The glucose value is too low, normal or too high.”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68680" y="2926080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Algorithmic statement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3236976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Given a numeric glucose value, compare it with explicit thresholds and return a category.</a:t>
            </a:r>
            <a:endParaRPr lang="en-US" sz="2000" dirty="0"/>
          </a:p>
        </p:txBody>
      </p:sp>
      <p:pic>
        <p:nvPicPr>
          <p:cNvPr id="13" name="Image 1" descr="/mnt/data/a_clean_modern_medical_health_data_illustration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242" y="1646124"/>
            <a:ext cx="5653355" cy="31817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4754880"/>
            <a:ext cx="4754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E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algorithm begins only when the vague clinical language is converted into precise conditions.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Glucose classification: thresholds and assumptions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68680" y="1417320"/>
            <a:ext cx="365760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923544" y="146761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 in algorithm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26280" y="1417320"/>
            <a:ext cx="374904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4581144" y="1467612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category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75320" y="1417320"/>
            <a:ext cx="297180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8330184" y="1467612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value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1828800"/>
            <a:ext cx="36576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923544" y="187909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 &lt; 70 mg/dL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26280" y="1828800"/>
            <a:ext cx="37490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4581144" y="1879092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Hypoglycemia / Low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75320" y="1828800"/>
            <a:ext cx="29718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8330184" y="1879092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68680" y="2240280"/>
            <a:ext cx="36576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923544" y="229057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 ≤ glucose ≤ 180 mg/dL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526280" y="2240280"/>
            <a:ext cx="37490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4581144" y="2290572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range / Normal for this exercise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275320" y="2240280"/>
            <a:ext cx="2971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/>
          <p:nvPr/>
        </p:nvSpPr>
        <p:spPr>
          <a:xfrm>
            <a:off x="8330184" y="2290572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68680" y="2651760"/>
            <a:ext cx="36576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/>
          <p:nvPr/>
        </p:nvSpPr>
        <p:spPr>
          <a:xfrm>
            <a:off x="923544" y="270205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 &gt; 180 mg/dL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526280" y="2651760"/>
            <a:ext cx="37490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/>
          <p:nvPr/>
        </p:nvSpPr>
        <p:spPr>
          <a:xfrm>
            <a:off x="4581144" y="2702052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Hyperglycemia / High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8275320" y="2651760"/>
            <a:ext cx="29718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9"/>
          <p:cNvSpPr/>
          <p:nvPr/>
        </p:nvSpPr>
        <p:spPr>
          <a:xfrm>
            <a:off x="8330184" y="2702052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215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1143000" y="3977640"/>
            <a:ext cx="98298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thresholds are used here for teaching purposes. In real systems, interpretation depends on context: fasting status, patient profile, device type, timing and clinical guidelines.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2148840" y="5148072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51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document assumptions when designing a health-related algorithm.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STEP-BY-STEP REASONING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Glucose classification algorithm: version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016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61996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and Data Structures for Medical Informatics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68680" y="1472184"/>
            <a:ext cx="420624" cy="420624"/>
          </a:xfrm>
          <a:prstGeom prst="ellipse">
            <a:avLst/>
          </a:prstGeom>
          <a:solidFill>
            <a:srgbClr val="155C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868680" y="1563624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54480" y="14904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355F"/>
                </a:solidFill>
              </a:rPr>
              <a:t>Read the glucose value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68680" y="2432304"/>
            <a:ext cx="420624" cy="420624"/>
          </a:xfrm>
          <a:prstGeom prst="ellipse">
            <a:avLst/>
          </a:prstGeom>
          <a:solidFill>
            <a:srgbClr val="1AA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868680" y="2523744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554480" y="245059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6355F"/>
                </a:solidFill>
              </a:rPr>
              <a:t>Check whether it is below 70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868680" y="3392424"/>
            <a:ext cx="420624" cy="420624"/>
          </a:xfrm>
          <a:prstGeom prst="ellipse">
            <a:avLst/>
          </a:prstGeom>
          <a:solidFill>
            <a:srgbClr val="155C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868680" y="3483864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554480" y="34107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6355F"/>
                </a:solidFill>
              </a:rPr>
              <a:t>If not low, check whether it is above 180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868680" y="4352544"/>
            <a:ext cx="420624" cy="420624"/>
          </a:xfrm>
          <a:prstGeom prst="ellipse">
            <a:avLst/>
          </a:prstGeom>
          <a:solidFill>
            <a:srgbClr val="1AA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868680" y="4443984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554480" y="43708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6355F"/>
                </a:solidFill>
              </a:rPr>
              <a:t>Return the appropriate category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7818120" y="50749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1F55"/>
                </a:solidFill>
              </a:rPr>
              <a:t>Output: a category label, not a number.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VISUALIZING CONTROL 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Flowchart representation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941832" y="6225372"/>
            <a:ext cx="10149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Flowcharts make the order of decisions explicit. This is useful for classroom discussion and for checking edge cases.</a:t>
            </a:r>
            <a:endParaRPr lang="en-US" sz="1400" dirty="0"/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13EA0F9E-EDD9-D3E7-9246-ED775FA46509}"/>
              </a:ext>
            </a:extLst>
          </p:cNvPr>
          <p:cNvGrpSpPr/>
          <p:nvPr/>
        </p:nvGrpSpPr>
        <p:grpSpPr>
          <a:xfrm>
            <a:off x="868680" y="1591056"/>
            <a:ext cx="10287000" cy="3675888"/>
            <a:chOff x="868680" y="1353312"/>
            <a:chExt cx="10287000" cy="3675888"/>
          </a:xfrm>
        </p:grpSpPr>
        <p:sp>
          <p:nvSpPr>
            <p:cNvPr id="22" name="Shape 19"/>
            <p:cNvSpPr/>
            <p:nvPr/>
          </p:nvSpPr>
          <p:spPr>
            <a:xfrm>
              <a:off x="4526280" y="4526280"/>
              <a:ext cx="2743200" cy="502920"/>
            </a:xfrm>
            <a:prstGeom prst="parallelogram">
              <a:avLst/>
            </a:prstGeom>
            <a:solidFill>
              <a:srgbClr val="ECFDF5"/>
            </a:solidFill>
            <a:ln w="12700">
              <a:solidFill>
                <a:srgbClr val="86EFAC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EFF9D036-6668-AF21-CCAC-A9BD619A133D}"/>
                </a:ext>
              </a:extLst>
            </p:cNvPr>
            <p:cNvGrpSpPr/>
            <p:nvPr/>
          </p:nvGrpSpPr>
          <p:grpSpPr>
            <a:xfrm>
              <a:off x="868680" y="1353312"/>
              <a:ext cx="10287000" cy="3456432"/>
              <a:chOff x="868680" y="1353312"/>
              <a:chExt cx="10287000" cy="3456432"/>
            </a:xfrm>
          </p:grpSpPr>
          <p:sp>
            <p:nvSpPr>
              <p:cNvPr id="9" name="Shape 6"/>
              <p:cNvSpPr/>
              <p:nvPr/>
            </p:nvSpPr>
            <p:spPr>
              <a:xfrm>
                <a:off x="5897880" y="1810512"/>
                <a:ext cx="0" cy="384048"/>
              </a:xfrm>
              <a:prstGeom prst="line">
                <a:avLst/>
              </a:prstGeom>
              <a:noFill/>
              <a:ln w="16510">
                <a:solidFill>
                  <a:srgbClr val="8FAECC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" name="Shape 7"/>
              <p:cNvSpPr/>
              <p:nvPr/>
            </p:nvSpPr>
            <p:spPr>
              <a:xfrm>
                <a:off x="5897880" y="2697480"/>
                <a:ext cx="0" cy="731520"/>
              </a:xfrm>
              <a:prstGeom prst="line">
                <a:avLst/>
              </a:prstGeom>
              <a:noFill/>
              <a:ln w="16510">
                <a:solidFill>
                  <a:srgbClr val="8FAECC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" name="Shape 8"/>
              <p:cNvSpPr/>
              <p:nvPr/>
            </p:nvSpPr>
            <p:spPr>
              <a:xfrm>
                <a:off x="5897880" y="3886200"/>
                <a:ext cx="0" cy="640080"/>
              </a:xfrm>
              <a:prstGeom prst="line">
                <a:avLst/>
              </a:prstGeom>
              <a:noFill/>
              <a:ln w="16510">
                <a:solidFill>
                  <a:srgbClr val="8FAECC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" name="Shape 9"/>
              <p:cNvSpPr/>
              <p:nvPr/>
            </p:nvSpPr>
            <p:spPr>
              <a:xfrm>
                <a:off x="3977640" y="1353312"/>
                <a:ext cx="3840480" cy="502920"/>
              </a:xfrm>
              <a:prstGeom prst="parallelogram">
                <a:avLst/>
              </a:prstGeom>
              <a:solidFill>
                <a:srgbClr val="155C99"/>
              </a:solidFill>
              <a:ln w="12700">
                <a:solidFill>
                  <a:srgbClr val="155C99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3" name="Text 10"/>
              <p:cNvSpPr/>
              <p:nvPr/>
            </p:nvSpPr>
            <p:spPr>
              <a:xfrm>
                <a:off x="4160520" y="1508760"/>
                <a:ext cx="347472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</a:rPr>
                  <a:t>Read glucose value</a:t>
                </a:r>
                <a:endParaRPr lang="en-US" sz="1300" dirty="0"/>
              </a:p>
            </p:txBody>
          </p:sp>
          <p:sp>
            <p:nvSpPr>
              <p:cNvPr id="14" name="Shape 11"/>
              <p:cNvSpPr/>
              <p:nvPr/>
            </p:nvSpPr>
            <p:spPr>
              <a:xfrm>
                <a:off x="4846320" y="2155698"/>
                <a:ext cx="2103120" cy="822960"/>
              </a:xfrm>
              <a:prstGeom prst="diamond">
                <a:avLst/>
              </a:prstGeom>
              <a:solidFill>
                <a:srgbClr val="F0FDFB"/>
              </a:solidFill>
              <a:ln w="12700">
                <a:solidFill>
                  <a:srgbClr val="1AA6A6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5" name="Text 12"/>
              <p:cNvSpPr/>
              <p:nvPr/>
            </p:nvSpPr>
            <p:spPr>
              <a:xfrm>
                <a:off x="5084064" y="2505456"/>
                <a:ext cx="1609344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50" b="1" dirty="0">
                    <a:solidFill>
                      <a:srgbClr val="16355F"/>
                    </a:solidFill>
                  </a:rPr>
                  <a:t>glucose &lt; 70?</a:t>
                </a:r>
                <a:endParaRPr lang="en-US" sz="1250" dirty="0"/>
              </a:p>
            </p:txBody>
          </p:sp>
          <p:sp>
            <p:nvSpPr>
              <p:cNvPr id="16" name="Shape 13"/>
              <p:cNvSpPr/>
              <p:nvPr/>
            </p:nvSpPr>
            <p:spPr>
              <a:xfrm>
                <a:off x="4846320" y="3383280"/>
                <a:ext cx="2103120" cy="822960"/>
              </a:xfrm>
              <a:prstGeom prst="diamond">
                <a:avLst/>
              </a:prstGeom>
              <a:solidFill>
                <a:srgbClr val="F7FAFE"/>
              </a:solidFill>
              <a:ln w="12700">
                <a:solidFill>
                  <a:srgbClr val="155C99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7" name="Text 14"/>
              <p:cNvSpPr/>
              <p:nvPr/>
            </p:nvSpPr>
            <p:spPr>
              <a:xfrm>
                <a:off x="5010912" y="3712464"/>
                <a:ext cx="1773936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50" b="1" dirty="0">
                    <a:solidFill>
                      <a:srgbClr val="16355F"/>
                    </a:solidFill>
                  </a:rPr>
                  <a:t>glucose &gt; 180?</a:t>
                </a:r>
                <a:endParaRPr lang="en-US" sz="1250" dirty="0"/>
              </a:p>
            </p:txBody>
          </p:sp>
          <p:sp>
            <p:nvSpPr>
              <p:cNvPr id="18" name="Shape 15"/>
              <p:cNvSpPr/>
              <p:nvPr/>
            </p:nvSpPr>
            <p:spPr>
              <a:xfrm>
                <a:off x="868680" y="2331720"/>
                <a:ext cx="2514600" cy="502920"/>
              </a:xfrm>
              <a:prstGeom prst="parallelogram">
                <a:avLst/>
              </a:prstGeom>
              <a:solidFill>
                <a:srgbClr val="FCE7F3"/>
              </a:solidFill>
              <a:ln w="12700">
                <a:solidFill>
                  <a:srgbClr val="F8B4D1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9" name="Text 16"/>
              <p:cNvSpPr/>
              <p:nvPr/>
            </p:nvSpPr>
            <p:spPr>
              <a:xfrm>
                <a:off x="1051560" y="2487168"/>
                <a:ext cx="214884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50" b="1" dirty="0">
                    <a:solidFill>
                      <a:srgbClr val="B51F55"/>
                    </a:solidFill>
                  </a:rPr>
                  <a:t>Return LOW</a:t>
                </a:r>
                <a:endParaRPr lang="en-US" sz="1250" dirty="0"/>
              </a:p>
            </p:txBody>
          </p:sp>
          <p:sp>
            <p:nvSpPr>
              <p:cNvPr id="20" name="Shape 17"/>
              <p:cNvSpPr/>
              <p:nvPr/>
            </p:nvSpPr>
            <p:spPr>
              <a:xfrm>
                <a:off x="8458200" y="3611880"/>
                <a:ext cx="2697480" cy="502920"/>
              </a:xfrm>
              <a:prstGeom prst="parallelogram">
                <a:avLst/>
              </a:prstGeom>
              <a:solidFill>
                <a:srgbClr val="FEF3C7"/>
              </a:solidFill>
              <a:ln w="12700">
                <a:solidFill>
                  <a:srgbClr val="FACC15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1" name="Text 18"/>
              <p:cNvSpPr/>
              <p:nvPr/>
            </p:nvSpPr>
            <p:spPr>
              <a:xfrm>
                <a:off x="8641080" y="3767328"/>
                <a:ext cx="233172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50" b="1" dirty="0">
                    <a:solidFill>
                      <a:srgbClr val="92400E"/>
                    </a:solidFill>
                  </a:rPr>
                  <a:t>Return HIGH</a:t>
                </a:r>
                <a:endParaRPr lang="en-US" sz="1250" dirty="0"/>
              </a:p>
            </p:txBody>
          </p:sp>
          <p:sp>
            <p:nvSpPr>
              <p:cNvPr id="23" name="Text 20"/>
              <p:cNvSpPr/>
              <p:nvPr/>
            </p:nvSpPr>
            <p:spPr>
              <a:xfrm>
                <a:off x="4709160" y="4681728"/>
                <a:ext cx="237744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50" b="1" dirty="0">
                    <a:solidFill>
                      <a:srgbClr val="047857"/>
                    </a:solidFill>
                  </a:rPr>
                  <a:t>Return IN RANGE</a:t>
                </a:r>
                <a:endParaRPr lang="en-US" sz="1250" dirty="0"/>
              </a:p>
            </p:txBody>
          </p:sp>
          <p:sp>
            <p:nvSpPr>
              <p:cNvPr id="24" name="Shape 21"/>
              <p:cNvSpPr/>
              <p:nvPr/>
            </p:nvSpPr>
            <p:spPr>
              <a:xfrm>
                <a:off x="4892040" y="2578608"/>
                <a:ext cx="0" cy="0"/>
              </a:xfrm>
              <a:prstGeom prst="line">
                <a:avLst/>
              </a:prstGeom>
              <a:noFill/>
              <a:ln w="15240">
                <a:solidFill>
                  <a:srgbClr val="8FAECC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5" name="Text 22"/>
              <p:cNvSpPr/>
              <p:nvPr/>
            </p:nvSpPr>
            <p:spPr>
              <a:xfrm>
                <a:off x="3931920" y="2368296"/>
                <a:ext cx="32004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1AA6A6"/>
                    </a:solidFill>
                  </a:rPr>
                  <a:t>Yes</a:t>
                </a:r>
                <a:endParaRPr lang="en-US" sz="1000" dirty="0"/>
              </a:p>
            </p:txBody>
          </p:sp>
          <p:sp>
            <p:nvSpPr>
              <p:cNvPr id="26" name="Shape 23"/>
              <p:cNvSpPr/>
              <p:nvPr/>
            </p:nvSpPr>
            <p:spPr>
              <a:xfrm>
                <a:off x="6903720" y="3794760"/>
                <a:ext cx="1325880" cy="0"/>
              </a:xfrm>
              <a:prstGeom prst="line">
                <a:avLst/>
              </a:prstGeom>
              <a:noFill/>
              <a:ln w="15240">
                <a:solidFill>
                  <a:srgbClr val="8FAECC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7" name="Text 24"/>
              <p:cNvSpPr/>
              <p:nvPr/>
            </p:nvSpPr>
            <p:spPr>
              <a:xfrm>
                <a:off x="7680960" y="3584448"/>
                <a:ext cx="32004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155C99"/>
                    </a:solidFill>
                  </a:rPr>
                  <a:t>Yes</a:t>
                </a:r>
                <a:endParaRPr lang="en-US" sz="1000" dirty="0"/>
              </a:p>
            </p:txBody>
          </p:sp>
          <p:sp>
            <p:nvSpPr>
              <p:cNvPr id="28" name="Text 25"/>
              <p:cNvSpPr/>
              <p:nvPr/>
            </p:nvSpPr>
            <p:spPr>
              <a:xfrm>
                <a:off x="6016752" y="3044952"/>
                <a:ext cx="32004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5E6A7D"/>
                    </a:solidFill>
                  </a:rPr>
                  <a:t>No</a:t>
                </a:r>
                <a:endParaRPr lang="en-US" sz="1000" dirty="0"/>
              </a:p>
            </p:txBody>
          </p:sp>
          <p:sp>
            <p:nvSpPr>
              <p:cNvPr id="29" name="Text 26"/>
              <p:cNvSpPr/>
              <p:nvPr/>
            </p:nvSpPr>
            <p:spPr>
              <a:xfrm>
                <a:off x="6016752" y="4224528"/>
                <a:ext cx="32004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5E6A7D"/>
                    </a:solidFill>
                  </a:rPr>
                  <a:t>No</a:t>
                </a:r>
                <a:endParaRPr lang="en-US" sz="1000" dirty="0"/>
              </a:p>
            </p:txBody>
          </p:sp>
          <p:sp>
            <p:nvSpPr>
              <p:cNvPr id="31" name="Shape 6">
                <a:extLst>
                  <a:ext uri="{FF2B5EF4-FFF2-40B4-BE49-F238E27FC236}">
                    <a16:creationId xmlns:a16="http://schemas.microsoft.com/office/drawing/2014/main" id="{B08596C2-B3FA-9EC5-DD38-5ABCC02201FB}"/>
                  </a:ext>
                </a:extLst>
              </p:cNvPr>
              <p:cNvSpPr/>
              <p:nvPr/>
            </p:nvSpPr>
            <p:spPr>
              <a:xfrm flipH="1">
                <a:off x="3383280" y="2587752"/>
                <a:ext cx="1463040" cy="0"/>
              </a:xfrm>
              <a:prstGeom prst="line">
                <a:avLst/>
              </a:prstGeom>
              <a:noFill/>
              <a:ln w="16510">
                <a:solidFill>
                  <a:srgbClr val="8FAECC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it-IT"/>
              </a:p>
            </p:txBody>
          </p:sp>
        </p:grpSp>
      </p:grpSp>
      <p:sp>
        <p:nvSpPr>
          <p:cNvPr id="32" name="Ovale 31">
            <a:extLst>
              <a:ext uri="{FF2B5EF4-FFF2-40B4-BE49-F238E27FC236}">
                <a16:creationId xmlns:a16="http://schemas.microsoft.com/office/drawing/2014/main" id="{8BCE3142-32D8-BBE5-D551-F703DDEF8951}"/>
              </a:ext>
            </a:extLst>
          </p:cNvPr>
          <p:cNvSpPr/>
          <p:nvPr/>
        </p:nvSpPr>
        <p:spPr>
          <a:xfrm>
            <a:off x="5311358" y="800575"/>
            <a:ext cx="1188720" cy="5390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Start</a:t>
            </a:r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1DD3949E-CFE9-CD75-1853-7A50BDA80394}"/>
              </a:ext>
            </a:extLst>
          </p:cNvPr>
          <p:cNvSpPr/>
          <p:nvPr/>
        </p:nvSpPr>
        <p:spPr>
          <a:xfrm>
            <a:off x="9212580" y="4754256"/>
            <a:ext cx="1188720" cy="5390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End</a:t>
            </a:r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8A222C2D-C3E5-A422-2A62-DF1B6B186E35}"/>
              </a:ext>
            </a:extLst>
          </p:cNvPr>
          <p:cNvSpPr/>
          <p:nvPr/>
        </p:nvSpPr>
        <p:spPr>
          <a:xfrm>
            <a:off x="5303520" y="5590100"/>
            <a:ext cx="1188720" cy="5390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End</a:t>
            </a:r>
          </a:p>
        </p:txBody>
      </p:sp>
      <p:sp>
        <p:nvSpPr>
          <p:cNvPr id="35" name="Ovale 34">
            <a:extLst>
              <a:ext uri="{FF2B5EF4-FFF2-40B4-BE49-F238E27FC236}">
                <a16:creationId xmlns:a16="http://schemas.microsoft.com/office/drawing/2014/main" id="{2C27755D-E868-E375-AB90-E71813C9319C}"/>
              </a:ext>
            </a:extLst>
          </p:cNvPr>
          <p:cNvSpPr/>
          <p:nvPr/>
        </p:nvSpPr>
        <p:spPr>
          <a:xfrm>
            <a:off x="1531620" y="3432117"/>
            <a:ext cx="1188720" cy="5390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End</a:t>
            </a:r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D11E534D-9C8A-6AAD-A57C-A557A162A75A}"/>
              </a:ext>
            </a:extLst>
          </p:cNvPr>
          <p:cNvSpPr/>
          <p:nvPr/>
        </p:nvSpPr>
        <p:spPr>
          <a:xfrm flipH="1">
            <a:off x="2125679" y="3070693"/>
            <a:ext cx="3" cy="355190"/>
          </a:xfrm>
          <a:prstGeom prst="line">
            <a:avLst/>
          </a:prstGeom>
          <a:noFill/>
          <a:ln w="16510">
            <a:solidFill>
              <a:srgbClr val="8FAECC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8A027A22-9C82-7091-4101-CD5DC3DF3789}"/>
              </a:ext>
            </a:extLst>
          </p:cNvPr>
          <p:cNvSpPr/>
          <p:nvPr/>
        </p:nvSpPr>
        <p:spPr>
          <a:xfrm flipH="1">
            <a:off x="5888733" y="5228617"/>
            <a:ext cx="3" cy="355190"/>
          </a:xfrm>
          <a:prstGeom prst="line">
            <a:avLst/>
          </a:prstGeom>
          <a:noFill/>
          <a:ln w="16510">
            <a:solidFill>
              <a:srgbClr val="8FAECC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F8678CE1-AE3E-78FF-9641-D48DDD9C613E}"/>
              </a:ext>
            </a:extLst>
          </p:cNvPr>
          <p:cNvSpPr/>
          <p:nvPr/>
        </p:nvSpPr>
        <p:spPr>
          <a:xfrm flipH="1">
            <a:off x="9806940" y="4375805"/>
            <a:ext cx="3" cy="355190"/>
          </a:xfrm>
          <a:prstGeom prst="line">
            <a:avLst/>
          </a:prstGeom>
          <a:noFill/>
          <a:ln w="16510">
            <a:solidFill>
              <a:srgbClr val="8FAECC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2603B063-264C-9823-FBE1-9DAC5C099E62}"/>
              </a:ext>
            </a:extLst>
          </p:cNvPr>
          <p:cNvSpPr/>
          <p:nvPr/>
        </p:nvSpPr>
        <p:spPr>
          <a:xfrm>
            <a:off x="5888732" y="1357884"/>
            <a:ext cx="9147" cy="226879"/>
          </a:xfrm>
          <a:prstGeom prst="line">
            <a:avLst/>
          </a:prstGeom>
          <a:noFill/>
          <a:ln w="16510">
            <a:solidFill>
              <a:srgbClr val="8FAECC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LANGUAGE-INDEPENDENT ALGORITHM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Pseudocode representation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016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61996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and Data Structures for Medical Informatics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960120" y="1371600"/>
            <a:ext cx="5532120" cy="4224528"/>
          </a:xfrm>
          <a:prstGeom prst="roundRect">
            <a:avLst>
              <a:gd name="adj" fmla="val 173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207008" y="1627632"/>
            <a:ext cx="4992624" cy="3712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Algorithm ClassifyGlucose(glucose)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Input:  glucose value in mg/dL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Output: category label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glucose &lt; 70 THEN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"LOW"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 IF glucose &gt; 180 THEN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"HIGH"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"IN_RANGE"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IF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059168" y="1508760"/>
            <a:ext cx="3840480" cy="987552"/>
          </a:xfrm>
          <a:prstGeom prst="roundRect">
            <a:avLst>
              <a:gd name="adj" fmla="val 5556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7059168" y="1508760"/>
            <a:ext cx="73152" cy="987552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7242048" y="165506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pseudocode?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42048" y="196596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describes logic before choosing a programming language.</a:t>
            </a:r>
            <a:endParaRPr lang="en-US" sz="1230" dirty="0"/>
          </a:p>
        </p:txBody>
      </p:sp>
      <p:sp>
        <p:nvSpPr>
          <p:cNvPr id="15" name="Shape 12"/>
          <p:cNvSpPr/>
          <p:nvPr/>
        </p:nvSpPr>
        <p:spPr>
          <a:xfrm>
            <a:off x="7059168" y="2788920"/>
            <a:ext cx="3840480" cy="987552"/>
          </a:xfrm>
          <a:prstGeom prst="roundRect">
            <a:avLst>
              <a:gd name="adj" fmla="val 5556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7059168" y="2788920"/>
            <a:ext cx="73152" cy="987552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7242048" y="293522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useful in healthcare?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42048" y="324612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allows clinicians and developers to verify the intended behavior.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7059168" y="4069080"/>
            <a:ext cx="3840480" cy="987552"/>
          </a:xfrm>
          <a:prstGeom prst="roundRect">
            <a:avLst>
              <a:gd name="adj" fmla="val 5556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7"/>
          <p:cNvSpPr/>
          <p:nvPr/>
        </p:nvSpPr>
        <p:spPr>
          <a:xfrm>
            <a:off x="7059168" y="4069080"/>
            <a:ext cx="73152" cy="987552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7242048" y="421538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practice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242048" y="452628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inputs, outputs and assumptions explicitly.</a:t>
            </a:r>
            <a:endParaRPr lang="en-US" sz="12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ALGORITHM TO PROGRAM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Python-like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68680" y="1325880"/>
            <a:ext cx="6080760" cy="4160520"/>
          </a:xfrm>
          <a:prstGeom prst="roundRect">
            <a:avLst>
              <a:gd name="adj" fmla="val 175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115568" y="1581912"/>
            <a:ext cx="5577840" cy="3675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classify_glucose(glucose):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glucose &lt; 70: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return "LOW"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elif glucose &gt; 180: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return "HIGH"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else: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return "IN_RANGE"</a:t>
            </a:r>
            <a:endParaRPr lang="en-US" sz="1510" dirty="0"/>
          </a:p>
          <a:p>
            <a:pPr marL="0" indent="0">
              <a:buNone/>
            </a:pP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print(classify_glucose(62))    # LOW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print(classify_glucose(110))   # IN_RANGE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print(classify_glucose(215))   # HIGH</a:t>
            </a:r>
            <a:endParaRPr lang="en-US" sz="1510" dirty="0"/>
          </a:p>
        </p:txBody>
      </p:sp>
      <p:sp>
        <p:nvSpPr>
          <p:cNvPr id="11" name="Text 8"/>
          <p:cNvSpPr/>
          <p:nvPr/>
        </p:nvSpPr>
        <p:spPr>
          <a:xfrm>
            <a:off x="7360920" y="1554480"/>
            <a:ext cx="379476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function is the implemented program unit.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algorithmic logic is the same as the pseudocode.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Comments help readers verify the expected behavior.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Testing examples are part of responsible implementation.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315200" y="4800600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 is executable; an algorithm is the logic it implements.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WITH EXAMPLES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trace: following the 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31520" y="1335024"/>
            <a:ext cx="1285584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786384" y="1385316"/>
            <a:ext cx="1175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</a:t>
            </a:r>
            <a:endParaRPr lang="en-US" sz="1070" dirty="0"/>
          </a:p>
        </p:txBody>
      </p:sp>
      <p:sp>
        <p:nvSpPr>
          <p:cNvPr id="11" name="Shape 8"/>
          <p:cNvSpPr/>
          <p:nvPr/>
        </p:nvSpPr>
        <p:spPr>
          <a:xfrm>
            <a:off x="2017104" y="1335024"/>
            <a:ext cx="3168047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2071968" y="1385316"/>
            <a:ext cx="30583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070" dirty="0"/>
          </a:p>
        </p:txBody>
      </p:sp>
      <p:sp>
        <p:nvSpPr>
          <p:cNvPr id="13" name="Shape 10"/>
          <p:cNvSpPr/>
          <p:nvPr/>
        </p:nvSpPr>
        <p:spPr>
          <a:xfrm>
            <a:off x="5185152" y="1335024"/>
            <a:ext cx="3673098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5240016" y="1385316"/>
            <a:ext cx="3563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070" dirty="0"/>
          </a:p>
        </p:txBody>
      </p:sp>
      <p:sp>
        <p:nvSpPr>
          <p:cNvPr id="15" name="Shape 12"/>
          <p:cNvSpPr/>
          <p:nvPr/>
        </p:nvSpPr>
        <p:spPr>
          <a:xfrm>
            <a:off x="8858250" y="1335024"/>
            <a:ext cx="270891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8913114" y="1385316"/>
            <a:ext cx="25991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070" dirty="0"/>
          </a:p>
        </p:txBody>
      </p:sp>
      <p:sp>
        <p:nvSpPr>
          <p:cNvPr id="17" name="Shape 14"/>
          <p:cNvSpPr/>
          <p:nvPr/>
        </p:nvSpPr>
        <p:spPr>
          <a:xfrm>
            <a:off x="731520" y="1746504"/>
            <a:ext cx="1285584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786384" y="1796796"/>
            <a:ext cx="1175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1070" dirty="0"/>
          </a:p>
        </p:txBody>
      </p:sp>
      <p:sp>
        <p:nvSpPr>
          <p:cNvPr id="19" name="Shape 16"/>
          <p:cNvSpPr/>
          <p:nvPr/>
        </p:nvSpPr>
        <p:spPr>
          <a:xfrm>
            <a:off x="2017104" y="1746504"/>
            <a:ext cx="3168047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2071968" y="1796796"/>
            <a:ext cx="30583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 &lt; 70 is true</a:t>
            </a:r>
            <a:endParaRPr lang="en-US" sz="1070" dirty="0"/>
          </a:p>
        </p:txBody>
      </p:sp>
      <p:sp>
        <p:nvSpPr>
          <p:cNvPr id="21" name="Shape 18"/>
          <p:cNvSpPr/>
          <p:nvPr/>
        </p:nvSpPr>
        <p:spPr>
          <a:xfrm>
            <a:off x="5185152" y="1746504"/>
            <a:ext cx="3673098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5240016" y="1796796"/>
            <a:ext cx="3563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</a:t>
            </a:r>
            <a:endParaRPr lang="en-US" sz="1070" dirty="0"/>
          </a:p>
        </p:txBody>
      </p:sp>
      <p:sp>
        <p:nvSpPr>
          <p:cNvPr id="23" name="Shape 20"/>
          <p:cNvSpPr/>
          <p:nvPr/>
        </p:nvSpPr>
        <p:spPr>
          <a:xfrm>
            <a:off x="8858250" y="1746504"/>
            <a:ext cx="270891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8913114" y="1796796"/>
            <a:ext cx="25991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070" dirty="0"/>
          </a:p>
        </p:txBody>
      </p:sp>
      <p:sp>
        <p:nvSpPr>
          <p:cNvPr id="25" name="Shape 22"/>
          <p:cNvSpPr/>
          <p:nvPr/>
        </p:nvSpPr>
        <p:spPr>
          <a:xfrm>
            <a:off x="731520" y="2157984"/>
            <a:ext cx="1285584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/>
          <p:nvPr/>
        </p:nvSpPr>
        <p:spPr>
          <a:xfrm>
            <a:off x="786384" y="2208276"/>
            <a:ext cx="1175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</a:t>
            </a:r>
            <a:endParaRPr lang="en-US" sz="1070" dirty="0"/>
          </a:p>
        </p:txBody>
      </p:sp>
      <p:sp>
        <p:nvSpPr>
          <p:cNvPr id="27" name="Shape 24"/>
          <p:cNvSpPr/>
          <p:nvPr/>
        </p:nvSpPr>
        <p:spPr>
          <a:xfrm>
            <a:off x="2017104" y="2157984"/>
            <a:ext cx="3168047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/>
          <p:nvPr/>
        </p:nvSpPr>
        <p:spPr>
          <a:xfrm>
            <a:off x="2071968" y="2208276"/>
            <a:ext cx="30583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 &lt; 70 is false</a:t>
            </a:r>
            <a:endParaRPr lang="en-US" sz="1070" dirty="0"/>
          </a:p>
        </p:txBody>
      </p:sp>
      <p:sp>
        <p:nvSpPr>
          <p:cNvPr id="29" name="Shape 26"/>
          <p:cNvSpPr/>
          <p:nvPr/>
        </p:nvSpPr>
        <p:spPr>
          <a:xfrm>
            <a:off x="5185152" y="2157984"/>
            <a:ext cx="3673098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/>
          <p:nvPr/>
        </p:nvSpPr>
        <p:spPr>
          <a:xfrm>
            <a:off x="5240016" y="2208276"/>
            <a:ext cx="3563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 &gt; 180 is false</a:t>
            </a:r>
            <a:endParaRPr lang="en-US" sz="1070" dirty="0"/>
          </a:p>
        </p:txBody>
      </p:sp>
      <p:sp>
        <p:nvSpPr>
          <p:cNvPr id="31" name="Shape 28"/>
          <p:cNvSpPr/>
          <p:nvPr/>
        </p:nvSpPr>
        <p:spPr>
          <a:xfrm>
            <a:off x="8858250" y="2157984"/>
            <a:ext cx="270891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9"/>
          <p:cNvSpPr/>
          <p:nvPr/>
        </p:nvSpPr>
        <p:spPr>
          <a:xfrm>
            <a:off x="8913114" y="2208276"/>
            <a:ext cx="25991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IN_RANGE</a:t>
            </a:r>
            <a:endParaRPr lang="en-US" sz="1070" dirty="0"/>
          </a:p>
        </p:txBody>
      </p:sp>
      <p:sp>
        <p:nvSpPr>
          <p:cNvPr id="33" name="Shape 30"/>
          <p:cNvSpPr/>
          <p:nvPr/>
        </p:nvSpPr>
        <p:spPr>
          <a:xfrm>
            <a:off x="731520" y="2569464"/>
            <a:ext cx="1285584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1"/>
          <p:cNvSpPr/>
          <p:nvPr/>
        </p:nvSpPr>
        <p:spPr>
          <a:xfrm>
            <a:off x="786384" y="2619756"/>
            <a:ext cx="1175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215</a:t>
            </a:r>
            <a:endParaRPr lang="en-US" sz="1070" dirty="0"/>
          </a:p>
        </p:txBody>
      </p:sp>
      <p:sp>
        <p:nvSpPr>
          <p:cNvPr id="35" name="Shape 32"/>
          <p:cNvSpPr/>
          <p:nvPr/>
        </p:nvSpPr>
        <p:spPr>
          <a:xfrm>
            <a:off x="2017104" y="2569464"/>
            <a:ext cx="3168047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3"/>
          <p:cNvSpPr/>
          <p:nvPr/>
        </p:nvSpPr>
        <p:spPr>
          <a:xfrm>
            <a:off x="2071968" y="2619756"/>
            <a:ext cx="30583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215 &lt; 70 is false</a:t>
            </a:r>
            <a:endParaRPr lang="en-US" sz="1070" dirty="0"/>
          </a:p>
        </p:txBody>
      </p:sp>
      <p:sp>
        <p:nvSpPr>
          <p:cNvPr id="37" name="Shape 34"/>
          <p:cNvSpPr/>
          <p:nvPr/>
        </p:nvSpPr>
        <p:spPr>
          <a:xfrm>
            <a:off x="5185152" y="2569464"/>
            <a:ext cx="3673098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5"/>
          <p:cNvSpPr/>
          <p:nvPr/>
        </p:nvSpPr>
        <p:spPr>
          <a:xfrm>
            <a:off x="5240016" y="2619756"/>
            <a:ext cx="3563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215 &gt; 180 is true</a:t>
            </a:r>
            <a:endParaRPr lang="en-US" sz="1070" dirty="0"/>
          </a:p>
        </p:txBody>
      </p:sp>
      <p:sp>
        <p:nvSpPr>
          <p:cNvPr id="39" name="Shape 36"/>
          <p:cNvSpPr/>
          <p:nvPr/>
        </p:nvSpPr>
        <p:spPr>
          <a:xfrm>
            <a:off x="8858250" y="2569464"/>
            <a:ext cx="270891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7"/>
          <p:cNvSpPr/>
          <p:nvPr/>
        </p:nvSpPr>
        <p:spPr>
          <a:xfrm>
            <a:off x="8913114" y="2619756"/>
            <a:ext cx="25991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70" dirty="0"/>
          </a:p>
        </p:txBody>
      </p:sp>
      <p:sp>
        <p:nvSpPr>
          <p:cNvPr id="41" name="Shape 38"/>
          <p:cNvSpPr/>
          <p:nvPr/>
        </p:nvSpPr>
        <p:spPr>
          <a:xfrm>
            <a:off x="731520" y="2980944"/>
            <a:ext cx="1285584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39"/>
          <p:cNvSpPr/>
          <p:nvPr/>
        </p:nvSpPr>
        <p:spPr>
          <a:xfrm>
            <a:off x="786384" y="3031236"/>
            <a:ext cx="1175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1070" dirty="0"/>
          </a:p>
        </p:txBody>
      </p:sp>
      <p:sp>
        <p:nvSpPr>
          <p:cNvPr id="43" name="Shape 40"/>
          <p:cNvSpPr/>
          <p:nvPr/>
        </p:nvSpPr>
        <p:spPr>
          <a:xfrm>
            <a:off x="2017104" y="2980944"/>
            <a:ext cx="3168047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1"/>
          <p:cNvSpPr/>
          <p:nvPr/>
        </p:nvSpPr>
        <p:spPr>
          <a:xfrm>
            <a:off x="2071968" y="3031236"/>
            <a:ext cx="30583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 &lt; 70 is false</a:t>
            </a:r>
            <a:endParaRPr lang="en-US" sz="1070" dirty="0"/>
          </a:p>
        </p:txBody>
      </p:sp>
      <p:sp>
        <p:nvSpPr>
          <p:cNvPr id="45" name="Shape 42"/>
          <p:cNvSpPr/>
          <p:nvPr/>
        </p:nvSpPr>
        <p:spPr>
          <a:xfrm>
            <a:off x="5185152" y="2980944"/>
            <a:ext cx="3673098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3"/>
          <p:cNvSpPr/>
          <p:nvPr/>
        </p:nvSpPr>
        <p:spPr>
          <a:xfrm>
            <a:off x="5240016" y="3031236"/>
            <a:ext cx="3563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 &gt; 180 is false</a:t>
            </a:r>
            <a:endParaRPr lang="en-US" sz="1070" dirty="0"/>
          </a:p>
        </p:txBody>
      </p:sp>
      <p:sp>
        <p:nvSpPr>
          <p:cNvPr id="47" name="Shape 44"/>
          <p:cNvSpPr/>
          <p:nvPr/>
        </p:nvSpPr>
        <p:spPr>
          <a:xfrm>
            <a:off x="8858250" y="2980944"/>
            <a:ext cx="270891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5"/>
          <p:cNvSpPr/>
          <p:nvPr/>
        </p:nvSpPr>
        <p:spPr>
          <a:xfrm>
            <a:off x="8913114" y="3031236"/>
            <a:ext cx="25991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IN_RANGE</a:t>
            </a:r>
            <a:endParaRPr lang="en-US" sz="1070" dirty="0"/>
          </a:p>
        </p:txBody>
      </p:sp>
      <p:sp>
        <p:nvSpPr>
          <p:cNvPr id="49" name="Shape 46"/>
          <p:cNvSpPr/>
          <p:nvPr/>
        </p:nvSpPr>
        <p:spPr>
          <a:xfrm>
            <a:off x="731520" y="3392424"/>
            <a:ext cx="1285584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7"/>
          <p:cNvSpPr/>
          <p:nvPr/>
        </p:nvSpPr>
        <p:spPr>
          <a:xfrm>
            <a:off x="786384" y="3442716"/>
            <a:ext cx="1175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180</a:t>
            </a:r>
            <a:endParaRPr lang="en-US" sz="1070" dirty="0"/>
          </a:p>
        </p:txBody>
      </p:sp>
      <p:sp>
        <p:nvSpPr>
          <p:cNvPr id="51" name="Shape 48"/>
          <p:cNvSpPr/>
          <p:nvPr/>
        </p:nvSpPr>
        <p:spPr>
          <a:xfrm>
            <a:off x="2017104" y="3392424"/>
            <a:ext cx="3168047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49"/>
          <p:cNvSpPr/>
          <p:nvPr/>
        </p:nvSpPr>
        <p:spPr>
          <a:xfrm>
            <a:off x="2071968" y="3442716"/>
            <a:ext cx="30583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180 &lt; 70 is false</a:t>
            </a:r>
            <a:endParaRPr lang="en-US" sz="1070" dirty="0"/>
          </a:p>
        </p:txBody>
      </p:sp>
      <p:sp>
        <p:nvSpPr>
          <p:cNvPr id="53" name="Shape 50"/>
          <p:cNvSpPr/>
          <p:nvPr/>
        </p:nvSpPr>
        <p:spPr>
          <a:xfrm>
            <a:off x="5185152" y="3392424"/>
            <a:ext cx="3673098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1"/>
          <p:cNvSpPr/>
          <p:nvPr/>
        </p:nvSpPr>
        <p:spPr>
          <a:xfrm>
            <a:off x="5240016" y="3442716"/>
            <a:ext cx="3563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180 &gt; 180 is false</a:t>
            </a:r>
            <a:endParaRPr lang="en-US" sz="1070" dirty="0"/>
          </a:p>
        </p:txBody>
      </p:sp>
      <p:sp>
        <p:nvSpPr>
          <p:cNvPr id="55" name="Shape 52"/>
          <p:cNvSpPr/>
          <p:nvPr/>
        </p:nvSpPr>
        <p:spPr>
          <a:xfrm>
            <a:off x="8858250" y="3392424"/>
            <a:ext cx="270891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3"/>
          <p:cNvSpPr/>
          <p:nvPr/>
        </p:nvSpPr>
        <p:spPr>
          <a:xfrm>
            <a:off x="8913114" y="3442716"/>
            <a:ext cx="25991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IN_RANGE</a:t>
            </a:r>
            <a:endParaRPr lang="en-US" sz="1070" dirty="0"/>
          </a:p>
        </p:txBody>
      </p:sp>
      <p:sp>
        <p:nvSpPr>
          <p:cNvPr id="57" name="Text 54"/>
          <p:cNvSpPr/>
          <p:nvPr/>
        </p:nvSpPr>
        <p:spPr>
          <a:xfrm>
            <a:off x="1234440" y="5376672"/>
            <a:ext cx="96926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B51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Tracing makes the boundary cases visible: 70 and 180 are not classified as LOW or HIGH in this version.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STRUCTURES APPEAR IMMEDIATELY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one measurement to many measurements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1440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5C99"/>
                </a:solidFill>
              </a:rPr>
              <a:t>Single value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1764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6355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glucose = 110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A6A6"/>
                </a:solidFill>
              </a:rPr>
              <a:t>Multiple values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29992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6355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glucose_values = [92, 135, 181, 68]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903720" y="1463040"/>
            <a:ext cx="4343400" cy="1051560"/>
          </a:xfrm>
          <a:prstGeom prst="roundRect">
            <a:avLst>
              <a:gd name="adj" fmla="val 5217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6903720" y="1463040"/>
            <a:ext cx="73152" cy="1051560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7086600" y="160934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algorithmic questions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1920240"/>
            <a:ext cx="4023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values are low?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maximum?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trend increasing?</a:t>
            </a:r>
            <a:endParaRPr lang="en-US" sz="1230" dirty="0"/>
          </a:p>
        </p:txBody>
      </p:sp>
      <p:sp>
        <p:nvSpPr>
          <p:cNvPr id="17" name="Shape 14"/>
          <p:cNvSpPr/>
          <p:nvPr/>
        </p:nvSpPr>
        <p:spPr>
          <a:xfrm>
            <a:off x="6903720" y="2926080"/>
            <a:ext cx="4343400" cy="1051560"/>
          </a:xfrm>
          <a:prstGeom prst="roundRect">
            <a:avLst>
              <a:gd name="adj" fmla="val 5217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6903720" y="2926080"/>
            <a:ext cx="73152" cy="1051560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7086600" y="30723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data structure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086600" y="3383280"/>
            <a:ext cx="4023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 or array lets us process repeated values using loops.</a:t>
            </a:r>
            <a:endParaRPr lang="en-US" sz="1230" dirty="0"/>
          </a:p>
        </p:txBody>
      </p:sp>
      <p:sp>
        <p:nvSpPr>
          <p:cNvPr id="21" name="Text 18"/>
          <p:cNvSpPr/>
          <p:nvPr/>
        </p:nvSpPr>
        <p:spPr>
          <a:xfrm>
            <a:off x="1051560" y="47548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355F"/>
                </a:solidFill>
              </a:rPr>
              <a:t>Data structures are not abstract theory: they appear as soon as one patient has repeated measurements.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LOOP INTUITION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List-based algorithm: count abnormal values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68680" y="1417320"/>
            <a:ext cx="5303520" cy="3154680"/>
          </a:xfrm>
          <a:prstGeom prst="roundRect">
            <a:avLst>
              <a:gd name="adj" fmla="val 231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115568" y="1737360"/>
            <a:ext cx="475488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count_low = 0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each value IN glucose_values: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value &lt; 70 THEN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count_low = count_low + 1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RETURN count_low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12280" y="1554480"/>
            <a:ext cx="425196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algorithm visits each value once.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list provides an ordered collection of measurements.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variable count_low stores intermediate state.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same pattern appears in signal processing and dataset analysis.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371600" y="5074920"/>
            <a:ext cx="9372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first example of iteration over a biomedical data structure.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SIGNALS ARE ORDERED DATA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series: values plus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" y="1389888"/>
            <a:ext cx="562356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glucose sensor, ECG monitor or smartwatch does not produce isolated numbers only.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measurement has a timestamp.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order and spacing of measurements change the interpretation.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Algorithms may analyze windows, trends, peaks or sudden changes.</a:t>
            </a:r>
            <a:endParaRPr lang="en-US" sz="2400" dirty="0"/>
          </a:p>
        </p:txBody>
      </p:sp>
      <p:pic>
        <p:nvPicPr>
          <p:cNvPr id="10" name="Image 1" descr="/mnt/data/a_clean_modern_medical_health_data_illustration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516037"/>
            <a:ext cx="4800600" cy="27017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5230368"/>
            <a:ext cx="5532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[time, glucose] pairs are more informative than glucose values alone.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ALGORITHM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validation before classification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14400" y="1298448"/>
            <a:ext cx="102412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 algorithm should not assume that all inputs are valid.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731520" y="1883664"/>
            <a:ext cx="274320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786384" y="193395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issue</a:t>
            </a:r>
            <a:endParaRPr lang="en-US" sz="1110" dirty="0"/>
          </a:p>
        </p:txBody>
      </p:sp>
      <p:sp>
        <p:nvSpPr>
          <p:cNvPr id="12" name="Shape 9"/>
          <p:cNvSpPr/>
          <p:nvPr/>
        </p:nvSpPr>
        <p:spPr>
          <a:xfrm>
            <a:off x="3474720" y="1883664"/>
            <a:ext cx="297180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3529584" y="1933956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110" dirty="0"/>
          </a:p>
        </p:txBody>
      </p:sp>
      <p:sp>
        <p:nvSpPr>
          <p:cNvPr id="14" name="Shape 11"/>
          <p:cNvSpPr/>
          <p:nvPr/>
        </p:nvSpPr>
        <p:spPr>
          <a:xfrm>
            <a:off x="6446520" y="1883664"/>
            <a:ext cx="512064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6501384" y="193395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handling</a:t>
            </a:r>
            <a:endParaRPr lang="en-US" sz="1110" dirty="0"/>
          </a:p>
        </p:txBody>
      </p:sp>
      <p:sp>
        <p:nvSpPr>
          <p:cNvPr id="16" name="Shape 13"/>
          <p:cNvSpPr/>
          <p:nvPr/>
        </p:nvSpPr>
        <p:spPr>
          <a:xfrm>
            <a:off x="731520" y="2295144"/>
            <a:ext cx="27432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786384" y="234543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</a:t>
            </a:r>
            <a:endParaRPr lang="en-US" sz="1110" dirty="0"/>
          </a:p>
        </p:txBody>
      </p:sp>
      <p:sp>
        <p:nvSpPr>
          <p:cNvPr id="18" name="Shape 15"/>
          <p:cNvSpPr/>
          <p:nvPr/>
        </p:nvSpPr>
        <p:spPr>
          <a:xfrm>
            <a:off x="3474720" y="2295144"/>
            <a:ext cx="29718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3529584" y="2345436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 = null</a:t>
            </a:r>
            <a:endParaRPr lang="en-US" sz="1110" dirty="0"/>
          </a:p>
        </p:txBody>
      </p:sp>
      <p:sp>
        <p:nvSpPr>
          <p:cNvPr id="20" name="Shape 17"/>
          <p:cNvSpPr/>
          <p:nvPr/>
        </p:nvSpPr>
        <p:spPr>
          <a:xfrm>
            <a:off x="6446520" y="2295144"/>
            <a:ext cx="51206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6501384" y="234543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“missing” or request new measurement</a:t>
            </a:r>
            <a:endParaRPr lang="en-US" sz="1110" dirty="0"/>
          </a:p>
        </p:txBody>
      </p:sp>
      <p:sp>
        <p:nvSpPr>
          <p:cNvPr id="22" name="Shape 19"/>
          <p:cNvSpPr/>
          <p:nvPr/>
        </p:nvSpPr>
        <p:spPr>
          <a:xfrm>
            <a:off x="731520" y="2706624"/>
            <a:ext cx="27432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786384" y="275691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Impossible value</a:t>
            </a:r>
            <a:endParaRPr lang="en-US" sz="1110" dirty="0"/>
          </a:p>
        </p:txBody>
      </p:sp>
      <p:sp>
        <p:nvSpPr>
          <p:cNvPr id="24" name="Shape 21"/>
          <p:cNvSpPr/>
          <p:nvPr/>
        </p:nvSpPr>
        <p:spPr>
          <a:xfrm>
            <a:off x="3474720" y="2706624"/>
            <a:ext cx="2971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3529584" y="2756916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 = -5</a:t>
            </a:r>
            <a:endParaRPr lang="en-US" sz="1110" dirty="0"/>
          </a:p>
        </p:txBody>
      </p:sp>
      <p:sp>
        <p:nvSpPr>
          <p:cNvPr id="26" name="Shape 23"/>
          <p:cNvSpPr/>
          <p:nvPr/>
        </p:nvSpPr>
        <p:spPr>
          <a:xfrm>
            <a:off x="6446520" y="2706624"/>
            <a:ext cx="51206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6501384" y="275691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input and log error</a:t>
            </a:r>
            <a:endParaRPr lang="en-US" sz="1110" dirty="0"/>
          </a:p>
        </p:txBody>
      </p:sp>
      <p:sp>
        <p:nvSpPr>
          <p:cNvPr id="28" name="Shape 25"/>
          <p:cNvSpPr/>
          <p:nvPr/>
        </p:nvSpPr>
        <p:spPr>
          <a:xfrm>
            <a:off x="731520" y="3118104"/>
            <a:ext cx="27432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786384" y="316839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unit</a:t>
            </a:r>
            <a:endParaRPr lang="en-US" sz="1110" dirty="0"/>
          </a:p>
        </p:txBody>
      </p:sp>
      <p:sp>
        <p:nvSpPr>
          <p:cNvPr id="30" name="Shape 27"/>
          <p:cNvSpPr/>
          <p:nvPr/>
        </p:nvSpPr>
        <p:spPr>
          <a:xfrm>
            <a:off x="3474720" y="3118104"/>
            <a:ext cx="29718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8"/>
          <p:cNvSpPr/>
          <p:nvPr/>
        </p:nvSpPr>
        <p:spPr>
          <a:xfrm>
            <a:off x="3529584" y="3168396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mmol/L instead of mg/dL</a:t>
            </a:r>
            <a:endParaRPr lang="en-US" sz="1110" dirty="0"/>
          </a:p>
        </p:txBody>
      </p:sp>
      <p:sp>
        <p:nvSpPr>
          <p:cNvPr id="32" name="Shape 29"/>
          <p:cNvSpPr/>
          <p:nvPr/>
        </p:nvSpPr>
        <p:spPr>
          <a:xfrm>
            <a:off x="6446520" y="3118104"/>
            <a:ext cx="51206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6501384" y="316839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only if unit is known</a:t>
            </a:r>
            <a:endParaRPr lang="en-US" sz="1110" dirty="0"/>
          </a:p>
        </p:txBody>
      </p:sp>
      <p:sp>
        <p:nvSpPr>
          <p:cNvPr id="34" name="Shape 31"/>
          <p:cNvSpPr/>
          <p:nvPr/>
        </p:nvSpPr>
        <p:spPr>
          <a:xfrm>
            <a:off x="731520" y="3529584"/>
            <a:ext cx="27432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2"/>
          <p:cNvSpPr/>
          <p:nvPr/>
        </p:nvSpPr>
        <p:spPr>
          <a:xfrm>
            <a:off x="786384" y="357987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artifact</a:t>
            </a:r>
            <a:endParaRPr lang="en-US" sz="1110" dirty="0"/>
          </a:p>
        </p:txBody>
      </p:sp>
      <p:sp>
        <p:nvSpPr>
          <p:cNvPr id="36" name="Shape 33"/>
          <p:cNvSpPr/>
          <p:nvPr/>
        </p:nvSpPr>
        <p:spPr>
          <a:xfrm>
            <a:off x="3474720" y="3529584"/>
            <a:ext cx="2971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4"/>
          <p:cNvSpPr/>
          <p:nvPr/>
        </p:nvSpPr>
        <p:spPr>
          <a:xfrm>
            <a:off x="3529584" y="3579876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sudden unrealistic spike</a:t>
            </a:r>
            <a:endParaRPr lang="en-US" sz="1110" dirty="0"/>
          </a:p>
        </p:txBody>
      </p:sp>
      <p:sp>
        <p:nvSpPr>
          <p:cNvPr id="38" name="Shape 35"/>
          <p:cNvSpPr/>
          <p:nvPr/>
        </p:nvSpPr>
        <p:spPr>
          <a:xfrm>
            <a:off x="6446520" y="3529584"/>
            <a:ext cx="51206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6"/>
          <p:cNvSpPr/>
          <p:nvPr/>
        </p:nvSpPr>
        <p:spPr>
          <a:xfrm>
            <a:off x="6501384" y="357987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for review or smoothing</a:t>
            </a:r>
            <a:endParaRPr lang="en-US" sz="1110" dirty="0"/>
          </a:p>
        </p:txBody>
      </p:sp>
      <p:sp>
        <p:nvSpPr>
          <p:cNvPr id="40" name="Text 37"/>
          <p:cNvSpPr/>
          <p:nvPr/>
        </p:nvSpPr>
        <p:spPr>
          <a:xfrm>
            <a:off x="1371600" y="5303520"/>
            <a:ext cx="94183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1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medical informatics, data validation is part of the algorithmic responsibility.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MATTERS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 cases and boundary decisions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68680" y="1463040"/>
            <a:ext cx="3337560" cy="1152144"/>
          </a:xfrm>
          <a:prstGeom prst="roundRect">
            <a:avLst>
              <a:gd name="adj" fmla="val 4762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868680" y="1463040"/>
            <a:ext cx="73152" cy="1152144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1051560" y="16093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case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1560" y="192024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when glucose is exactly 70 or exactly 180?</a:t>
            </a:r>
            <a:endParaRPr lang="en-US" sz="1230" dirty="0"/>
          </a:p>
        </p:txBody>
      </p:sp>
      <p:sp>
        <p:nvSpPr>
          <p:cNvPr id="13" name="Shape 10"/>
          <p:cNvSpPr/>
          <p:nvPr/>
        </p:nvSpPr>
        <p:spPr>
          <a:xfrm>
            <a:off x="4462272" y="1463040"/>
            <a:ext cx="3337560" cy="1152144"/>
          </a:xfrm>
          <a:prstGeom prst="roundRect">
            <a:avLst>
              <a:gd name="adj" fmla="val 4762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4462272" y="1463040"/>
            <a:ext cx="73152" cy="1152144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4645152" y="16093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case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45152" y="192024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when the value is absent, delayed or unreadable?</a:t>
            </a:r>
            <a:endParaRPr lang="en-US" sz="123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337560" cy="1152144"/>
          </a:xfrm>
          <a:prstGeom prst="roundRect">
            <a:avLst>
              <a:gd name="adj" fmla="val 4762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8046720" y="1463040"/>
            <a:ext cx="73152" cy="1152144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8229600" y="16093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case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29600" y="192024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if the threshold should change for a specific protocol?</a:t>
            </a:r>
            <a:endParaRPr lang="en-US" sz="1230" dirty="0"/>
          </a:p>
        </p:txBody>
      </p:sp>
      <p:sp>
        <p:nvSpPr>
          <p:cNvPr id="21" name="Text 18"/>
          <p:cNvSpPr/>
          <p:nvPr/>
        </p:nvSpPr>
        <p:spPr>
          <a:xfrm>
            <a:off x="1051560" y="32735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355F"/>
                </a:solidFill>
              </a:rPr>
              <a:t>A precise algorithm should define behavior for normal cases and exceptional cases.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1600200" y="4160520"/>
            <a:ext cx="88696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≤ and ≥ carefully.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Decide how to handle null, non-numeric or impossible input.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assumptions so that future users understand the logic.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the algorithm with boundary and invalid values, not only typical examples.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BEFORE DEPLOYMENT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Correctness: does the algorithm solve the intended problem?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8680" y="1353312"/>
            <a:ext cx="5806440" cy="3886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Correctness means that for every valid input, the algorithm returns the expected output.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 the glucose classifier, correctness depends on the threshold definition.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 can test correctness using representative cases and boundary cases.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 healthcare systems, correctness also requires alignment with clinical assumptions and domain review.</a:t>
            </a:r>
            <a:endParaRPr lang="en-US" sz="2400" dirty="0"/>
          </a:p>
        </p:txBody>
      </p:sp>
      <p:pic>
        <p:nvPicPr>
          <p:cNvPr id="10" name="Image 1" descr="/mnt/data/a_clean_modern_vector_illustration_scene_of_a_h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536" y="1821300"/>
            <a:ext cx="4617720" cy="25988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5266944"/>
            <a:ext cx="5577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51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algorithm can be syntactically valid and still clinically inappropriate if the problem was formulated incorrectly.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INTUITION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Efficiency: why we already care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" y="129844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algorithm that works on one value may become impractical on millions of measurements.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31520" y="1828800"/>
            <a:ext cx="228600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786384" y="18790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017520" y="1828800"/>
            <a:ext cx="416052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3072384" y="1879092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78040" y="1828800"/>
            <a:ext cx="438912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7232904" y="1879092"/>
            <a:ext cx="427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Algorithmic concern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2240280"/>
            <a:ext cx="22860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786384" y="229057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value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017520" y="2240280"/>
            <a:ext cx="416052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3072384" y="2290572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glucose value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178040" y="2240280"/>
            <a:ext cx="438912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7232904" y="2290572"/>
            <a:ext cx="427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comparison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" y="2651760"/>
            <a:ext cx="2286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786384" y="270205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patient, one day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017520" y="2651760"/>
            <a:ext cx="41605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3072384" y="2702052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288 CGM values at 5-minute intervals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178040" y="2651760"/>
            <a:ext cx="43891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7232904" y="2702052"/>
            <a:ext cx="427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 over a list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31520" y="3063240"/>
            <a:ext cx="22860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786384" y="311353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hospital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017520" y="3063240"/>
            <a:ext cx="416052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8"/>
          <p:cNvSpPr/>
          <p:nvPr/>
        </p:nvSpPr>
        <p:spPr>
          <a:xfrm>
            <a:off x="3072384" y="3113532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Thousands of patients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178040" y="3063240"/>
            <a:ext cx="438912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7232904" y="3113532"/>
            <a:ext cx="427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indexing, database access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31520" y="3474720"/>
            <a:ext cx="2286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2"/>
          <p:cNvSpPr/>
          <p:nvPr/>
        </p:nvSpPr>
        <p:spPr>
          <a:xfrm>
            <a:off x="786384" y="352501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network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017520" y="3474720"/>
            <a:ext cx="41605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4"/>
          <p:cNvSpPr/>
          <p:nvPr/>
        </p:nvSpPr>
        <p:spPr>
          <a:xfrm>
            <a:off x="3072384" y="3525012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Millions of records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178040" y="3474720"/>
            <a:ext cx="43891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6"/>
          <p:cNvSpPr/>
          <p:nvPr/>
        </p:nvSpPr>
        <p:spPr>
          <a:xfrm>
            <a:off x="7232904" y="3525012"/>
            <a:ext cx="427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structures and scalable algorithms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828800" y="5257800"/>
            <a:ext cx="8503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E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in the course, we will formalize this using computational complexity.</a:t>
            </a:r>
            <a:endParaRPr lang="en-US" sz="1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ARE NOT NEUTRAL OBJECTS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 responsibility and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8680" y="1353312"/>
            <a:ext cx="589788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Algorithms encode assumptions: thresholds, definitions, missing-value rules and decision policies.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same output can have different meanings depending on the patient, device and clinical context.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medical algorithm should be transparent enough to be reviewed by domain experts.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Testing must include normal cases, boundary cases, invalid data and realistic workflows.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goal is not only to “make it run”; the goal is to make it reliable, explainable and useful.</a:t>
            </a:r>
            <a:endParaRPr lang="en-US" sz="2000" dirty="0"/>
          </a:p>
        </p:txBody>
      </p:sp>
      <p:pic>
        <p:nvPicPr>
          <p:cNvPr id="10" name="Image 1" descr="/mnt/data/wide_clean_medical_biotech_concept_illustration_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2159283"/>
            <a:ext cx="4690872" cy="264001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 ALGORITHM TOGETHER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classroom activity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8680" y="1261872"/>
            <a:ext cx="10378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 given a list of glucose measurements for one patient, return the number of low values and whether at least one alert is needed.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2148840"/>
            <a:ext cx="3017520" cy="1051560"/>
          </a:xfrm>
          <a:prstGeom prst="roundRect">
            <a:avLst>
              <a:gd name="adj" fmla="val 5217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914400" y="2148840"/>
            <a:ext cx="73152" cy="1051560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097280" y="229514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2606040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input structure.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of glucose values.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4572000" y="2148840"/>
            <a:ext cx="3017520" cy="1051560"/>
          </a:xfrm>
          <a:prstGeom prst="roundRect">
            <a:avLst>
              <a:gd name="adj" fmla="val 5217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4572000" y="2148840"/>
            <a:ext cx="73152" cy="1051560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4754880" y="229514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54880" y="2606040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rule.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if value &lt; 70.</a:t>
            </a:r>
            <a:endParaRPr lang="en-US" sz="1230" dirty="0"/>
          </a:p>
        </p:txBody>
      </p:sp>
      <p:sp>
        <p:nvSpPr>
          <p:cNvPr id="18" name="Shape 15"/>
          <p:cNvSpPr/>
          <p:nvPr/>
        </p:nvSpPr>
        <p:spPr>
          <a:xfrm>
            <a:off x="8229600" y="2148840"/>
            <a:ext cx="3017520" cy="1051560"/>
          </a:xfrm>
          <a:prstGeom prst="roundRect">
            <a:avLst>
              <a:gd name="adj" fmla="val 5217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8229600" y="2148840"/>
            <a:ext cx="73152" cy="1051560"/>
          </a:xfrm>
          <a:prstGeom prst="rect">
            <a:avLst/>
          </a:prstGeom>
          <a:solidFill>
            <a:srgbClr val="155C99"/>
          </a:solidFill>
          <a:ln w="12700">
            <a:solidFill>
              <a:srgbClr val="155C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8412480" y="229514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0" y="2606040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output.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count_low and alert flag.</a:t>
            </a:r>
            <a:endParaRPr lang="en-US" sz="1230" dirty="0"/>
          </a:p>
        </p:txBody>
      </p:sp>
      <p:sp>
        <p:nvSpPr>
          <p:cNvPr id="22" name="Text 19"/>
          <p:cNvSpPr/>
          <p:nvPr/>
        </p:nvSpPr>
        <p:spPr>
          <a:xfrm>
            <a:off x="1143000" y="3977640"/>
            <a:ext cx="9509760" cy="11704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 in pairs for 8 minutes.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Write pseudocode, not Python code.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Include at least one edge case.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 ready to explain your input and output choices.</a:t>
            </a:r>
            <a:endParaRPr lang="en-US" sz="16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OR PAIR EXERCISE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Mini-lab prompt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14400" y="13258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355F"/>
                </a:solidFill>
              </a:rPr>
              <a:t>Design a simple algorithm that receives one patient record and returns whether the patient should be flagged for review.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987552" y="2240280"/>
            <a:ext cx="237744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1042416" y="22905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field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64992" y="2240280"/>
            <a:ext cx="2286000" cy="411480"/>
          </a:xfrm>
          <a:prstGeom prst="rect">
            <a:avLst/>
          </a:prstGeom>
          <a:solidFill>
            <a:srgbClr val="155C99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3419856" y="229057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value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87552" y="2651760"/>
            <a:ext cx="23774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1042416" y="270205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64992" y="2651760"/>
            <a:ext cx="22860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3419856" y="270205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87552" y="3063240"/>
            <a:ext cx="23774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1042416" y="311353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latest_glucose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364992" y="3063240"/>
            <a:ext cx="2286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3419856" y="311353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185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87552" y="3474720"/>
            <a:ext cx="237744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1042416" y="352501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heart_rate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364992" y="3474720"/>
            <a:ext cx="2286000" cy="411480"/>
          </a:xfrm>
          <a:prstGeom prst="rect">
            <a:avLst/>
          </a:prstGeom>
          <a:solidFill>
            <a:srgbClr val="F7FAFE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3419856" y="352501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105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87552" y="3886200"/>
            <a:ext cx="23774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1042416" y="393649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missing_values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364992" y="3886200"/>
            <a:ext cx="2286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3419856" y="39364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46520" y="2240280"/>
            <a:ext cx="452628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at least two rules.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Return one of: “review” or “no review”.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Write the pseudocode clearly.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Specify what happens if a value is missing.</a:t>
            </a:r>
            <a:endParaRPr lang="en-US" sz="1680" dirty="0"/>
          </a:p>
        </p:txBody>
      </p:sp>
      <p:sp>
        <p:nvSpPr>
          <p:cNvPr id="31" name="Text 28"/>
          <p:cNvSpPr/>
          <p:nvPr/>
        </p:nvSpPr>
        <p:spPr>
          <a:xfrm>
            <a:off x="1371600" y="5321808"/>
            <a:ext cx="9509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B51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criterion: clarity of inputs, rules, outputs and handling of edge cases.</a:t>
            </a:r>
            <a:endParaRPr lang="en-US" sz="15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SYNTHESIS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9210">
            <a:solidFill>
              <a:srgbClr val="155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template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51560" y="1417320"/>
            <a:ext cx="996696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 algorithm is a finite, precise and executable procedure for solving a problem.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Inputs, processing and outputs must be explicitly defined.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program is an implementation; the algorithm is the underlying logic.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structures determine how biomedical information is organized and accessed.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Even a simple glucose classifier requires assumptions, thresholds, validation and edge-case handling.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51560" y="5321808"/>
            <a:ext cx="99669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1143000" y="5577840"/>
            <a:ext cx="9829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E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pseudocode, flowcharts and basic programming constructs in greater detail.</a:t>
            </a:r>
            <a:endParaRPr lang="en-US" sz="15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8229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55C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 and questions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896112" y="1714500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E6A7D"/>
                </a:solidFill>
              </a:rPr>
              <a:t>Before the next lesson, think about a clinical or biomedical task that could be described as an algorithm.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32688" y="3463290"/>
            <a:ext cx="5550408" cy="822960"/>
          </a:xfrm>
          <a:prstGeom prst="roundRect">
            <a:avLst>
              <a:gd name="adj" fmla="val 6667"/>
            </a:avLst>
          </a:prstGeom>
          <a:solidFill>
            <a:srgbClr val="F8FBFE"/>
          </a:solidFill>
          <a:ln w="10160">
            <a:solidFill>
              <a:srgbClr val="C8D7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940051" y="3463290"/>
            <a:ext cx="73152" cy="822960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1078992" y="346329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 task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8992" y="381990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3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Write: input, processing rule and output for your chosen task.</a:t>
            </a:r>
            <a:endParaRPr lang="en-US" sz="1230" dirty="0"/>
          </a:p>
        </p:txBody>
      </p:sp>
      <p:pic>
        <p:nvPicPr>
          <p:cNvPr id="9" name="Image 1" descr="/mnt/data/template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352" y="642480"/>
            <a:ext cx="3745992" cy="49634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6112" y="61722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597"/>
                </a:solidFill>
              </a:rPr>
              <a:t>Lesson 1 · Introduction to algorithms and data structures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3486</Words>
  <Application>Microsoft Macintosh PowerPoint</Application>
  <PresentationFormat>Widescreen</PresentationFormat>
  <Paragraphs>556</Paragraphs>
  <Slides>34</Slides>
  <Notes>34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Aptos Mono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Università di Pavia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— Introduction to Algorithms and Data Structures</dc:title>
  <dc:subject>Algorithms and Data Structures for Medical Informatics</dc:subject>
  <dc:creator>Simone Rancati</dc:creator>
  <cp:lastModifiedBy>RANCATI SIMONE</cp:lastModifiedBy>
  <cp:revision>5</cp:revision>
  <dcterms:created xsi:type="dcterms:W3CDTF">2026-08-18T10:10:30Z</dcterms:created>
  <dcterms:modified xsi:type="dcterms:W3CDTF">2026-09-13T08:34:02Z</dcterms:modified>
</cp:coreProperties>
</file>