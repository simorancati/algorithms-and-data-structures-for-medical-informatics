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91"/>
  </p:normalViewPr>
  <p:slideViewPr>
    <p:cSldViewPr snapToGrid="0" snapToObjects="1">
      <p:cViewPr varScale="1">
        <p:scale>
          <a:sx n="103" d="100"/>
          <a:sy n="103" d="100"/>
        </p:scale>
        <p:origin x="800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731520"/>
            <a:ext cx="530352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Algorithms and Data Structures
for Medical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41068"/>
            <a:ext cx="6217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dirty="0">
                <a:solidFill>
                  <a:srgbClr val="276FBF"/>
                </a:solidFill>
                <a:latin typeface="Aptos Display"/>
              </a:rPr>
              <a:t>Lesson 16 — Medical Imaging, Genomics and Multidimensional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922166"/>
            <a:ext cx="6126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dirty="0">
                <a:solidFill>
                  <a:srgbClr val="5E778F"/>
                </a:solidFill>
                <a:latin typeface="Aptos"/>
              </a:rPr>
              <a:t>Pixels, voxels, matrices, tensors, DICOM, DNA/RNA and sequence representation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056632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dirty="0">
                <a:solidFill>
                  <a:srgbClr val="233142"/>
                </a:solidFill>
                <a:latin typeface="Aptos"/>
              </a:rPr>
              <a:t>ITS · Medical Informatics
05 October 2026 · 11:30–13:30
Prof. Simone </a:t>
            </a:r>
            <a:r>
              <a:rPr sz="1600" b="0" dirty="0" err="1">
                <a:solidFill>
                  <a:srgbClr val="233142"/>
                </a:solidFill>
                <a:latin typeface="Aptos"/>
              </a:rPr>
              <a:t>Rancati</a:t>
            </a:r>
            <a:r>
              <a:rPr sz="1600" b="0" dirty="0">
                <a:solidFill>
                  <a:srgbClr val="233142"/>
                </a:solidFill>
                <a:latin typeface="Aptos"/>
              </a:rPr>
              <a:t>, PhD</a:t>
            </a:r>
          </a:p>
        </p:txBody>
      </p:sp>
      <p:pic>
        <p:nvPicPr>
          <p:cNvPr id="7" name="Picture 6" descr="a_high_tech_medical_biotech_abstract_illustration.png"/>
          <p:cNvPicPr>
            <a:picLocks noChangeAspect="1"/>
          </p:cNvPicPr>
          <p:nvPr/>
        </p:nvPicPr>
        <p:blipFill>
          <a:blip r:embed="rId2"/>
          <a:srcRect l="44465"/>
          <a:stretch>
            <a:fillRect/>
          </a:stretch>
        </p:blipFill>
        <p:spPr>
          <a:xfrm>
            <a:off x="7272306" y="1004610"/>
            <a:ext cx="4486878" cy="45470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LESSON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Lesson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1. Biomedical data beyond tables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42773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Images and sequences as structured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2. Medical imaging basics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43539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Pixels, voxels, matrices and DICOM.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3. Multidimensional structures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486549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Arrays, tensors and channels.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4. Genomics basics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DNA, RNA and sequence structure.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5. Sequence representation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74595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Strings, one-hot encoding and k-</a:t>
            </a:r>
            <a:r>
              <a:rPr dirty="0" err="1"/>
              <a:t>mers</a:t>
            </a:r>
            <a:r>
              <a:rPr dirty="0"/>
              <a:t>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200400"/>
            <a:ext cx="2907792" cy="987552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918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6. Practice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47872"/>
            <a:ext cx="2651760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Examples, exercises and recap.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AT THE END OF THE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Learning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1847088"/>
            <a:ext cx="7315200" cy="379591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how medical images can be represented as matrices or higher-dimensional arrays.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Distinguish pixels from voxels and 2D from 3D biomedical imaging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the role of DICOM in medical imaging.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Describe DNA and RNA as sequences of symbols.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Explain common representations of biological sequences for computational analysis.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dirty="0"/>
              <a:t>Connect matrices, tensors and sequences to medical-informatics applications.</a:t>
            </a:r>
          </a:p>
        </p:txBody>
      </p:sp>
      <p:pic>
        <p:nvPicPr>
          <p:cNvPr id="7" name="Picture 6" descr="wide_clean_medical_biotech_concept_illustration_on.png"/>
          <p:cNvPicPr>
            <a:picLocks noChangeAspect="1"/>
          </p:cNvPicPr>
          <p:nvPr/>
        </p:nvPicPr>
        <p:blipFill>
          <a:blip r:embed="rId2"/>
          <a:srcRect l="47883"/>
          <a:stretch>
            <a:fillRect/>
          </a:stretch>
        </p:blipFill>
        <p:spPr>
          <a:xfrm>
            <a:off x="8244040" y="1740998"/>
            <a:ext cx="3515144" cy="37959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Biomedical data can have rich internal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Not all biomedical data are simple rows and columns.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Medical images have spatial structure: neighboring values correspond to neighboring locations.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Genomic data have sequential structure: order of nucleotides is essential.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To analyze these data correctly, we need suitable data structures and representations.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CONCEPTUAL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Three large families of structured biomedical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Tabular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Rows and columns, e.g. patient demographics and lab values.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Image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2D or 3D arrays, e.g. X-ray, CT, MRI and microscopy.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28800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2024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Sequence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176272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Ordered symbols, e.g. DNA, RNA and proteins.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Multivariate signals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Time × channel data, e.g. ECG or EEG.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Tensors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General multidimensional arrays used in modeling.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2724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186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Metadata-rich objects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47472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Files that combine data values and descriptive fields.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digital medical image?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digital image is a structured collection of values arranged on a grid.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value corresponds to a spatial location.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simplest case is a 2D image, represented as a matrix.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Medical imaging examples include X-ray, ultrasound, CT, MRI and microscopy.</a:t>
            </a:r>
          </a:p>
        </p:txBody>
      </p:sp>
      <p:grpSp>
        <p:nvGrpSpPr>
          <p:cNvPr id="74" name="Gruppo 73">
            <a:extLst>
              <a:ext uri="{FF2B5EF4-FFF2-40B4-BE49-F238E27FC236}">
                <a16:creationId xmlns:a16="http://schemas.microsoft.com/office/drawing/2014/main" id="{9B2A83C9-9AA3-850F-E1FB-F3C25CDE3475}"/>
              </a:ext>
            </a:extLst>
          </p:cNvPr>
          <p:cNvGrpSpPr/>
          <p:nvPr/>
        </p:nvGrpSpPr>
        <p:grpSpPr>
          <a:xfrm>
            <a:off x="7114032" y="1847087"/>
            <a:ext cx="2414016" cy="2066545"/>
            <a:chOff x="6492240" y="1847087"/>
            <a:chExt cx="2414016" cy="2066545"/>
          </a:xfrm>
        </p:grpSpPr>
        <p:grpSp>
          <p:nvGrpSpPr>
            <p:cNvPr id="73" name="Gruppo 72">
              <a:extLst>
                <a:ext uri="{FF2B5EF4-FFF2-40B4-BE49-F238E27FC236}">
                  <a16:creationId xmlns:a16="http://schemas.microsoft.com/office/drawing/2014/main" id="{DCA7B626-11C4-D84F-2AD6-B131AA57A6B0}"/>
                </a:ext>
              </a:extLst>
            </p:cNvPr>
            <p:cNvGrpSpPr/>
            <p:nvPr/>
          </p:nvGrpSpPr>
          <p:grpSpPr>
            <a:xfrm>
              <a:off x="6492240" y="1847087"/>
              <a:ext cx="2414016" cy="2066545"/>
              <a:chOff x="6492240" y="1847087"/>
              <a:chExt cx="2414016" cy="2066545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492240" y="1847087"/>
                <a:ext cx="2414016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Example pixel grid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6492240" y="2103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6793992" y="2103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095744" y="2103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397496" y="2103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699248" y="2103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8001000" y="2103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8302752" y="2103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8604504" y="2103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6492240" y="2331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6793992" y="2331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095744" y="2331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397496" y="2331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7699248" y="2331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8001000" y="2331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8302752" y="2331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8604504" y="2331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6492240" y="2560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793992" y="2560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7095744" y="2560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7397496" y="2560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7699248" y="2560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8001000" y="2560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8302752" y="2560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8604504" y="2560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6492240" y="27889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6793992" y="27889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7095744" y="27889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7397496" y="27889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7699248" y="27889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8001000" y="27889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8302752" y="27889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8604504" y="27889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6492240" y="30175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6793992" y="30175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7095744" y="30175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7397496" y="30175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7699248" y="30175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8001000" y="30175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8302752" y="30175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8604504" y="30175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6492240" y="3246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6793992" y="3246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7095744" y="3246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7397496" y="3246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7699248" y="3246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8001000" y="3246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8302752" y="32461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54"/>
              <p:cNvSpPr/>
              <p:nvPr/>
            </p:nvSpPr>
            <p:spPr>
              <a:xfrm>
                <a:off x="8604504" y="32461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ounded Rectangle 55"/>
              <p:cNvSpPr/>
              <p:nvPr/>
            </p:nvSpPr>
            <p:spPr>
              <a:xfrm>
                <a:off x="6492240" y="3474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ounded Rectangle 56"/>
              <p:cNvSpPr/>
              <p:nvPr/>
            </p:nvSpPr>
            <p:spPr>
              <a:xfrm>
                <a:off x="6793992" y="3474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57"/>
              <p:cNvSpPr/>
              <p:nvPr/>
            </p:nvSpPr>
            <p:spPr>
              <a:xfrm>
                <a:off x="7095744" y="3474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7397496" y="3474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7699248" y="3474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Rounded Rectangle 60"/>
              <p:cNvSpPr/>
              <p:nvPr/>
            </p:nvSpPr>
            <p:spPr>
              <a:xfrm>
                <a:off x="8001000" y="3474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ounded Rectangle 61"/>
              <p:cNvSpPr/>
              <p:nvPr/>
            </p:nvSpPr>
            <p:spPr>
              <a:xfrm>
                <a:off x="8302752" y="34747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8604504" y="34747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6492240" y="3703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Rounded Rectangle 64"/>
              <p:cNvSpPr/>
              <p:nvPr/>
            </p:nvSpPr>
            <p:spPr>
              <a:xfrm>
                <a:off x="6793992" y="3703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Rounded Rectangle 65"/>
              <p:cNvSpPr/>
              <p:nvPr/>
            </p:nvSpPr>
            <p:spPr>
              <a:xfrm>
                <a:off x="7095744" y="3703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Rounded Rectangle 66"/>
              <p:cNvSpPr/>
              <p:nvPr/>
            </p:nvSpPr>
            <p:spPr>
              <a:xfrm>
                <a:off x="7397496" y="3703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7699248" y="3703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8001000" y="3703320"/>
                <a:ext cx="283464" cy="210312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Rounded Rectangle 69"/>
              <p:cNvSpPr/>
              <p:nvPr/>
            </p:nvSpPr>
            <p:spPr>
              <a:xfrm>
                <a:off x="8302752" y="3703320"/>
                <a:ext cx="283464" cy="21031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71" name="Rounded Rectangle 70"/>
            <p:cNvSpPr/>
            <p:nvPr/>
          </p:nvSpPr>
          <p:spPr>
            <a:xfrm>
              <a:off x="8604504" y="3703320"/>
              <a:ext cx="283464" cy="210312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72" name="TextBox 71"/>
          <p:cNvSpPr txBox="1"/>
          <p:nvPr/>
        </p:nvSpPr>
        <p:spPr>
          <a:xfrm>
            <a:off x="6400800" y="43434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5E778F"/>
                </a:solidFill>
                <a:latin typeface="Aptos"/>
              </a:rPr>
              <a:t>Each cell stores an intensity value.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Pixel: the fundamental unit of a 2D image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pixel is a picture element.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represents one small area of a 2D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pixel usually stores an intensity or color-related value.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medical images, pixel values often correspond to meaningful physical or biological information.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2D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image[row, column]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value per image location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Chest X-ray pixel intensity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Voxel: the fundamental unit of a 3D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voxel is a volume element, the 3D analogue of a pixel.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represents a small cube or rectangular element in a 3D image volume.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CT and MRI often produce stacks of slices that can be combined into a voxel-based volume.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Voxels allow analysis of anatomy in three dimensions.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3D representation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volume[x, y, z]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Interpretation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One value per spatial cube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CT scan intensity per voxel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SPATIAL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2D images vs 3D volumes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2D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0624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Represented as a matrix.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Two spatial dimensions: height and width.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X-ray or histology image.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3D volume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Represented as a 3D array.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Three spatial dimensions: height, width and depth.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Example: CT or MRI.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A stack of slices can be viewed as a single volumetric object.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ARRAY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Images as matrices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grayscale image can be represented as a matrix of numeric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Rows and columns encode spatial position.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matrix structure is fundamental for storage, processing and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Image operations such as filtering and segmentation often manipulate these matrices.</a:t>
            </a:r>
          </a:p>
        </p:txBody>
      </p:sp>
      <p:grpSp>
        <p:nvGrpSpPr>
          <p:cNvPr id="51" name="Gruppo 50">
            <a:extLst>
              <a:ext uri="{FF2B5EF4-FFF2-40B4-BE49-F238E27FC236}">
                <a16:creationId xmlns:a16="http://schemas.microsoft.com/office/drawing/2014/main" id="{49A5B439-773E-042B-C236-DCD7D1A9C7B9}"/>
              </a:ext>
            </a:extLst>
          </p:cNvPr>
          <p:cNvGrpSpPr/>
          <p:nvPr/>
        </p:nvGrpSpPr>
        <p:grpSpPr>
          <a:xfrm>
            <a:off x="7274422" y="2078228"/>
            <a:ext cx="3661307" cy="3054837"/>
            <a:chOff x="6446520" y="1801368"/>
            <a:chExt cx="2432304" cy="1938528"/>
          </a:xfrm>
        </p:grpSpPr>
        <p:grpSp>
          <p:nvGrpSpPr>
            <p:cNvPr id="50" name="Gruppo 49">
              <a:extLst>
                <a:ext uri="{FF2B5EF4-FFF2-40B4-BE49-F238E27FC236}">
                  <a16:creationId xmlns:a16="http://schemas.microsoft.com/office/drawing/2014/main" id="{34F03BD4-08D9-789D-55E4-8FB526F8EDA1}"/>
                </a:ext>
              </a:extLst>
            </p:cNvPr>
            <p:cNvGrpSpPr/>
            <p:nvPr/>
          </p:nvGrpSpPr>
          <p:grpSpPr>
            <a:xfrm>
              <a:off x="6446520" y="1801368"/>
              <a:ext cx="2432304" cy="1938528"/>
              <a:chOff x="6446520" y="1801368"/>
              <a:chExt cx="2432304" cy="1938528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446520" y="1801368"/>
                <a:ext cx="2432304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Matrix representation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6446520" y="205740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6793992" y="205740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141464" y="205740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488936" y="205740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836408" y="205740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8183879" y="205740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8531352" y="205740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6446520" y="2340864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6793992" y="2340864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7141464" y="2340864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488936" y="2340864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836408" y="2340864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8183879" y="2340864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8531352" y="2340864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6446520" y="2624328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6793992" y="2624328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7141464" y="2624328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7488936" y="2624328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7836408" y="2624328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8183879" y="2624328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8531352" y="2624328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6446520" y="2907791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6793992" y="2907791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7141464" y="2907791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7488936" y="2907791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7836408" y="2907791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8183879" y="2907791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8531352" y="2907791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6446520" y="3191256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6793992" y="3191256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7141464" y="3191256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7488936" y="3191256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7836408" y="3191256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8183879" y="3191256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8531352" y="3191256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6446520" y="347472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6793992" y="347472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7141464" y="347472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7488936" y="347472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7836408" y="3474720"/>
                <a:ext cx="329184" cy="265176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8183879" y="3474720"/>
                <a:ext cx="329184" cy="265176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49" name="Rounded Rectangle 48"/>
            <p:cNvSpPr/>
            <p:nvPr/>
          </p:nvSpPr>
          <p:spPr>
            <a:xfrm>
              <a:off x="8531352" y="3474720"/>
              <a:ext cx="329184" cy="265176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ARRAY 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Color images and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Some images have more than one value per spatial location.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example, standard RGB images have three channels: red, green and blue.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biomedical contexts, channels may correspond to stains, modalities or acquisition bands.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adds an extra dimension to the data structure.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Grayscale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height × width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Color / multichannel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height × width × channels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MULTIDIMENSIONAL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a tensor?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987549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tensor is a general multidimensional array.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scalar is 0D, a vector is 1D, a matrix is 2D, and higher-order arrays are also tensors.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In machine learning, tensors are standard containers for images, signals and batches.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word tensor here usually refers to the data structure rather than advanced mathematics.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MULTIDIMENSIONAL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scalar to tensor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691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Scalar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679191"/>
            <a:ext cx="14356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single value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331720"/>
            <a:ext cx="1691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96265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Vector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62656" y="2679191"/>
            <a:ext cx="14356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1D array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00600" y="2331720"/>
            <a:ext cx="1691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2861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Matrix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8616" y="2679191"/>
            <a:ext cx="14356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2D array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766559" y="2331720"/>
            <a:ext cx="1691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94575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3D array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94575" y="2679191"/>
            <a:ext cx="14356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volume or multichannel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19" y="2331720"/>
            <a:ext cx="1691640" cy="114300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60536" y="2423160"/>
            <a:ext cx="143560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Tensor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0536" y="2679191"/>
            <a:ext cx="1435608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t>general n-dimensional array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160520"/>
            <a:ext cx="9418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E778F"/>
                </a:solidFill>
                <a:latin typeface="Aptos"/>
              </a:rPr>
              <a:t>This progression is central for understanding biomedical data in modern computing.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Typical tensor shapes in biomedical applications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9264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Single grayscale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 × W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370832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Single color image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70832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 × W × 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44384" y="1874519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0" y="1965960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CT volume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2221991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 × W × 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69264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Batch of images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N × H × W × 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42816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370832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Video / dynamic imaging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0832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T × H × W × 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44384" y="3172968"/>
            <a:ext cx="2907792" cy="9326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0" y="326440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Multichannel biomedical volume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520439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H × W × D × 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What is DICOM?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DICOM stands for Digital Imaging and Communications in Medicine.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a widely used standard for storing, transmitting and managing medical images.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DICOM object typically contains both image data and metadata.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DICOM enables interoperability across imaging devices and clinical systems.</a:t>
            </a:r>
          </a:p>
        </p:txBody>
      </p:sp>
      <p:pic>
        <p:nvPicPr>
          <p:cNvPr id="7" name="Picture 6" descr="a_clean_modern_vector_style_medical_healthcare_in.png"/>
          <p:cNvPicPr>
            <a:picLocks noChangeAspect="1"/>
          </p:cNvPicPr>
          <p:nvPr/>
        </p:nvPicPr>
        <p:blipFill>
          <a:blip r:embed="rId2"/>
          <a:srcRect l="47004"/>
          <a:stretch>
            <a:fillRect/>
          </a:stretch>
        </p:blipFill>
        <p:spPr>
          <a:xfrm>
            <a:off x="7080421" y="1758188"/>
            <a:ext cx="3744098" cy="397606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DICOM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Standardization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Images and metadata follow a common format.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74519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6596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Interoperability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221991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Different systems can exchange imaging studies.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Metadata-rich structure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Patient, study, modality and acquisition information are included.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72968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6440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Clinical workflow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520439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PACS and radiology systems rely on it.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MEDICAL IMAGING INFORMATICS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Typical DICOM metadata fields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50292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8828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Examples of metadata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389120" cy="171399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dirty="0"/>
              <a:t>Patient identifier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dirty="0"/>
              <a:t>Study and series identifiers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dirty="0"/>
              <a:t>Acquisition date and time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dirty="0"/>
              <a:t>Modality (CT, MRI, X-ray, Ultrasound, ...)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700">
                <a:solidFill>
                  <a:srgbClr val="233142"/>
                </a:solidFill>
                <a:latin typeface="Aptos"/>
              </a:defRPr>
            </a:pPr>
            <a:r>
              <a:rPr dirty="0"/>
              <a:t>Image dimensions and pixel spacing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Key message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3840480" cy="1311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A medical image file is not only an image.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It is also a structured information object.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IMAGING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scanner to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331720"/>
            <a:ext cx="1783080" cy="10972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2423160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Acquisition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679191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t>Image captured by a medical device.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2331720"/>
            <a:ext cx="1783080" cy="10972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08376" y="2423160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Storage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08376" y="2679191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t>Saved in a structured format such as DICOM.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92040" y="2331720"/>
            <a:ext cx="1783080" cy="10972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0056" y="2423160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Archiving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0056" y="2679191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t>Managed by hospital imaging infrastructure.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2331720"/>
            <a:ext cx="1783080" cy="10972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031736" y="2423160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31736" y="2679191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t>Filtering, reconstruction, segmentation or measurement.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2331720"/>
            <a:ext cx="1783080" cy="109728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43416" y="2423160"/>
            <a:ext cx="15270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D3161"/>
                </a:solidFill>
                <a:latin typeface="Aptos"/>
              </a:rPr>
              <a:t>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416" y="2679191"/>
            <a:ext cx="15270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233142"/>
                </a:solidFill>
                <a:latin typeface="Aptos"/>
              </a:defRPr>
            </a:pPr>
            <a:r>
              <a:t>Clinical interpretation or AI-based modeling.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GENOMICS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DNA as a biological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DNA is a sequence composed of four nucleotides: A, C, G and 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Its informational content depends on the order of these symbols.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Computationally, DNA can be treated as a string over a four-letter alphabet.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Genomic analysis often requires sequence storage, comparison and encoding.</a:t>
            </a:r>
          </a:p>
        </p:txBody>
      </p: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3C5F8348-681E-0F4C-538D-8BE728384D78}"/>
              </a:ext>
            </a:extLst>
          </p:cNvPr>
          <p:cNvGrpSpPr/>
          <p:nvPr/>
        </p:nvGrpSpPr>
        <p:grpSpPr>
          <a:xfrm>
            <a:off x="6446520" y="2377440"/>
            <a:ext cx="5312664" cy="502920"/>
            <a:chOff x="6446520" y="2468880"/>
            <a:chExt cx="6254496" cy="438912"/>
          </a:xfrm>
        </p:grpSpPr>
        <p:sp>
          <p:nvSpPr>
            <p:cNvPr id="7" name="Rounded Rectangle 6"/>
            <p:cNvSpPr/>
            <p:nvPr/>
          </p:nvSpPr>
          <p:spPr>
            <a:xfrm>
              <a:off x="64465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5745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A</a:t>
              </a:r>
            </a:p>
          </p:txBody>
        </p:sp>
        <p:cxnSp>
          <p:nvCxnSpPr>
            <p:cNvPr id="9" name="Connector 8"/>
            <p:cNvCxnSpPr/>
            <p:nvPr/>
          </p:nvCxnSpPr>
          <p:spPr>
            <a:xfrm>
              <a:off x="72146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ounded Rectangle 9"/>
            <p:cNvSpPr/>
            <p:nvPr/>
          </p:nvSpPr>
          <p:spPr>
            <a:xfrm>
              <a:off x="73609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889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C</a:t>
              </a:r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81290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ounded Rectangle 12"/>
            <p:cNvSpPr/>
            <p:nvPr/>
          </p:nvSpPr>
          <p:spPr>
            <a:xfrm>
              <a:off x="82753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84033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G</a:t>
              </a:r>
            </a:p>
          </p:txBody>
        </p:sp>
        <p:cxnSp>
          <p:nvCxnSpPr>
            <p:cNvPr id="15" name="Connector 14"/>
            <p:cNvCxnSpPr/>
            <p:nvPr/>
          </p:nvCxnSpPr>
          <p:spPr>
            <a:xfrm>
              <a:off x="90434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Rounded Rectangle 15"/>
            <p:cNvSpPr/>
            <p:nvPr/>
          </p:nvSpPr>
          <p:spPr>
            <a:xfrm>
              <a:off x="91897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93177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T</a:t>
              </a:r>
            </a:p>
          </p:txBody>
        </p:sp>
        <p:cxnSp>
          <p:nvCxnSpPr>
            <p:cNvPr id="18" name="Connector 17"/>
            <p:cNvCxnSpPr/>
            <p:nvPr/>
          </p:nvCxnSpPr>
          <p:spPr>
            <a:xfrm>
              <a:off x="99578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Rounded Rectangle 18"/>
            <p:cNvSpPr/>
            <p:nvPr/>
          </p:nvSpPr>
          <p:spPr>
            <a:xfrm>
              <a:off x="101041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102321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A</a:t>
              </a:r>
            </a:p>
          </p:txBody>
        </p:sp>
        <p:cxnSp>
          <p:nvCxnSpPr>
            <p:cNvPr id="21" name="Connector 20"/>
            <p:cNvCxnSpPr/>
            <p:nvPr/>
          </p:nvCxnSpPr>
          <p:spPr>
            <a:xfrm>
              <a:off x="108722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110185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111465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A</a:t>
              </a:r>
            </a:p>
          </p:txBody>
        </p:sp>
        <p:cxnSp>
          <p:nvCxnSpPr>
            <p:cNvPr id="24" name="Connector 23"/>
            <p:cNvCxnSpPr/>
            <p:nvPr/>
          </p:nvCxnSpPr>
          <p:spPr>
            <a:xfrm>
              <a:off x="11786616" y="2688336"/>
              <a:ext cx="146304" cy="0"/>
            </a:xfrm>
            <a:prstGeom prst="line">
              <a:avLst/>
            </a:prstGeom>
            <a:ln w="17780">
              <a:solidFill>
                <a:srgbClr val="34ADC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Rounded Rectangle 24"/>
            <p:cNvSpPr/>
            <p:nvPr/>
          </p:nvSpPr>
          <p:spPr>
            <a:xfrm>
              <a:off x="11932920" y="2468880"/>
              <a:ext cx="768096" cy="438912"/>
            </a:xfrm>
            <a:prstGeom prst="roundRect">
              <a:avLst/>
            </a:prstGeom>
            <a:solidFill>
              <a:srgbClr val="FFF5E1"/>
            </a:solidFill>
            <a:ln>
              <a:solidFill>
                <a:srgbClr val="FFF5E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12060936" y="2560320"/>
              <a:ext cx="512063" cy="2011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sz="1400" b="1">
                  <a:solidFill>
                    <a:srgbClr val="0D3161"/>
                  </a:solidFill>
                  <a:latin typeface="Aptos"/>
                </a:rPr>
                <a:t>G</a:t>
              </a:r>
            </a:p>
          </p:txBody>
        </p:sp>
      </p:grpSp>
      <p:sp>
        <p:nvSpPr>
          <p:cNvPr id="27" name="TextBox 26"/>
          <p:cNvSpPr txBox="1"/>
          <p:nvPr/>
        </p:nvSpPr>
        <p:spPr>
          <a:xfrm>
            <a:off x="7375010" y="3063240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5E778F"/>
                </a:solidFill>
                <a:latin typeface="Aptos"/>
              </a:rPr>
              <a:t>DNA = ordered symbolic sequence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GENOMICS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RNA as a biological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1741326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RNA is also a sequence of nucleotides.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main alphabet is A, C, G and U, where U replaces 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RNA plays central roles in gene expression and regulation.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Like DNA, RNA can be represented as an ordered symbolic sequence.</a:t>
            </a:r>
          </a:p>
        </p:txBody>
      </p: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49383C3F-A10C-AC94-10FC-8AC0AB917037}"/>
              </a:ext>
            </a:extLst>
          </p:cNvPr>
          <p:cNvGrpSpPr/>
          <p:nvPr/>
        </p:nvGrpSpPr>
        <p:grpSpPr>
          <a:xfrm>
            <a:off x="6446520" y="2468880"/>
            <a:ext cx="5312664" cy="706806"/>
            <a:chOff x="6446520" y="2468880"/>
            <a:chExt cx="6254496" cy="438912"/>
          </a:xfrm>
        </p:grpSpPr>
        <p:sp>
          <p:nvSpPr>
            <p:cNvPr id="25" name="Rounded Rectangle 24"/>
            <p:cNvSpPr/>
            <p:nvPr/>
          </p:nvSpPr>
          <p:spPr>
            <a:xfrm>
              <a:off x="11932920" y="2468880"/>
              <a:ext cx="768096" cy="438912"/>
            </a:xfrm>
            <a:prstGeom prst="roundRect">
              <a:avLst/>
            </a:prstGeom>
            <a:solidFill>
              <a:srgbClr val="ECF8EF"/>
            </a:solidFill>
            <a:ln>
              <a:solidFill>
                <a:srgbClr val="ECF8EF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28" name="Gruppo 27">
              <a:extLst>
                <a:ext uri="{FF2B5EF4-FFF2-40B4-BE49-F238E27FC236}">
                  <a16:creationId xmlns:a16="http://schemas.microsoft.com/office/drawing/2014/main" id="{D244C420-F910-7079-0A15-466C7E5C379A}"/>
                </a:ext>
              </a:extLst>
            </p:cNvPr>
            <p:cNvGrpSpPr/>
            <p:nvPr/>
          </p:nvGrpSpPr>
          <p:grpSpPr>
            <a:xfrm>
              <a:off x="6446520" y="2468880"/>
              <a:ext cx="6126479" cy="438912"/>
              <a:chOff x="6446520" y="2468880"/>
              <a:chExt cx="6126479" cy="438912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64465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745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A</a:t>
                </a:r>
              </a:p>
            </p:txBody>
          </p:sp>
          <p:cxnSp>
            <p:nvCxnSpPr>
              <p:cNvPr id="9" name="Connector 8"/>
              <p:cNvCxnSpPr/>
              <p:nvPr/>
            </p:nvCxnSpPr>
            <p:spPr>
              <a:xfrm>
                <a:off x="72146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Rounded Rectangle 9"/>
              <p:cNvSpPr/>
              <p:nvPr/>
            </p:nvSpPr>
            <p:spPr>
              <a:xfrm>
                <a:off x="73609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TextBox 10"/>
              <p:cNvSpPr txBox="1"/>
              <p:nvPr/>
            </p:nvSpPr>
            <p:spPr>
              <a:xfrm>
                <a:off x="74889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U</a:t>
                </a:r>
              </a:p>
            </p:txBody>
          </p:sp>
          <p:cxnSp>
            <p:nvCxnSpPr>
              <p:cNvPr id="12" name="Connector 11"/>
              <p:cNvCxnSpPr/>
              <p:nvPr/>
            </p:nvCxnSpPr>
            <p:spPr>
              <a:xfrm>
                <a:off x="81290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ounded Rectangle 12"/>
              <p:cNvSpPr/>
              <p:nvPr/>
            </p:nvSpPr>
            <p:spPr>
              <a:xfrm>
                <a:off x="82753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4033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G</a:t>
                </a:r>
              </a:p>
            </p:txBody>
          </p:sp>
          <p:cxnSp>
            <p:nvCxnSpPr>
              <p:cNvPr id="15" name="Connector 14"/>
              <p:cNvCxnSpPr/>
              <p:nvPr/>
            </p:nvCxnSpPr>
            <p:spPr>
              <a:xfrm>
                <a:off x="90434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ounded Rectangle 15"/>
              <p:cNvSpPr/>
              <p:nvPr/>
            </p:nvSpPr>
            <p:spPr>
              <a:xfrm>
                <a:off x="91897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3177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C</a:t>
                </a:r>
              </a:p>
            </p:txBody>
          </p:sp>
          <p:cxnSp>
            <p:nvCxnSpPr>
              <p:cNvPr id="18" name="Connector 17"/>
              <p:cNvCxnSpPr/>
              <p:nvPr/>
            </p:nvCxnSpPr>
            <p:spPr>
              <a:xfrm>
                <a:off x="99578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Rounded Rectangle 18"/>
              <p:cNvSpPr/>
              <p:nvPr/>
            </p:nvSpPr>
            <p:spPr>
              <a:xfrm>
                <a:off x="101041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TextBox 19"/>
              <p:cNvSpPr txBox="1"/>
              <p:nvPr/>
            </p:nvSpPr>
            <p:spPr>
              <a:xfrm>
                <a:off x="102321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U</a:t>
                </a:r>
              </a:p>
            </p:txBody>
          </p:sp>
          <p:cxnSp>
            <p:nvCxnSpPr>
              <p:cNvPr id="21" name="Connector 20"/>
              <p:cNvCxnSpPr/>
              <p:nvPr/>
            </p:nvCxnSpPr>
            <p:spPr>
              <a:xfrm>
                <a:off x="108722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Rounded Rectangle 21"/>
              <p:cNvSpPr/>
              <p:nvPr/>
            </p:nvSpPr>
            <p:spPr>
              <a:xfrm>
                <a:off x="11018520" y="2468880"/>
                <a:ext cx="768096" cy="438912"/>
              </a:xfrm>
              <a:prstGeom prst="roundRect">
                <a:avLst/>
              </a:prstGeom>
              <a:solidFill>
                <a:srgbClr val="ECF8EF"/>
              </a:solidFill>
              <a:ln>
                <a:solidFill>
                  <a:srgbClr val="ECF8E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TextBox 22"/>
              <p:cNvSpPr txBox="1"/>
              <p:nvPr/>
            </p:nvSpPr>
            <p:spPr>
              <a:xfrm>
                <a:off x="111465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A</a:t>
                </a:r>
              </a:p>
            </p:txBody>
          </p:sp>
          <p:cxnSp>
            <p:nvCxnSpPr>
              <p:cNvPr id="24" name="Connector 23"/>
              <p:cNvCxnSpPr/>
              <p:nvPr/>
            </p:nvCxnSpPr>
            <p:spPr>
              <a:xfrm>
                <a:off x="11786616" y="268833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TextBox 25"/>
              <p:cNvSpPr txBox="1"/>
              <p:nvPr/>
            </p:nvSpPr>
            <p:spPr>
              <a:xfrm>
                <a:off x="12060936" y="256032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G</a:t>
                </a:r>
              </a:p>
            </p:txBody>
          </p:sp>
        </p:grpSp>
      </p:grpSp>
      <p:sp>
        <p:nvSpPr>
          <p:cNvPr id="27" name="TextBox 26"/>
          <p:cNvSpPr txBox="1"/>
          <p:nvPr/>
        </p:nvSpPr>
        <p:spPr>
          <a:xfrm>
            <a:off x="7183823" y="3322937"/>
            <a:ext cx="38404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dirty="0">
                <a:solidFill>
                  <a:srgbClr val="5E778F"/>
                </a:solidFill>
                <a:latin typeface="Aptos"/>
              </a:rPr>
              <a:t>RNA uses U instead of T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GENOMICS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Sequence length and position matter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211952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biological sequence is not a bag of letters; order is essential.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Changing one symbol can alter biological meaning.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Positions along the sequence can correspond to mutations, motifs or coding regions.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makes sequence-aware representations necessary.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Strings as the simplest computational representation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48640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simplest representation of DNA or RNA is a string.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Example: 'ACGTTAAG' for DNA or 'AUGCUAG' for RNA.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String-based representations are intuitive and easy to store.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However, many algorithms require numeric representations.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DNA 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ACGTTAAG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RNA string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AUGCUAG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One-hot encoding of biological sequences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669280" cy="3763146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One-hot encoding converts each nucleotide into a binary vector.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DNA, A, C, G and T can be encoded as four-dimensional vectors.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This representation preserves the identity of each symbol without imposing an artificial order.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It is commonly used in machine-learning pipelines.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36576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73952" y="1883664"/>
            <a:ext cx="35112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Example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286000"/>
            <a:ext cx="34747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0255" y="2377440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76288" y="2377440"/>
            <a:ext cx="3218687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[1, 0, 0, 0]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2816352"/>
            <a:ext cx="34747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0255" y="2907792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76288" y="2901366"/>
            <a:ext cx="3218687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[0, 1, 0, 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3346704"/>
            <a:ext cx="34747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20255" y="3438144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3" y="3446928"/>
            <a:ext cx="3218687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[0, 0, 1, 0]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3877056"/>
            <a:ext cx="3474720" cy="47548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5" y="3968496"/>
            <a:ext cx="32186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D3161"/>
                </a:solidFill>
                <a:latin typeface="Aptos"/>
              </a:rPr>
              <a:t>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39713" y="3968496"/>
            <a:ext cx="3218687" cy="91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233142"/>
                </a:solidFill>
                <a:latin typeface="Aptos"/>
              </a:defRPr>
            </a:pPr>
            <a:r>
              <a:rPr dirty="0"/>
              <a:t>[0, 0, 0, 1]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k-mers: short subsequences as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k-</a:t>
            </a:r>
            <a:r>
              <a:rPr sz="2400" dirty="0" err="1"/>
              <a:t>mer</a:t>
            </a:r>
            <a:r>
              <a:rPr sz="2400" dirty="0"/>
              <a:t> is a contiguous subsequence of length k.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For example, 3-mers from 'ACGTTA' include ACG, CGT, GTT and TTA.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k-</a:t>
            </a:r>
            <a:r>
              <a:rPr sz="2400" dirty="0" err="1"/>
              <a:t>mers</a:t>
            </a:r>
            <a:r>
              <a:rPr sz="2400" dirty="0"/>
              <a:t> summarize local composition and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They are often used in bioinformatics, classification and indexing.</a:t>
            </a:r>
          </a:p>
        </p:txBody>
      </p:sp>
      <p:grpSp>
        <p:nvGrpSpPr>
          <p:cNvPr id="19" name="Gruppo 18">
            <a:extLst>
              <a:ext uri="{FF2B5EF4-FFF2-40B4-BE49-F238E27FC236}">
                <a16:creationId xmlns:a16="http://schemas.microsoft.com/office/drawing/2014/main" id="{34D4E961-C586-903E-7FEA-0D03DA8ECF21}"/>
              </a:ext>
            </a:extLst>
          </p:cNvPr>
          <p:cNvGrpSpPr/>
          <p:nvPr/>
        </p:nvGrpSpPr>
        <p:grpSpPr>
          <a:xfrm>
            <a:off x="6615066" y="2728653"/>
            <a:ext cx="5144118" cy="1104764"/>
            <a:chOff x="6446520" y="2377440"/>
            <a:chExt cx="3511296" cy="438912"/>
          </a:xfrm>
        </p:grpSpPr>
        <p:sp>
          <p:nvSpPr>
            <p:cNvPr id="10" name="Rounded Rectangle 9"/>
            <p:cNvSpPr/>
            <p:nvPr/>
          </p:nvSpPr>
          <p:spPr>
            <a:xfrm>
              <a:off x="7360920" y="2377440"/>
              <a:ext cx="768096" cy="438912"/>
            </a:xfrm>
            <a:prstGeom prst="roundRect">
              <a:avLst/>
            </a:prstGeom>
            <a:solidFill>
              <a:srgbClr val="F0ECFA"/>
            </a:solidFill>
            <a:ln>
              <a:solidFill>
                <a:srgbClr val="F0ECF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8" name="Gruppo 17">
              <a:extLst>
                <a:ext uri="{FF2B5EF4-FFF2-40B4-BE49-F238E27FC236}">
                  <a16:creationId xmlns:a16="http://schemas.microsoft.com/office/drawing/2014/main" id="{B697B03A-BFA9-CC7A-AA0F-1B7DF8D35586}"/>
                </a:ext>
              </a:extLst>
            </p:cNvPr>
            <p:cNvGrpSpPr/>
            <p:nvPr/>
          </p:nvGrpSpPr>
          <p:grpSpPr>
            <a:xfrm>
              <a:off x="6446520" y="2377440"/>
              <a:ext cx="3511296" cy="438912"/>
              <a:chOff x="6446520" y="2377440"/>
              <a:chExt cx="3511296" cy="438912"/>
            </a:xfrm>
          </p:grpSpPr>
          <p:sp>
            <p:nvSpPr>
              <p:cNvPr id="7" name="Rounded Rectangle 6"/>
              <p:cNvSpPr/>
              <p:nvPr/>
            </p:nvSpPr>
            <p:spPr>
              <a:xfrm>
                <a:off x="6446520" y="2377440"/>
                <a:ext cx="768096" cy="438912"/>
              </a:xfrm>
              <a:prstGeom prst="roundRect">
                <a:avLst/>
              </a:prstGeom>
              <a:solidFill>
                <a:srgbClr val="F0ECFA"/>
              </a:solidFill>
              <a:ln>
                <a:solidFill>
                  <a:srgbClr val="F0EC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" name="TextBox 7"/>
              <p:cNvSpPr txBox="1"/>
              <p:nvPr/>
            </p:nvSpPr>
            <p:spPr>
              <a:xfrm>
                <a:off x="6574536" y="246888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ACG</a:t>
                </a:r>
              </a:p>
            </p:txBody>
          </p:sp>
          <p:cxnSp>
            <p:nvCxnSpPr>
              <p:cNvPr id="9" name="Connector 8"/>
              <p:cNvCxnSpPr/>
              <p:nvPr/>
            </p:nvCxnSpPr>
            <p:spPr>
              <a:xfrm>
                <a:off x="7214616" y="259689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>
              <a:xfrm>
                <a:off x="7488936" y="246888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CGT</a:t>
                </a:r>
              </a:p>
            </p:txBody>
          </p:sp>
          <p:cxnSp>
            <p:nvCxnSpPr>
              <p:cNvPr id="12" name="Connector 11"/>
              <p:cNvCxnSpPr/>
              <p:nvPr/>
            </p:nvCxnSpPr>
            <p:spPr>
              <a:xfrm>
                <a:off x="8129016" y="259689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Rounded Rectangle 12"/>
              <p:cNvSpPr/>
              <p:nvPr/>
            </p:nvSpPr>
            <p:spPr>
              <a:xfrm>
                <a:off x="8275320" y="2377440"/>
                <a:ext cx="768096" cy="438912"/>
              </a:xfrm>
              <a:prstGeom prst="roundRect">
                <a:avLst/>
              </a:prstGeom>
              <a:solidFill>
                <a:srgbClr val="F0ECFA"/>
              </a:solidFill>
              <a:ln>
                <a:solidFill>
                  <a:srgbClr val="F0EC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TextBox 13"/>
              <p:cNvSpPr txBox="1"/>
              <p:nvPr/>
            </p:nvSpPr>
            <p:spPr>
              <a:xfrm>
                <a:off x="8403336" y="246888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GTT</a:t>
                </a:r>
              </a:p>
            </p:txBody>
          </p:sp>
          <p:cxnSp>
            <p:nvCxnSpPr>
              <p:cNvPr id="15" name="Connector 14"/>
              <p:cNvCxnSpPr/>
              <p:nvPr/>
            </p:nvCxnSpPr>
            <p:spPr>
              <a:xfrm>
                <a:off x="9043416" y="2596896"/>
                <a:ext cx="146304" cy="0"/>
              </a:xfrm>
              <a:prstGeom prst="line">
                <a:avLst/>
              </a:prstGeom>
              <a:ln w="17780">
                <a:solidFill>
                  <a:srgbClr val="34ADC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ounded Rectangle 15"/>
              <p:cNvSpPr/>
              <p:nvPr/>
            </p:nvSpPr>
            <p:spPr>
              <a:xfrm>
                <a:off x="9189720" y="2377440"/>
                <a:ext cx="768096" cy="438912"/>
              </a:xfrm>
              <a:prstGeom prst="roundRect">
                <a:avLst/>
              </a:prstGeom>
              <a:solidFill>
                <a:srgbClr val="F0ECFA"/>
              </a:solidFill>
              <a:ln>
                <a:solidFill>
                  <a:srgbClr val="F0ECFA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TextBox 16"/>
              <p:cNvSpPr txBox="1"/>
              <p:nvPr/>
            </p:nvSpPr>
            <p:spPr>
              <a:xfrm>
                <a:off x="9317736" y="2468880"/>
                <a:ext cx="512063" cy="20116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TTA</a:t>
                </a:r>
              </a:p>
            </p:txBody>
          </p:sp>
        </p:grp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SEQUENCE REPRESENTATION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From sequence to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After one-hot encoding, a sequence becomes a matrix.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Rows often correspond to positions in the sequence.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Columns correspond to symbols in the alphabet.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Thus, genomics also leads naturally to multidimensional data structures.</a:t>
            </a:r>
          </a:p>
        </p:txBody>
      </p:sp>
      <p:grpSp>
        <p:nvGrpSpPr>
          <p:cNvPr id="30" name="Gruppo 29">
            <a:extLst>
              <a:ext uri="{FF2B5EF4-FFF2-40B4-BE49-F238E27FC236}">
                <a16:creationId xmlns:a16="http://schemas.microsoft.com/office/drawing/2014/main" id="{F84B84CD-26E5-1B0A-7A1F-717EC356C8F4}"/>
              </a:ext>
            </a:extLst>
          </p:cNvPr>
          <p:cNvGrpSpPr/>
          <p:nvPr/>
        </p:nvGrpSpPr>
        <p:grpSpPr>
          <a:xfrm>
            <a:off x="7415309" y="1672116"/>
            <a:ext cx="2655467" cy="3098045"/>
            <a:chOff x="6537960" y="1892808"/>
            <a:chExt cx="1536192" cy="1792224"/>
          </a:xfrm>
        </p:grpSpPr>
        <p:grpSp>
          <p:nvGrpSpPr>
            <p:cNvPr id="29" name="Gruppo 28">
              <a:extLst>
                <a:ext uri="{FF2B5EF4-FFF2-40B4-BE49-F238E27FC236}">
                  <a16:creationId xmlns:a16="http://schemas.microsoft.com/office/drawing/2014/main" id="{565889DD-41FE-9374-7E0D-BF40F70B6987}"/>
                </a:ext>
              </a:extLst>
            </p:cNvPr>
            <p:cNvGrpSpPr/>
            <p:nvPr/>
          </p:nvGrpSpPr>
          <p:grpSpPr>
            <a:xfrm>
              <a:off x="6537960" y="1892808"/>
              <a:ext cx="1536192" cy="1792224"/>
              <a:chOff x="6537960" y="1892808"/>
              <a:chExt cx="1536192" cy="1792224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537960" y="1892808"/>
                <a:ext cx="1536192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One-hot matrix idea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6537960" y="2148840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6922008" y="2148840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306056" y="2148840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690104" y="2148840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6537960" y="2459736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6922008" y="2459736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7306056" y="2459736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7690104" y="2459736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6537960" y="2770632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6922008" y="2770632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306056" y="2770632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690104" y="2770632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6537960" y="3081528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6922008" y="3081528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7306056" y="3081528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7690104" y="3081528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6537960" y="3392424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922008" y="3392424"/>
                <a:ext cx="365759" cy="292608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7306056" y="3392424"/>
                <a:ext cx="365759" cy="292608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27" name="Rounded Rectangle 26"/>
            <p:cNvSpPr/>
            <p:nvPr/>
          </p:nvSpPr>
          <p:spPr>
            <a:xfrm>
              <a:off x="7690104" y="3392424"/>
              <a:ext cx="365759" cy="292608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8" name="TextBox 27"/>
          <p:cNvSpPr txBox="1"/>
          <p:nvPr/>
        </p:nvSpPr>
        <p:spPr>
          <a:xfrm>
            <a:off x="6728520" y="4984716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dirty="0">
                <a:solidFill>
                  <a:srgbClr val="5E778F"/>
                </a:solidFill>
                <a:latin typeface="Aptos"/>
              </a:rPr>
              <a:t>sequence length × alphabet size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Images vs sequences: two different structures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10512"/>
            <a:ext cx="457200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41832" y="1865376"/>
            <a:ext cx="442569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Medical images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240280"/>
            <a:ext cx="429768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Spatial structure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Usually matrices, volumes or tensors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Neighboring positions represent nearby locations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10512"/>
            <a:ext cx="4206240" cy="384048"/>
          </a:xfrm>
          <a:prstGeom prst="roundRect">
            <a:avLst/>
          </a:prstGeom>
          <a:solidFill>
            <a:srgbClr val="E1ECF6"/>
          </a:solidFill>
          <a:ln>
            <a:solidFill>
              <a:srgbClr val="E1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99632" y="1865376"/>
            <a:ext cx="4059935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DNA / RNA sequences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240280"/>
            <a:ext cx="4023360" cy="137518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Sequential structure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Usually strings or encoded matrices</a:t>
            </a:r>
          </a:p>
          <a:p>
            <a:pPr marL="285750" indent="-28575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800">
                <a:solidFill>
                  <a:srgbClr val="233142"/>
                </a:solidFill>
                <a:latin typeface="Aptos"/>
              </a:defRPr>
            </a:pPr>
            <a:r>
              <a:rPr dirty="0"/>
              <a:t>Neighboring positions represent adjacent symbols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828800" y="4206240"/>
            <a:ext cx="7498079" cy="5486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956816" y="4297679"/>
            <a:ext cx="724204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Shared idea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56816" y="4553712"/>
            <a:ext cx="7242047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Both require data structures that preserve meaningful internal organization.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MACHINE-LEARNING PERSPECTIVE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Why tensors are useful for biomedical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9326880" cy="2599751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Deep-learning models usually expect structured numeric arrays as input.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Images are often provided as image tensors.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Encoded sequences can also be arranged as tensors.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unified tensor view simplifies storage, batching and model computation.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Chest X-ray as a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chest X-ray may be stored as a 2D grid of intensity values.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Each pixel corresponds to a location in the image.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Algorithms may enhance contrast, segment structures or classify disease patterns.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matrix representation is the computational basis for all these tasks.</a:t>
            </a:r>
          </a:p>
        </p:txBody>
      </p:sp>
      <p:grpSp>
        <p:nvGrpSpPr>
          <p:cNvPr id="89" name="Gruppo 88">
            <a:extLst>
              <a:ext uri="{FF2B5EF4-FFF2-40B4-BE49-F238E27FC236}">
                <a16:creationId xmlns:a16="http://schemas.microsoft.com/office/drawing/2014/main" id="{EC869F57-12CA-131C-C86C-20D885357FE6}"/>
              </a:ext>
            </a:extLst>
          </p:cNvPr>
          <p:cNvGrpSpPr/>
          <p:nvPr/>
        </p:nvGrpSpPr>
        <p:grpSpPr>
          <a:xfrm>
            <a:off x="6974153" y="1935986"/>
            <a:ext cx="3739155" cy="3478675"/>
            <a:chOff x="6492240" y="1847087"/>
            <a:chExt cx="2048256" cy="2249424"/>
          </a:xfrm>
        </p:grpSpPr>
        <p:grpSp>
          <p:nvGrpSpPr>
            <p:cNvPr id="88" name="Gruppo 87">
              <a:extLst>
                <a:ext uri="{FF2B5EF4-FFF2-40B4-BE49-F238E27FC236}">
                  <a16:creationId xmlns:a16="http://schemas.microsoft.com/office/drawing/2014/main" id="{A15CB57A-326A-C395-24B7-C544859C97EE}"/>
                </a:ext>
              </a:extLst>
            </p:cNvPr>
            <p:cNvGrpSpPr/>
            <p:nvPr/>
          </p:nvGrpSpPr>
          <p:grpSpPr>
            <a:xfrm>
              <a:off x="6492240" y="1847087"/>
              <a:ext cx="2048256" cy="2249424"/>
              <a:chOff x="6492240" y="1847087"/>
              <a:chExt cx="2048256" cy="2249424"/>
            </a:xfrm>
          </p:grpSpPr>
          <p:sp>
            <p:nvSpPr>
              <p:cNvPr id="7" name="TextBox 6"/>
              <p:cNvSpPr txBox="1"/>
              <p:nvPr/>
            </p:nvSpPr>
            <p:spPr>
              <a:xfrm>
                <a:off x="6492240" y="1847087"/>
                <a:ext cx="2048256" cy="1645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sz="1400" b="1">
                    <a:solidFill>
                      <a:srgbClr val="0D3161"/>
                    </a:solidFill>
                    <a:latin typeface="Aptos"/>
                  </a:rPr>
                  <a:t>Simplified image grid</a:t>
                </a:r>
              </a:p>
            </p:txBody>
          </p:sp>
          <p:sp>
            <p:nvSpPr>
              <p:cNvPr id="8" name="Rounded Rectangle 7"/>
              <p:cNvSpPr/>
              <p:nvPr/>
            </p:nvSpPr>
            <p:spPr>
              <a:xfrm>
                <a:off x="6492240" y="210312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9" name="Rounded Rectangle 8"/>
              <p:cNvSpPr/>
              <p:nvPr/>
            </p:nvSpPr>
            <p:spPr>
              <a:xfrm>
                <a:off x="6748272" y="210312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0" name="Rounded Rectangle 9"/>
              <p:cNvSpPr/>
              <p:nvPr/>
            </p:nvSpPr>
            <p:spPr>
              <a:xfrm>
                <a:off x="7004304" y="210312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1" name="Rounded Rectangle 10"/>
              <p:cNvSpPr/>
              <p:nvPr/>
            </p:nvSpPr>
            <p:spPr>
              <a:xfrm>
                <a:off x="7260336" y="210312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7516367" y="210312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7772400" y="210312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4" name="Rounded Rectangle 13"/>
              <p:cNvSpPr/>
              <p:nvPr/>
            </p:nvSpPr>
            <p:spPr>
              <a:xfrm>
                <a:off x="8028431" y="210312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5" name="Rounded Rectangle 14"/>
              <p:cNvSpPr/>
              <p:nvPr/>
            </p:nvSpPr>
            <p:spPr>
              <a:xfrm>
                <a:off x="8284464" y="210312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6" name="Rounded Rectangle 15"/>
              <p:cNvSpPr/>
              <p:nvPr/>
            </p:nvSpPr>
            <p:spPr>
              <a:xfrm>
                <a:off x="6492240" y="230428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6748272" y="230428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7004304" y="230428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19" name="Rounded Rectangle 18"/>
              <p:cNvSpPr/>
              <p:nvPr/>
            </p:nvSpPr>
            <p:spPr>
              <a:xfrm>
                <a:off x="7260336" y="230428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0" name="Rounded Rectangle 19"/>
              <p:cNvSpPr/>
              <p:nvPr/>
            </p:nvSpPr>
            <p:spPr>
              <a:xfrm>
                <a:off x="7516367" y="230428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7772400" y="230428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2" name="Rounded Rectangle 21"/>
              <p:cNvSpPr/>
              <p:nvPr/>
            </p:nvSpPr>
            <p:spPr>
              <a:xfrm>
                <a:off x="8028431" y="230428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3" name="Rounded Rectangle 22"/>
              <p:cNvSpPr/>
              <p:nvPr/>
            </p:nvSpPr>
            <p:spPr>
              <a:xfrm>
                <a:off x="8284464" y="230428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4" name="Rounded Rectangle 23"/>
              <p:cNvSpPr/>
              <p:nvPr/>
            </p:nvSpPr>
            <p:spPr>
              <a:xfrm>
                <a:off x="6492240" y="250545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5" name="Rounded Rectangle 24"/>
              <p:cNvSpPr/>
              <p:nvPr/>
            </p:nvSpPr>
            <p:spPr>
              <a:xfrm>
                <a:off x="6748272" y="250545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6" name="Rounded Rectangle 25"/>
              <p:cNvSpPr/>
              <p:nvPr/>
            </p:nvSpPr>
            <p:spPr>
              <a:xfrm>
                <a:off x="7004304" y="250545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7" name="Rounded Rectangle 26"/>
              <p:cNvSpPr/>
              <p:nvPr/>
            </p:nvSpPr>
            <p:spPr>
              <a:xfrm>
                <a:off x="7260336" y="250545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8" name="Rounded Rectangle 27"/>
              <p:cNvSpPr/>
              <p:nvPr/>
            </p:nvSpPr>
            <p:spPr>
              <a:xfrm>
                <a:off x="7516367" y="250545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29" name="Rounded Rectangle 28"/>
              <p:cNvSpPr/>
              <p:nvPr/>
            </p:nvSpPr>
            <p:spPr>
              <a:xfrm>
                <a:off x="7772400" y="250545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0" name="Rounded Rectangle 29"/>
              <p:cNvSpPr/>
              <p:nvPr/>
            </p:nvSpPr>
            <p:spPr>
              <a:xfrm>
                <a:off x="8028431" y="250545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1" name="Rounded Rectangle 30"/>
              <p:cNvSpPr/>
              <p:nvPr/>
            </p:nvSpPr>
            <p:spPr>
              <a:xfrm>
                <a:off x="8284464" y="250545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2" name="Rounded Rectangle 31"/>
              <p:cNvSpPr/>
              <p:nvPr/>
            </p:nvSpPr>
            <p:spPr>
              <a:xfrm>
                <a:off x="6492240" y="2706624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3" name="Rounded Rectangle 32"/>
              <p:cNvSpPr/>
              <p:nvPr/>
            </p:nvSpPr>
            <p:spPr>
              <a:xfrm>
                <a:off x="6748272" y="2706624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4" name="Rounded Rectangle 33"/>
              <p:cNvSpPr/>
              <p:nvPr/>
            </p:nvSpPr>
            <p:spPr>
              <a:xfrm>
                <a:off x="7004304" y="2706624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5" name="Rounded Rectangle 34"/>
              <p:cNvSpPr/>
              <p:nvPr/>
            </p:nvSpPr>
            <p:spPr>
              <a:xfrm>
                <a:off x="7260336" y="2706624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6" name="Rounded Rectangle 35"/>
              <p:cNvSpPr/>
              <p:nvPr/>
            </p:nvSpPr>
            <p:spPr>
              <a:xfrm>
                <a:off x="7516367" y="2706624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7" name="Rounded Rectangle 36"/>
              <p:cNvSpPr/>
              <p:nvPr/>
            </p:nvSpPr>
            <p:spPr>
              <a:xfrm>
                <a:off x="7772400" y="2706624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8" name="Rounded Rectangle 37"/>
              <p:cNvSpPr/>
              <p:nvPr/>
            </p:nvSpPr>
            <p:spPr>
              <a:xfrm>
                <a:off x="8028431" y="2706624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39" name="Rounded Rectangle 38"/>
              <p:cNvSpPr/>
              <p:nvPr/>
            </p:nvSpPr>
            <p:spPr>
              <a:xfrm>
                <a:off x="8284464" y="2706624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0" name="Rounded Rectangle 39"/>
              <p:cNvSpPr/>
              <p:nvPr/>
            </p:nvSpPr>
            <p:spPr>
              <a:xfrm>
                <a:off x="6492240" y="290779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1" name="Rounded Rectangle 40"/>
              <p:cNvSpPr/>
              <p:nvPr/>
            </p:nvSpPr>
            <p:spPr>
              <a:xfrm>
                <a:off x="6748272" y="290779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2" name="Rounded Rectangle 41"/>
              <p:cNvSpPr/>
              <p:nvPr/>
            </p:nvSpPr>
            <p:spPr>
              <a:xfrm>
                <a:off x="7004304" y="290779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3" name="Rounded Rectangle 42"/>
              <p:cNvSpPr/>
              <p:nvPr/>
            </p:nvSpPr>
            <p:spPr>
              <a:xfrm>
                <a:off x="7260336" y="290779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4" name="Rounded Rectangle 43"/>
              <p:cNvSpPr/>
              <p:nvPr/>
            </p:nvSpPr>
            <p:spPr>
              <a:xfrm>
                <a:off x="7516367" y="290779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5" name="Rounded Rectangle 44"/>
              <p:cNvSpPr/>
              <p:nvPr/>
            </p:nvSpPr>
            <p:spPr>
              <a:xfrm>
                <a:off x="7772400" y="290779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6" name="Rounded Rectangle 45"/>
              <p:cNvSpPr/>
              <p:nvPr/>
            </p:nvSpPr>
            <p:spPr>
              <a:xfrm>
                <a:off x="8028431" y="290779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7" name="Rounded Rectangle 46"/>
              <p:cNvSpPr/>
              <p:nvPr/>
            </p:nvSpPr>
            <p:spPr>
              <a:xfrm>
                <a:off x="8284464" y="290779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8" name="Rounded Rectangle 47"/>
              <p:cNvSpPr/>
              <p:nvPr/>
            </p:nvSpPr>
            <p:spPr>
              <a:xfrm>
                <a:off x="6492240" y="310896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49" name="Rounded Rectangle 48"/>
              <p:cNvSpPr/>
              <p:nvPr/>
            </p:nvSpPr>
            <p:spPr>
              <a:xfrm>
                <a:off x="6748272" y="310896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0" name="Rounded Rectangle 49"/>
              <p:cNvSpPr/>
              <p:nvPr/>
            </p:nvSpPr>
            <p:spPr>
              <a:xfrm>
                <a:off x="7004304" y="310896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1" name="Rounded Rectangle 50"/>
              <p:cNvSpPr/>
              <p:nvPr/>
            </p:nvSpPr>
            <p:spPr>
              <a:xfrm>
                <a:off x="7260336" y="310896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2" name="Rounded Rectangle 51"/>
              <p:cNvSpPr/>
              <p:nvPr/>
            </p:nvSpPr>
            <p:spPr>
              <a:xfrm>
                <a:off x="7516367" y="310896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3" name="Rounded Rectangle 52"/>
              <p:cNvSpPr/>
              <p:nvPr/>
            </p:nvSpPr>
            <p:spPr>
              <a:xfrm>
                <a:off x="7772400" y="310896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4" name="Rounded Rectangle 53"/>
              <p:cNvSpPr/>
              <p:nvPr/>
            </p:nvSpPr>
            <p:spPr>
              <a:xfrm>
                <a:off x="8028431" y="3108960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5" name="Rounded Rectangle 54"/>
              <p:cNvSpPr/>
              <p:nvPr/>
            </p:nvSpPr>
            <p:spPr>
              <a:xfrm>
                <a:off x="8284464" y="3108960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6" name="Rounded Rectangle 55"/>
              <p:cNvSpPr/>
              <p:nvPr/>
            </p:nvSpPr>
            <p:spPr>
              <a:xfrm>
                <a:off x="6492240" y="331012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7" name="Rounded Rectangle 56"/>
              <p:cNvSpPr/>
              <p:nvPr/>
            </p:nvSpPr>
            <p:spPr>
              <a:xfrm>
                <a:off x="6748272" y="331012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8" name="Rounded Rectangle 57"/>
              <p:cNvSpPr/>
              <p:nvPr/>
            </p:nvSpPr>
            <p:spPr>
              <a:xfrm>
                <a:off x="7004304" y="331012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59" name="Rounded Rectangle 58"/>
              <p:cNvSpPr/>
              <p:nvPr/>
            </p:nvSpPr>
            <p:spPr>
              <a:xfrm>
                <a:off x="7260336" y="331012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0" name="Rounded Rectangle 59"/>
              <p:cNvSpPr/>
              <p:nvPr/>
            </p:nvSpPr>
            <p:spPr>
              <a:xfrm>
                <a:off x="7516367" y="331012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1" name="Rounded Rectangle 60"/>
              <p:cNvSpPr/>
              <p:nvPr/>
            </p:nvSpPr>
            <p:spPr>
              <a:xfrm>
                <a:off x="7772400" y="331012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2" name="Rounded Rectangle 61"/>
              <p:cNvSpPr/>
              <p:nvPr/>
            </p:nvSpPr>
            <p:spPr>
              <a:xfrm>
                <a:off x="8028431" y="3310128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3" name="Rounded Rectangle 62"/>
              <p:cNvSpPr/>
              <p:nvPr/>
            </p:nvSpPr>
            <p:spPr>
              <a:xfrm>
                <a:off x="8284464" y="3310128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4" name="Rounded Rectangle 63"/>
              <p:cNvSpPr/>
              <p:nvPr/>
            </p:nvSpPr>
            <p:spPr>
              <a:xfrm>
                <a:off x="6492240" y="351129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5" name="Rounded Rectangle 64"/>
              <p:cNvSpPr/>
              <p:nvPr/>
            </p:nvSpPr>
            <p:spPr>
              <a:xfrm>
                <a:off x="6748272" y="351129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6" name="Rounded Rectangle 65"/>
              <p:cNvSpPr/>
              <p:nvPr/>
            </p:nvSpPr>
            <p:spPr>
              <a:xfrm>
                <a:off x="7004304" y="351129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7" name="Rounded Rectangle 66"/>
              <p:cNvSpPr/>
              <p:nvPr/>
            </p:nvSpPr>
            <p:spPr>
              <a:xfrm>
                <a:off x="7260336" y="351129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8" name="Rounded Rectangle 67"/>
              <p:cNvSpPr/>
              <p:nvPr/>
            </p:nvSpPr>
            <p:spPr>
              <a:xfrm>
                <a:off x="7516367" y="351129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69" name="Rounded Rectangle 68"/>
              <p:cNvSpPr/>
              <p:nvPr/>
            </p:nvSpPr>
            <p:spPr>
              <a:xfrm>
                <a:off x="7772400" y="351129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0" name="Rounded Rectangle 69"/>
              <p:cNvSpPr/>
              <p:nvPr/>
            </p:nvSpPr>
            <p:spPr>
              <a:xfrm>
                <a:off x="8028431" y="3511296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Rounded Rectangle 70"/>
              <p:cNvSpPr/>
              <p:nvPr/>
            </p:nvSpPr>
            <p:spPr>
              <a:xfrm>
                <a:off x="8284464" y="3511296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2" name="Rounded Rectangle 71"/>
              <p:cNvSpPr/>
              <p:nvPr/>
            </p:nvSpPr>
            <p:spPr>
              <a:xfrm>
                <a:off x="6492240" y="3712463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3" name="Rounded Rectangle 72"/>
              <p:cNvSpPr/>
              <p:nvPr/>
            </p:nvSpPr>
            <p:spPr>
              <a:xfrm>
                <a:off x="6748272" y="3712463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4" name="Rounded Rectangle 73"/>
              <p:cNvSpPr/>
              <p:nvPr/>
            </p:nvSpPr>
            <p:spPr>
              <a:xfrm>
                <a:off x="7004304" y="3712463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5" name="Rounded Rectangle 74"/>
              <p:cNvSpPr/>
              <p:nvPr/>
            </p:nvSpPr>
            <p:spPr>
              <a:xfrm>
                <a:off x="7260336" y="3712463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6" name="Rounded Rectangle 75"/>
              <p:cNvSpPr/>
              <p:nvPr/>
            </p:nvSpPr>
            <p:spPr>
              <a:xfrm>
                <a:off x="7516367" y="3712463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7" name="Rounded Rectangle 76"/>
              <p:cNvSpPr/>
              <p:nvPr/>
            </p:nvSpPr>
            <p:spPr>
              <a:xfrm>
                <a:off x="7772400" y="3712463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8" name="Rounded Rectangle 77"/>
              <p:cNvSpPr/>
              <p:nvPr/>
            </p:nvSpPr>
            <p:spPr>
              <a:xfrm>
                <a:off x="8028431" y="3712463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Rounded Rectangle 78"/>
              <p:cNvSpPr/>
              <p:nvPr/>
            </p:nvSpPr>
            <p:spPr>
              <a:xfrm>
                <a:off x="8284464" y="3712463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0" name="Rounded Rectangle 79"/>
              <p:cNvSpPr/>
              <p:nvPr/>
            </p:nvSpPr>
            <p:spPr>
              <a:xfrm>
                <a:off x="6492240" y="391363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1" name="Rounded Rectangle 80"/>
              <p:cNvSpPr/>
              <p:nvPr/>
            </p:nvSpPr>
            <p:spPr>
              <a:xfrm>
                <a:off x="6748272" y="391363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2" name="Rounded Rectangle 81"/>
              <p:cNvSpPr/>
              <p:nvPr/>
            </p:nvSpPr>
            <p:spPr>
              <a:xfrm>
                <a:off x="7004304" y="391363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3" name="Rounded Rectangle 82"/>
              <p:cNvSpPr/>
              <p:nvPr/>
            </p:nvSpPr>
            <p:spPr>
              <a:xfrm>
                <a:off x="7260336" y="391363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4" name="Rounded Rectangle 83"/>
              <p:cNvSpPr/>
              <p:nvPr/>
            </p:nvSpPr>
            <p:spPr>
              <a:xfrm>
                <a:off x="7516367" y="391363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5" name="Rounded Rectangle 84"/>
              <p:cNvSpPr/>
              <p:nvPr/>
            </p:nvSpPr>
            <p:spPr>
              <a:xfrm>
                <a:off x="7772400" y="3913631"/>
                <a:ext cx="237744" cy="182880"/>
              </a:xfrm>
              <a:prstGeom prst="roundRect">
                <a:avLst/>
              </a:prstGeom>
              <a:solidFill>
                <a:srgbClr val="F6F9FD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86" name="Rounded Rectangle 85"/>
              <p:cNvSpPr/>
              <p:nvPr/>
            </p:nvSpPr>
            <p:spPr>
              <a:xfrm>
                <a:off x="8028431" y="3913631"/>
                <a:ext cx="237744" cy="18288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E1ECF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</p:grpSp>
        <p:sp>
          <p:nvSpPr>
            <p:cNvPr id="87" name="Rounded Rectangle 86"/>
            <p:cNvSpPr/>
            <p:nvPr/>
          </p:nvSpPr>
          <p:spPr>
            <a:xfrm>
              <a:off x="8284464" y="3913631"/>
              <a:ext cx="237744" cy="182880"/>
            </a:xfrm>
            <a:prstGeom prst="roundRect">
              <a:avLst/>
            </a:prstGeom>
            <a:solidFill>
              <a:srgbClr val="F6F9FD"/>
            </a:solidFill>
            <a:ln>
              <a:solidFill>
                <a:srgbClr val="E1ECF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CT or MRI as a 3D voxel volume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CT or MRI study often contains many slices.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These slices can be assembled into a volumetric array.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Algorithms may analyze organs, lesions or anatomical regions in 3D.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data structure supports both slice-level and volume-level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Slice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2D slices ordered by depth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ECF8EF"/>
          </a:solidFill>
          <a:ln>
            <a:solidFill>
              <a:srgbClr val="ECF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Volume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3D voxel array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PRACTICAL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DNA sequence as a computational object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5577840" cy="415094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A DNA fragment can be stored as a string, a list of characters or a one-hot matrix.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Different representations support different tasks.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String representations are simple; numeric encodings are convenient for algorithms.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The representation choice depends on the downstream goal.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920240"/>
            <a:ext cx="3749039" cy="749808"/>
          </a:xfrm>
          <a:prstGeom prst="roundRect">
            <a:avLst/>
          </a:prstGeom>
          <a:solidFill>
            <a:srgbClr val="FFF5E1"/>
          </a:solidFill>
          <a:ln>
            <a:solidFill>
              <a:srgbClr val="FFF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28816" y="201168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String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28816" y="226771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'ACGTTAAG'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2926080"/>
            <a:ext cx="3749039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28816" y="3017520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One-hot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28816" y="327355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length ×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931920"/>
            <a:ext cx="3749039" cy="749808"/>
          </a:xfrm>
          <a:prstGeom prst="roundRect">
            <a:avLst/>
          </a:prstGeom>
          <a:solidFill>
            <a:srgbClr val="F0ECFA"/>
          </a:solidFill>
          <a:ln>
            <a:solidFill>
              <a:srgbClr val="F0EC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28816" y="4023359"/>
            <a:ext cx="34930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k-mer 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28816" y="4279392"/>
            <a:ext cx="349300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counts or subsequences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INTEGRATION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Metadata also matter in both imaging and genomics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418320" cy="337534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Images are often accompanied by metadata such as modality, acquisition parameters and patient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Sequences may have metadata such as species, chromosome, position, gene or sample identifier.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Good data structures do not store only raw values; they also preserve context.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19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Context is essential for interpretation, reproducibility and interoperability.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Important cautions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Loss of structure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Flattening data too early may discard useful relationships.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Missing metadata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Without context, interpretation becomes weaker.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Dimension confusion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Shape and channel meaning must be explicit.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2761488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2852928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Encoding choice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108960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Different tasks may need different representations.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694176"/>
            <a:ext cx="4434840" cy="77724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96695" y="3785615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Scale and 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6695" y="4041648"/>
            <a:ext cx="4178807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Large images and long sequences can be computationally demanding.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IN-CLASS EXERCISE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Classify the data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9509760" cy="2743200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1. Chest X-ray image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2. CT scan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3. DNA fragment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4. One-hot encoded RNA sequence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5. Color microscopy image</a:t>
            </a:r>
          </a:p>
          <a:p>
            <a:pPr>
              <a:lnSpc>
                <a:spcPct val="105000"/>
              </a:lnSpc>
              <a:spcAft>
                <a:spcPts val="500"/>
              </a:spcAft>
              <a:defRPr sz="1900">
                <a:solidFill>
                  <a:srgbClr val="233142"/>
                </a:solidFill>
                <a:latin typeface="Aptos"/>
              </a:defRPr>
            </a:pPr>
            <a:r>
              <a:t>For each example, state whether it is best represented as a matrix, a 3D array, a tensor, a string or a combination.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MINI-LAB PROMPT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Design a representation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28800"/>
            <a:ext cx="7132320" cy="3439468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Choose one data type: CT image, chest X-ray or DNA sequence.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Describe the raw data structure.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Explain which dimensions are present.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State what metadata should be stored with the 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0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Propose one representation suitable for a machine-learning model.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0" y="196596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357616" y="205740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Deliverable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57616" y="2313432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workflow + rationale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3017520"/>
            <a:ext cx="2103120" cy="74980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7616" y="310896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7616" y="3364991"/>
            <a:ext cx="1847087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10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069080"/>
            <a:ext cx="2103120" cy="658368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357616" y="4160520"/>
            <a:ext cx="184708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D3161"/>
                </a:solidFill>
                <a:latin typeface="Aptos"/>
              </a:rPr>
              <a:t>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4416552"/>
            <a:ext cx="1847087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correct structure mapping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QUICK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Self-check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96695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the difference between a pixel and a voxel?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5" y="2441448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A pixel is 2D, a voxel is 3D.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182880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071616" y="192024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DICOM?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71616" y="217627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standard for storing and communicating medical imaging data.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108959"/>
            <a:ext cx="4434840" cy="1215287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96695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How can DNA be represented computationally?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5" y="3748175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rPr dirty="0"/>
              <a:t>As a string, encoded matrix, k-</a:t>
            </a:r>
            <a:r>
              <a:rPr dirty="0" err="1"/>
              <a:t>mers</a:t>
            </a:r>
            <a:r>
              <a:rPr dirty="0"/>
              <a:t> or other structured forms.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108960"/>
            <a:ext cx="4434840" cy="960120"/>
          </a:xfrm>
          <a:prstGeom prst="roundRect">
            <a:avLst/>
          </a:prstGeom>
          <a:solidFill>
            <a:srgbClr val="F6F9FD"/>
          </a:solidFill>
          <a:ln>
            <a:solidFill>
              <a:srgbClr val="F6F9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71616" y="3200400"/>
            <a:ext cx="4178807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0D3161"/>
                </a:solidFill>
                <a:latin typeface="Aptos"/>
              </a:rPr>
              <a:t>What is a tensor in this course context?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71616" y="3456432"/>
            <a:ext cx="4178807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233142"/>
                </a:solidFill>
                <a:latin typeface="Aptos"/>
              </a:defRPr>
            </a:pPr>
            <a:r>
              <a:t>A general multidimensional array.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34AD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58368" y="5303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276FB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77824"/>
            <a:ext cx="93268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0D3161"/>
                </a:solidFill>
                <a:latin typeface="Aptos Display"/>
              </a:rPr>
              <a:t>Take-home messages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01984" y="6053328"/>
            <a:ext cx="4572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34ADC1"/>
                </a:solidFill>
                <a:latin typeface="Aptos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8961120" cy="4215065"/>
          </a:xfrm>
          <a:prstGeom prst="rect">
            <a:avLst/>
          </a:prstGeom>
          <a:noFill/>
        </p:spPr>
        <p:txBody>
          <a:bodyPr wrap="square" lIns="50800" rIns="50800">
            <a:spAutoFit/>
          </a:bodyPr>
          <a:lstStyle/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Medical images are structured spatial data that can be represented as matrices, volumes and tensors.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Pixels are basic units in 2D images, while voxels are basic units in 3D volumes.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DICOM is a key standard because it combines image data and metadata.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DNA and RNA are structured symbolic sequences in which order is crucial.</a:t>
            </a:r>
          </a:p>
          <a:p>
            <a:pPr marL="342900" indent="-342900">
              <a:lnSpc>
                <a:spcPct val="105000"/>
              </a:lnSpc>
              <a:spcAft>
                <a:spcPts val="500"/>
              </a:spcAft>
              <a:buFont typeface="Arial" panose="020B0604020202020204" pitchFamily="34" charset="0"/>
              <a:buChar char="•"/>
              <a:defRPr sz="2100">
                <a:solidFill>
                  <a:srgbClr val="233142"/>
                </a:solidFill>
                <a:latin typeface="Aptos"/>
              </a:defRPr>
            </a:pPr>
            <a:r>
              <a:rPr sz="2400" dirty="0"/>
              <a:t>Choosing the right representation is essential for storage, interoperability and computational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2289</Words>
  <Application>Microsoft Macintosh PowerPoint</Application>
  <PresentationFormat>Widescreen</PresentationFormat>
  <Paragraphs>395</Paragraphs>
  <Slides>36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36</vt:i4>
      </vt:variant>
    </vt:vector>
  </HeadingPairs>
  <TitlesOfParts>
    <vt:vector size="41" baseType="lpstr">
      <vt:lpstr>Aptos</vt:lpstr>
      <vt:lpstr>Aptos Display</vt:lpstr>
      <vt:lpstr>Arial</vt:lpstr>
      <vt:lpstr>Calibri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RANCATI SIMONE</cp:lastModifiedBy>
  <cp:revision>3</cp:revision>
  <dcterms:created xsi:type="dcterms:W3CDTF">2013-01-27T09:14:16Z</dcterms:created>
  <dcterms:modified xsi:type="dcterms:W3CDTF">2026-10-03T18:27:23Z</dcterms:modified>
  <cp:category/>
</cp:coreProperties>
</file>