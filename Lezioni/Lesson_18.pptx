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1"/>
  </p:normalViewPr>
  <p:slideViewPr>
    <p:cSldViewPr snapToGrid="0" snapToObjects="1">
      <p:cViewPr varScale="1">
        <p:scale>
          <a:sx n="103" d="100"/>
          <a:sy n="103" d="100"/>
        </p:scale>
        <p:origin x="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5303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67332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76FBF"/>
                </a:solidFill>
                <a:latin typeface="Aptos Display"/>
              </a:rPr>
              <a:t>Lesson 18 — Supervised Machine Learning: Classification and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18892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5E778F"/>
                </a:solidFill>
                <a:latin typeface="Aptos"/>
              </a:rPr>
              <a:t>k-Nearest Neighbors, Linear Regression and 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566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08 October 2026 · 14:30–16:30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a_clean_modern_vector_flat_illustration_with_a_me.png"/>
          <p:cNvPicPr>
            <a:picLocks noChangeAspect="1"/>
          </p:cNvPicPr>
          <p:nvPr/>
        </p:nvPicPr>
        <p:blipFill>
          <a:blip r:embed="rId2"/>
          <a:srcRect l="38074"/>
          <a:stretch>
            <a:fillRect/>
          </a:stretch>
        </p:blipFill>
        <p:spPr>
          <a:xfrm>
            <a:off x="6967728" y="1082204"/>
            <a:ext cx="4779214" cy="43434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Supervised learning 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388806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From labeled examples to predictions.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Two task families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Classification and regression.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k-NN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Instance-based learning for class and value prediction.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Linear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Linear regression and logistic regression.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Biomedical 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Sick/healthy classification and glucose prediction.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Metrics, exercises and recap.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7315200" cy="4279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Distinguish classification from regression.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how supervised learning uses labeled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Describe the intuition and workflow of k-nearest neighbors.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the role of linear regression in continuous prediction.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the role of logistic regression in binary classification.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Connect these algorithms to biomedical use cases such as diagnosis and glucose prediction.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rcRect l="44595"/>
          <a:stretch>
            <a:fillRect/>
          </a:stretch>
        </p:blipFill>
        <p:spPr>
          <a:xfrm>
            <a:off x="8383221" y="2048255"/>
            <a:ext cx="3375963" cy="34292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supervised machine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supervised learning, the algorithm learns from examples that already contain the correct answer.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training example includes input information (features) and an output label or value (target).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objective is to learn a rule that generalizes to new unseen cases.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Many diagnostic and predictive biomedical tasks can be framed this 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TERMINOLOGY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Dataset, sample, features and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Collection of examples used for modeling.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One observation, for example one patient.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Input variables such as age, glucose, BMI or biomarkers.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What we want to predict.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The learned mapping from features to target.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Applying the trained model to new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simple supervised-learning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94560"/>
            <a:ext cx="150876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286000"/>
            <a:ext cx="1252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542032"/>
            <a:ext cx="1252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samples + 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194560"/>
            <a:ext cx="169164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25496" y="228600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496" y="2542032"/>
            <a:ext cx="1435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fit algorithm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194560"/>
            <a:ext cx="169164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2896" y="228600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2542032"/>
            <a:ext cx="1435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learned rule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194560"/>
            <a:ext cx="173736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0296" y="2286000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54203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predict new case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194560"/>
            <a:ext cx="128016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43416" y="2286000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542032"/>
            <a:ext cx="10241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class/value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2560320"/>
            <a:ext cx="32004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89120" y="2560320"/>
            <a:ext cx="36576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92240" y="2560320"/>
            <a:ext cx="32004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49640" y="2560320"/>
            <a:ext cx="36576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388620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E778F"/>
                </a:solidFill>
                <a:latin typeface="Aptos"/>
              </a:rPr>
              <a:t>The same general workflow applies to many algorithms, even though the training procedure differs.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 SPLITTING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Training, validation and test 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Training set: used to learn the model parameters.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Validation set: used to tune settings and compare candidate models.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Test set: used for final unbiased evaluation.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Keeping these roles separate helps estimate generalization.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20240"/>
            <a:ext cx="1737360" cy="10058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74536" y="2011680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4536" y="2267712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largest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920240"/>
            <a:ext cx="1005840" cy="10058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03336" y="201168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3336" y="2433045"/>
            <a:ext cx="749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233142"/>
                </a:solidFill>
                <a:latin typeface="Aptos"/>
              </a:defRPr>
            </a:pPr>
            <a:r>
              <a:rPr dirty="0"/>
              <a:t>model choice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920240"/>
            <a:ext cx="914400" cy="100584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46336" y="201168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6336" y="2267712"/>
            <a:ext cx="6583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233142"/>
                </a:solidFill>
                <a:latin typeface="Aptos"/>
              </a:defRPr>
            </a:pPr>
            <a:r>
              <a:rPr dirty="0"/>
              <a:t>final 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TWO MAJOR PROBLEM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Classification vs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206240" cy="102021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Predicts a category or class.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sick vs healthy, benign vs malignant.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67712"/>
            <a:ext cx="4023360" cy="37439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lang="it-IT" dirty="0" err="1"/>
              <a:t>ù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1828800" y="416052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51959"/>
            <a:ext cx="72420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Key distinction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0799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Classification chooses among categories; regression estimates a continuous quantity.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does a classifier produce?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class label, such as positive / negative or healthy / diseased.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Often also a score or probability expressing model confidence.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Binary classification has two classes; multiclass classification has more than two.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Clinical decision support often uses classification.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Binary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Diabetes complication: yes / 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Probability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P(disease) = 0.82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does a regressor produce?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continuous numeric estimate rather than a category.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Examples include predicted glucose, creatinine level or time to discharge.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output may take many possible values on a scale.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predicted value can later be interpreted clinically.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Predicted glucose in 30 min = 142 mg/dL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Useful for anticipation and decision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ALGORITHM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Instance-based learning: k-nearest neighbors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326880" cy="221195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k-NN is a simple supervised-learning algorithm.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stores the training examples instead of learning an explicit global equation.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a new case, it looks for the most similar training samples.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prediction depends on the neighbors and the chosen value of 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K-NN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new case is predicted from nearby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Similarity is usually computed as a distance in feature space.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Nearby patients are assumed to have similar outcomes.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classification, the majority class among neighbors is used.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regression, the average neighbor value is used.</a:t>
            </a:r>
          </a:p>
        </p:txBody>
      </p:sp>
      <p:sp>
        <p:nvSpPr>
          <p:cNvPr id="7" name="Oval 6"/>
          <p:cNvSpPr/>
          <p:nvPr/>
        </p:nvSpPr>
        <p:spPr>
          <a:xfrm>
            <a:off x="6583680" y="3657600"/>
            <a:ext cx="146304" cy="146304"/>
          </a:xfrm>
          <a:prstGeom prst="ellipse">
            <a:avLst/>
          </a:prstGeom>
          <a:solidFill>
            <a:srgbClr val="276FB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0" y="2926080"/>
            <a:ext cx="146304" cy="146304"/>
          </a:xfrm>
          <a:prstGeom prst="ellipse">
            <a:avLst/>
          </a:prstGeom>
          <a:solidFill>
            <a:srgbClr val="276FB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80960" y="3840480"/>
            <a:ext cx="146304" cy="146304"/>
          </a:xfrm>
          <a:prstGeom prst="ellipse">
            <a:avLst/>
          </a:prstGeom>
          <a:solidFill>
            <a:srgbClr val="276FB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321040" y="2651760"/>
            <a:ext cx="146304" cy="146304"/>
          </a:xfrm>
          <a:prstGeom prst="ellipse">
            <a:avLst/>
          </a:prstGeom>
          <a:solidFill>
            <a:srgbClr val="D44848"/>
          </a:solidFill>
          <a:ln>
            <a:solidFill>
              <a:srgbClr val="D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69680" y="3291840"/>
            <a:ext cx="146304" cy="146304"/>
          </a:xfrm>
          <a:prstGeom prst="ellipse">
            <a:avLst/>
          </a:prstGeom>
          <a:solidFill>
            <a:srgbClr val="D44848"/>
          </a:solidFill>
          <a:ln>
            <a:solidFill>
              <a:srgbClr val="D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509760" y="2468880"/>
            <a:ext cx="146304" cy="146304"/>
          </a:xfrm>
          <a:prstGeom prst="ellipse">
            <a:avLst/>
          </a:prstGeom>
          <a:solidFill>
            <a:srgbClr val="D44848"/>
          </a:solidFill>
          <a:ln>
            <a:solidFill>
              <a:srgbClr val="D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46720" y="3337560"/>
            <a:ext cx="201168" cy="201168"/>
          </a:xfrm>
          <a:prstGeom prst="ellipse">
            <a:avLst/>
          </a:prstGeom>
          <a:solidFill>
            <a:srgbClr val="34ADC1"/>
          </a:solidFill>
          <a:ln>
            <a:solidFill>
              <a:srgbClr val="34A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363931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E778F"/>
                </a:solidFill>
                <a:latin typeface="Aptos"/>
              </a:rPr>
              <a:t>new patient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K-NN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Main steps of the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Choose k, the number of neighbors.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Compute the distance from the new case to all training samples.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Select the k closest neighbors.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Aggregate their labels or values to produce the prediction.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K-NN FOR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Example: sick or healthy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Suppose the features are fasting glucose and BMI.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new patient is placed in the same feature space as the training patients.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most nearby patients are sick, the new patient is classified as sick.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a local, example-driven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 = 3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neighbors: Sick, Sick, Healthy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Majority vote → Sick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K-NN FOR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Example: glucose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Now suppose the target is a numeric value such as glucose in 30 minutes.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algorithm finds the most similar past windows or patients.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then averages the neighbors’ target values.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result is a continuous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Neighbor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138, 142, 146 mg/dL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Average ≈ 142 mg/dL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K-NN DESIGN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Important practical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Choice of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Small k is sensitive; large k is smoother.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Distance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Euclidean distance is common, but not the only option.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Feature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Variables should often be normalized.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Prediction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k-NN can be slow at inference because it compares with many stored samples.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ALGORITHM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Linear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326880" cy="1824154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Linear regression is a classical algorithm for regression problems.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models the target as a weighted sum of the input features.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feature contributes linearly through a coefficient.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simple, interpretable and widely used.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LINEAR REGRESSION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line or hyperplane fits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With one feature, the model corresponds to a line.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With multiple features, the same idea generalizes to a higher-dimensional hyperplane.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coefficients quantify how the prediction changes when a feature changes.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intercept is the baseline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3840480" cy="91440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2157984"/>
            <a:ext cx="35112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0D3161"/>
                </a:solidFill>
                <a:latin typeface="Courier New"/>
              </a:defRPr>
            </a:pPr>
            <a:r>
              <a:t>y = b0 + b1·x1 + b2·x2 + ... + bp·xp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461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E778F"/>
                </a:solidFill>
                <a:latin typeface="Aptos"/>
              </a:rPr>
              <a:t>Example:
future glucose = baseline + effect of current glucose + effect of insulin + effect of meal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LINEAR REGRESSION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are the coefficients chosen?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41832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Training tries to find coefficients that make predictions close to the observed targets.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common objective is minimizing the sum of squared errors.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fitted line balances all training points rather than memorizing them.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After training, the model can predict the target for a new sample.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Linear regression for future glucose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Features may include current glucose, recent trend, carbohydrates and insulin.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target may be glucose 30 minutes in the future.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estimates how these inputs combine to influence the future value.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frames glucose forecasting as a regression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Input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6177" y="1938528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rPr dirty="0"/>
              <a:t>current glucose = 128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rPr dirty="0"/>
              <a:t>trend = rising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rPr dirty="0"/>
              <a:t>insulin = 1.5 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63240"/>
            <a:ext cx="3749039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154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Target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551" y="3161847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glucose in 30 min = 144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ALGORITHM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Despite its name, logistic regression is mainly used for classification, especially binary classification.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predicts the probability that a sample belongs to a class.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final class is obtained by applying a threshold to the probability.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one of the most important baseline classifiers in medicine and beyond.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LOGISTIC REGRESSION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From linear score to probability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first computes a weighted linear combination of the features.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score is then transformed into a probability between 0 and 1.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sigmoid function is commonly used for this transformation.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output can be interpreted as estimated class probability.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65960"/>
            <a:ext cx="3840480" cy="91440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2112264"/>
            <a:ext cx="35112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P(class=1) = sigmoid(b0 + b1·x1 + ... + bp·xp)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LOGISTIC REGRESSION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probabilities are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4538743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probability provides more information than a hard class label alone.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example, 0.51 and 0.95 may lead to the same class, but confidence differs greatly.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healthcare, thresholds may be adjusted according to the clinical context.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Probability estimates can support risk-based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P(disease) = 0.78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If threshold = 0.50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Predicted class = disease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Logistic regression for sick/healthy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Features may include symptoms, lab values, age and vital signs.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target is whether the patient belongs to the sick class or the healthy class.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estimates the probability of disease based on the features.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a standard binary classification setting.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fever, CRP, heart rate, 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sick / healthy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k-NN vs linear regression vs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219456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204825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Algorithm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810512"/>
            <a:ext cx="219456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19272" y="1865376"/>
            <a:ext cx="204825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Main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810512"/>
            <a:ext cx="24688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96712" y="1865376"/>
            <a:ext cx="2322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Idea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810512"/>
            <a:ext cx="20116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8472" y="1865376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Typical biomedical example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240280"/>
            <a:ext cx="21945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" y="2350008"/>
            <a:ext cx="2121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k-NN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2240280"/>
            <a:ext cx="21945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82696" y="2350008"/>
            <a:ext cx="2121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class or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2240280"/>
            <a:ext cx="246888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0136" y="2350008"/>
            <a:ext cx="2395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use nearest samples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240280"/>
            <a:ext cx="201168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1896" y="2350008"/>
            <a:ext cx="19385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patient similarity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2898648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" y="3008376"/>
            <a:ext cx="2121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Linear regression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2898648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82696" y="3008376"/>
            <a:ext cx="2121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numeric 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2898648"/>
            <a:ext cx="2468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0136" y="3008376"/>
            <a:ext cx="2395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fit linear relationship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2898648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11896" y="3008376"/>
            <a:ext cx="19385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future glucose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557016"/>
            <a:ext cx="21945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5256" y="3666744"/>
            <a:ext cx="2121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Logistic regression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46120" y="3557016"/>
            <a:ext cx="21945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82696" y="3666744"/>
            <a:ext cx="21214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class probability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3557016"/>
            <a:ext cx="246888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0136" y="3666744"/>
            <a:ext cx="2395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fit logistic classifier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3557016"/>
            <a:ext cx="201168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11896" y="3666744"/>
            <a:ext cx="19385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3142"/>
                </a:solidFill>
                <a:latin typeface="Aptos"/>
              </a:rPr>
              <a:t>disease diagnosis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Common metrics for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Proportion of correct predictions.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Sensitivity /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Ability to detect positives.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Specificity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Ability to detect negatives.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Among predicted positives, how many are truly positive?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AUROC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Ranking ability across thresholds.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Confusion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Counts of TP, TN, FP and FN.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Common metrics for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Average absolute error.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Square-root of the mean squared error.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How much variance is explained.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Residuals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Observed minus predicted values.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Are predicted values systematically biased?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Clinical usefulness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Is the error acceptable for the application?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input preparation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41832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Missing values may need imputation or explicit handling.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Categorical variables may require encoding.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Feature scaling is especially important for distance-based methods such as k-NN.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Good preprocessing improves both performance and interpretability.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Overfitting and underfitting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Underfitting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Model is too simple.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It misses important patterns.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Both training and test performance are poor.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95688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Model learns training noise too closely.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Training performance is high, but generalization is poor.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Validation and test performance reveal the issue.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5371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Find a model that captures signal but generalizes to new biomedical cases.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Sick vs healthy as a classification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326880" cy="2651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patient is described by features such as symptoms, laboratory values and vital signs.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target is categorical: sick or healthy.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Possible algorithms include k-NN and logistic regression.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output can support triage, screening or preliminary risk stratification.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Future glucose as a regression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326880" cy="2651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sample may represent a patient or a recent time window of CGM and related variables.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target is a future glucose value.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Possible algorithms include k-NN regression and linear regression.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predicted value can support anticipation of hypo- or hyperglycemia.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simple models are still important in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32688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Simple models are often easier to explain to clinicians and students.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Linear regression and logistic regression provide interpretable coefficients.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k-NN can be explained through similarity to known cases.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Interpretability is especially valuable in high-stakes settings.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Important cautions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Data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Future or target-related information must not enter the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Imbalance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76272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In classification, rare classes may require special attention.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529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Scaling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1089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Unscaled variables can distort k-NN distances.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529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Misinterpreting probabilities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1089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 probability is not a guarantee.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941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785615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Ignoring clinical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041648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Good metrics do not automatically mean clinical usefulness.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Choose the right task and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601200" cy="2743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1. Predict whether a patient has pneumonia from clinical features.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2. Predict glucose 30 minutes ahead from recent CGM values.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3. Estimate hospital length of stay from admission data.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4. Predict whether a skin lesion is benign or malignant.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For each task, decide whether it is classification or regression, and suggest a suitable algorithm.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Self-check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Which algorithm predicts from nearby examples?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441448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k-nearest neighbors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Which of today’s models is mainly used for continuous targets?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45313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Linear regression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004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Which of today’s models is mainly used for binary classification?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744468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Logistic regression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004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Is future glucose prediction classification or regression?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3744468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Regression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8961120" cy="34394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Supervised learning uses labeled data to learn predictive rules.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Classification predicts categories, whereas regression predicts continuous values.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k-NN is a similarity-based method that works for both task types.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Linear regression is a core method for numeric prediction, and logistic regression is a core method for binary classification.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These algorithms are directly relevant to biomedical tasks such as disease classification and glucose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2157</Words>
  <Application>Microsoft Macintosh PowerPoint</Application>
  <PresentationFormat>Widescreen</PresentationFormat>
  <Paragraphs>372</Paragraphs>
  <Slides>36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3</cp:revision>
  <dcterms:created xsi:type="dcterms:W3CDTF">2013-01-27T09:14:16Z</dcterms:created>
  <dcterms:modified xsi:type="dcterms:W3CDTF">2026-10-03T18:42:28Z</dcterms:modified>
  <cp:category/>
</cp:coreProperties>
</file>